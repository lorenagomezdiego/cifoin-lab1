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 id="2147483654" r:id="rId2"/>
    <p:sldMasterId id="2147483656" r:id="rId3"/>
  </p:sldMasterIdLst>
  <p:notesMasterIdLst>
    <p:notesMasterId r:id="rId21"/>
  </p:notesMasterIdLst>
  <p:sldIdLst>
    <p:sldId id="256" r:id="rId4"/>
    <p:sldId id="257" r:id="rId5"/>
    <p:sldId id="258" r:id="rId6"/>
    <p:sldId id="267" r:id="rId7"/>
    <p:sldId id="268" r:id="rId8"/>
    <p:sldId id="269" r:id="rId9"/>
    <p:sldId id="259" r:id="rId10"/>
    <p:sldId id="270" r:id="rId11"/>
    <p:sldId id="260" r:id="rId12"/>
    <p:sldId id="261" r:id="rId13"/>
    <p:sldId id="262" r:id="rId14"/>
    <p:sldId id="263" r:id="rId15"/>
    <p:sldId id="264" r:id="rId16"/>
    <p:sldId id="265" r:id="rId17"/>
    <p:sldId id="271" r:id="rId18"/>
    <p:sldId id="272" r:id="rId19"/>
    <p:sldId id="266" r:id="rId20"/>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EB669F-E3EB-2975-0C7D-D9BDEF834F5A}" v="15" dt="2026-03-15T10:48:10.01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2" name="PlaceHolder 1"/>
          <p:cNvSpPr>
            <a:spLocks noGrp="1" noRot="1" noChangeAspect="1"/>
          </p:cNvSpPr>
          <p:nvPr>
            <p:ph type="sldImg"/>
          </p:nvPr>
        </p:nvSpPr>
        <p:spPr>
          <a:xfrm>
            <a:off x="0" y="812520"/>
            <a:ext cx="360" cy="360"/>
          </a:xfrm>
          <a:prstGeom prst="rect">
            <a:avLst/>
          </a:prstGeom>
          <a:noFill/>
          <a:ln w="0">
            <a:noFill/>
          </a:ln>
        </p:spPr>
        <p:txBody>
          <a:bodyPr lIns="0" tIns="0" rIns="0" bIns="0" anchor="ctr">
            <a:noAutofit/>
          </a:bodyPr>
          <a:lstStyle/>
          <a:p>
            <a:pPr algn="ctr"/>
            <a:r>
              <a:rPr lang="es-ES" sz="4400" b="0" strike="noStrike" spc="-1">
                <a:solidFill>
                  <a:srgbClr val="000000"/>
                </a:solidFill>
                <a:latin typeface="Arial"/>
              </a:rPr>
              <a:t>Pulse para desplazar la diapositiva</a:t>
            </a:r>
          </a:p>
        </p:txBody>
      </p:sp>
      <p:sp>
        <p:nvSpPr>
          <p:cNvPr id="4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s-ES" sz="2000" b="0" strike="noStrike" spc="-1">
                <a:solidFill>
                  <a:srgbClr val="000000"/>
                </a:solidFill>
                <a:latin typeface="Arial"/>
              </a:rPr>
              <a:t>Pulse para editar el formato de las notas</a:t>
            </a:r>
          </a:p>
        </p:txBody>
      </p:sp>
      <p:sp>
        <p:nvSpPr>
          <p:cNvPr id="4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s-ES" sz="1400" b="0" strike="noStrike" spc="-1">
                <a:solidFill>
                  <a:srgbClr val="000000"/>
                </a:solidFill>
                <a:latin typeface="Times New Roman"/>
              </a:rPr>
              <a:t>&lt;cabecera&gt;</a:t>
            </a:r>
          </a:p>
        </p:txBody>
      </p:sp>
      <p:sp>
        <p:nvSpPr>
          <p:cNvPr id="45" name="PlaceHolder 4"/>
          <p:cNvSpPr>
            <a:spLocks noGrp="1"/>
          </p:cNvSpPr>
          <p:nvPr>
            <p:ph type="dt" idx="13"/>
          </p:nvPr>
        </p:nvSpPr>
        <p:spPr>
          <a:xfrm>
            <a:off x="4278960" y="0"/>
            <a:ext cx="3280680" cy="534240"/>
          </a:xfrm>
          <a:prstGeom prst="rect">
            <a:avLst/>
          </a:prstGeom>
          <a:noFill/>
          <a:ln w="0">
            <a:noFill/>
          </a:ln>
        </p:spPr>
        <p:txBody>
          <a:bodyPr lIns="0" tIns="0" rIns="0" bIns="0" anchor="t">
            <a:noAutofit/>
          </a:bodyPr>
          <a:lstStyle>
            <a:lvl1pPr indent="0" algn="r">
              <a:buNone/>
              <a:defRPr lang="es-ES" sz="1400" b="0" strike="noStrike" spc="-1">
                <a:solidFill>
                  <a:srgbClr val="000000"/>
                </a:solidFill>
                <a:latin typeface="Times New Roman"/>
              </a:defRPr>
            </a:lvl1pPr>
          </a:lstStyle>
          <a:p>
            <a:pPr indent="0" algn="r">
              <a:buNone/>
            </a:pPr>
            <a:r>
              <a:rPr lang="es-ES" sz="1400" b="0" strike="noStrike" spc="-1">
                <a:solidFill>
                  <a:srgbClr val="000000"/>
                </a:solidFill>
                <a:latin typeface="Times New Roman"/>
              </a:rPr>
              <a:t>&lt;fecha/hora&gt;</a:t>
            </a:r>
          </a:p>
        </p:txBody>
      </p:sp>
      <p:sp>
        <p:nvSpPr>
          <p:cNvPr id="46" name="PlaceHolder 5"/>
          <p:cNvSpPr>
            <a:spLocks noGrp="1"/>
          </p:cNvSpPr>
          <p:nvPr>
            <p:ph type="ftr" idx="14"/>
          </p:nvPr>
        </p:nvSpPr>
        <p:spPr>
          <a:xfrm>
            <a:off x="0" y="10157400"/>
            <a:ext cx="3280680" cy="534240"/>
          </a:xfrm>
          <a:prstGeom prst="rect">
            <a:avLst/>
          </a:prstGeom>
          <a:noFill/>
          <a:ln w="0">
            <a:noFill/>
          </a:ln>
        </p:spPr>
        <p:txBody>
          <a:bodyPr lIns="0" tIns="0" rIns="0" bIns="0" anchor="b">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&lt;pie de página&gt;</a:t>
            </a:r>
          </a:p>
        </p:txBody>
      </p:sp>
      <p:sp>
        <p:nvSpPr>
          <p:cNvPr id="47" name="PlaceHolder 6"/>
          <p:cNvSpPr>
            <a:spLocks noGrp="1"/>
          </p:cNvSpPr>
          <p:nvPr>
            <p:ph type="sldNum" idx="15"/>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strike="noStrike" spc="-1">
                <a:solidFill>
                  <a:srgbClr val="000000"/>
                </a:solidFill>
                <a:latin typeface="Times New Roman"/>
              </a:defRPr>
            </a:lvl1pPr>
          </a:lstStyle>
          <a:p>
            <a:pPr indent="0" algn="r">
              <a:buNone/>
            </a:pPr>
            <a:fld id="{87DE14B9-CA92-4242-939D-DFEEF8CB3222}" type="slidenum">
              <a:rPr lang="es-ES" sz="1400" b="0" strike="noStrike" spc="-1">
                <a:solidFill>
                  <a:srgbClr val="000000"/>
                </a:solidFill>
                <a:latin typeface="Times New Roman"/>
              </a:rPr>
              <a:t>‹Nº›</a:t>
            </a:fld>
            <a:endParaRPr lang="es-E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4038600" y="857250"/>
            <a:ext cx="4113213" cy="2312988"/>
          </a:xfrm>
          <a:prstGeom prst="rect">
            <a:avLst/>
          </a:prstGeom>
          <a:ln w="0">
            <a:noFill/>
          </a:ln>
        </p:spPr>
      </p:sp>
      <p:sp>
        <p:nvSpPr>
          <p:cNvPr id="149" name="PlaceHolder 2"/>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50" name="PlaceHolder 3"/>
          <p:cNvSpPr>
            <a:spLocks noGrp="1"/>
          </p:cNvSpPr>
          <p:nvPr>
            <p:ph type="sldNum" idx="25"/>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CD75B69B-FB2D-47BC-8B77-0B395771E356}" type="slidenum">
              <a:rPr lang="es-ES" sz="1200" b="0" strike="noStrike" spc="-1">
                <a:solidFill>
                  <a:srgbClr val="000000"/>
                </a:solidFill>
                <a:latin typeface="Times New Roman"/>
              </a:rPr>
              <a:t>3</a:t>
            </a:fld>
            <a:endParaRPr lang="es-E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D4A7F-859F-F4FC-2A9C-D3D7DA5D8CBB}"/>
            </a:ext>
          </a:extLst>
        </p:cNvPr>
        <p:cNvGrpSpPr/>
        <p:nvPr/>
      </p:nvGrpSpPr>
      <p:grpSpPr>
        <a:xfrm>
          <a:off x="0" y="0"/>
          <a:ext cx="0" cy="0"/>
          <a:chOff x="0" y="0"/>
          <a:chExt cx="0" cy="0"/>
        </a:xfrm>
      </p:grpSpPr>
      <p:sp>
        <p:nvSpPr>
          <p:cNvPr id="148" name="PlaceHolder 1">
            <a:extLst>
              <a:ext uri="{FF2B5EF4-FFF2-40B4-BE49-F238E27FC236}">
                <a16:creationId xmlns:a16="http://schemas.microsoft.com/office/drawing/2014/main" id="{227B8BCE-C928-FFA5-7EF1-BBCF2FEEF324}"/>
              </a:ext>
            </a:extLst>
          </p:cNvPr>
          <p:cNvSpPr>
            <a:spLocks noGrp="1" noRot="1" noChangeAspect="1"/>
          </p:cNvSpPr>
          <p:nvPr>
            <p:ph type="sldImg"/>
          </p:nvPr>
        </p:nvSpPr>
        <p:spPr>
          <a:xfrm>
            <a:off x="4038600" y="857250"/>
            <a:ext cx="4113213" cy="2312988"/>
          </a:xfrm>
          <a:prstGeom prst="rect">
            <a:avLst/>
          </a:prstGeom>
          <a:ln w="0">
            <a:noFill/>
          </a:ln>
        </p:spPr>
      </p:sp>
      <p:sp>
        <p:nvSpPr>
          <p:cNvPr id="149" name="PlaceHolder 2">
            <a:extLst>
              <a:ext uri="{FF2B5EF4-FFF2-40B4-BE49-F238E27FC236}">
                <a16:creationId xmlns:a16="http://schemas.microsoft.com/office/drawing/2014/main" id="{89E0041B-8D4A-BAF9-3A54-9AF7BF8C14DB}"/>
              </a:ext>
            </a:extLst>
          </p:cNvPr>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50" name="PlaceHolder 3">
            <a:extLst>
              <a:ext uri="{FF2B5EF4-FFF2-40B4-BE49-F238E27FC236}">
                <a16:creationId xmlns:a16="http://schemas.microsoft.com/office/drawing/2014/main" id="{185CD131-0FD4-FC3A-0D3F-3BAE8E9785E9}"/>
              </a:ext>
            </a:extLst>
          </p:cNvPr>
          <p:cNvSpPr>
            <a:spLocks noGrp="1"/>
          </p:cNvSpPr>
          <p:nvPr>
            <p:ph type="sldNum" idx="25"/>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CD75B69B-FB2D-47BC-8B77-0B395771E356}" type="slidenum">
              <a:rPr lang="es-ES" sz="1200" b="0" strike="noStrike" spc="-1">
                <a:solidFill>
                  <a:srgbClr val="000000"/>
                </a:solidFill>
                <a:latin typeface="Times New Roman"/>
              </a:rPr>
              <a:t>4</a:t>
            </a:fld>
            <a:endParaRPr lang="es-ES" sz="1200" b="0" strike="noStrike" spc="-1">
              <a:solidFill>
                <a:srgbClr val="000000"/>
              </a:solidFill>
              <a:latin typeface="Times New Roman"/>
            </a:endParaRPr>
          </a:p>
        </p:txBody>
      </p:sp>
    </p:spTree>
    <p:extLst>
      <p:ext uri="{BB962C8B-B14F-4D97-AF65-F5344CB8AC3E}">
        <p14:creationId xmlns:p14="http://schemas.microsoft.com/office/powerpoint/2010/main" val="2909304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96A37-7D28-C1DC-8702-ACAAAFD9A238}"/>
            </a:ext>
          </a:extLst>
        </p:cNvPr>
        <p:cNvGrpSpPr/>
        <p:nvPr/>
      </p:nvGrpSpPr>
      <p:grpSpPr>
        <a:xfrm>
          <a:off x="0" y="0"/>
          <a:ext cx="0" cy="0"/>
          <a:chOff x="0" y="0"/>
          <a:chExt cx="0" cy="0"/>
        </a:xfrm>
      </p:grpSpPr>
      <p:sp>
        <p:nvSpPr>
          <p:cNvPr id="148" name="PlaceHolder 1">
            <a:extLst>
              <a:ext uri="{FF2B5EF4-FFF2-40B4-BE49-F238E27FC236}">
                <a16:creationId xmlns:a16="http://schemas.microsoft.com/office/drawing/2014/main" id="{8EA1C8E5-3D36-5838-DF00-B4040FD90629}"/>
              </a:ext>
            </a:extLst>
          </p:cNvPr>
          <p:cNvSpPr>
            <a:spLocks noGrp="1" noRot="1" noChangeAspect="1"/>
          </p:cNvSpPr>
          <p:nvPr>
            <p:ph type="sldImg"/>
          </p:nvPr>
        </p:nvSpPr>
        <p:spPr>
          <a:xfrm>
            <a:off x="4038600" y="857250"/>
            <a:ext cx="4113213" cy="2312988"/>
          </a:xfrm>
          <a:prstGeom prst="rect">
            <a:avLst/>
          </a:prstGeom>
          <a:ln w="0">
            <a:noFill/>
          </a:ln>
        </p:spPr>
        <p:txBody>
          <a:bodyPr/>
          <a:lstStyle/>
          <a:p>
            <a:endParaRPr lang="es-ES"/>
          </a:p>
        </p:txBody>
      </p:sp>
      <p:sp>
        <p:nvSpPr>
          <p:cNvPr id="149" name="PlaceHolder 2">
            <a:extLst>
              <a:ext uri="{FF2B5EF4-FFF2-40B4-BE49-F238E27FC236}">
                <a16:creationId xmlns:a16="http://schemas.microsoft.com/office/drawing/2014/main" id="{AB7D386B-783E-2512-F450-26ACD0E36DAB}"/>
              </a:ext>
            </a:extLst>
          </p:cNvPr>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50" name="PlaceHolder 3">
            <a:extLst>
              <a:ext uri="{FF2B5EF4-FFF2-40B4-BE49-F238E27FC236}">
                <a16:creationId xmlns:a16="http://schemas.microsoft.com/office/drawing/2014/main" id="{7A55893B-2E71-9646-884D-89D1CE5160B4}"/>
              </a:ext>
            </a:extLst>
          </p:cNvPr>
          <p:cNvSpPr>
            <a:spLocks noGrp="1"/>
          </p:cNvSpPr>
          <p:nvPr>
            <p:ph type="sldNum" idx="25"/>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CD75B69B-FB2D-47BC-8B77-0B395771E356}" type="slidenum">
              <a:rPr lang="es-ES" sz="1200" b="0" strike="noStrike" spc="-1">
                <a:solidFill>
                  <a:srgbClr val="000000"/>
                </a:solidFill>
                <a:latin typeface="Times New Roman"/>
              </a:rPr>
              <a:t>5</a:t>
            </a:fld>
            <a:endParaRPr lang="es-ES" sz="1200" b="0" strike="noStrike" spc="-1">
              <a:solidFill>
                <a:srgbClr val="000000"/>
              </a:solidFill>
              <a:latin typeface="Times New Roman"/>
            </a:endParaRPr>
          </a:p>
        </p:txBody>
      </p:sp>
    </p:spTree>
    <p:extLst>
      <p:ext uri="{BB962C8B-B14F-4D97-AF65-F5344CB8AC3E}">
        <p14:creationId xmlns:p14="http://schemas.microsoft.com/office/powerpoint/2010/main" val="2114682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FA3D9-8265-6B49-8DBA-718FF78EE658}"/>
            </a:ext>
          </a:extLst>
        </p:cNvPr>
        <p:cNvGrpSpPr/>
        <p:nvPr/>
      </p:nvGrpSpPr>
      <p:grpSpPr>
        <a:xfrm>
          <a:off x="0" y="0"/>
          <a:ext cx="0" cy="0"/>
          <a:chOff x="0" y="0"/>
          <a:chExt cx="0" cy="0"/>
        </a:xfrm>
      </p:grpSpPr>
      <p:sp>
        <p:nvSpPr>
          <p:cNvPr id="148" name="PlaceHolder 1">
            <a:extLst>
              <a:ext uri="{FF2B5EF4-FFF2-40B4-BE49-F238E27FC236}">
                <a16:creationId xmlns:a16="http://schemas.microsoft.com/office/drawing/2014/main" id="{0DEC9642-5909-6AA1-E8AF-7F1AE9B86C43}"/>
              </a:ext>
            </a:extLst>
          </p:cNvPr>
          <p:cNvSpPr>
            <a:spLocks noGrp="1" noRot="1" noChangeAspect="1"/>
          </p:cNvSpPr>
          <p:nvPr>
            <p:ph type="sldImg"/>
          </p:nvPr>
        </p:nvSpPr>
        <p:spPr>
          <a:xfrm>
            <a:off x="4038600" y="857250"/>
            <a:ext cx="4113213" cy="2312988"/>
          </a:xfrm>
          <a:prstGeom prst="rect">
            <a:avLst/>
          </a:prstGeom>
          <a:ln w="0">
            <a:noFill/>
          </a:ln>
        </p:spPr>
        <p:txBody>
          <a:bodyPr/>
          <a:lstStyle/>
          <a:p>
            <a:endParaRPr lang="es-ES"/>
          </a:p>
        </p:txBody>
      </p:sp>
      <p:sp>
        <p:nvSpPr>
          <p:cNvPr id="149" name="PlaceHolder 2">
            <a:extLst>
              <a:ext uri="{FF2B5EF4-FFF2-40B4-BE49-F238E27FC236}">
                <a16:creationId xmlns:a16="http://schemas.microsoft.com/office/drawing/2014/main" id="{16CE41F4-590E-A4DB-ADB2-8FDD905CCDFD}"/>
              </a:ext>
            </a:extLst>
          </p:cNvPr>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50" name="PlaceHolder 3">
            <a:extLst>
              <a:ext uri="{FF2B5EF4-FFF2-40B4-BE49-F238E27FC236}">
                <a16:creationId xmlns:a16="http://schemas.microsoft.com/office/drawing/2014/main" id="{83DF29A8-ED5E-9477-8FFC-05F708F86E90}"/>
              </a:ext>
            </a:extLst>
          </p:cNvPr>
          <p:cNvSpPr>
            <a:spLocks noGrp="1"/>
          </p:cNvSpPr>
          <p:nvPr>
            <p:ph type="sldNum" idx="25"/>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CD75B69B-FB2D-47BC-8B77-0B395771E356}" type="slidenum">
              <a:rPr lang="es-ES" sz="1200" b="0" strike="noStrike" spc="-1">
                <a:solidFill>
                  <a:srgbClr val="000000"/>
                </a:solidFill>
                <a:latin typeface="Times New Roman"/>
              </a:rPr>
              <a:t>6</a:t>
            </a:fld>
            <a:endParaRPr lang="es-ES" sz="1200" b="0" strike="noStrike" spc="-1">
              <a:solidFill>
                <a:srgbClr val="000000"/>
              </a:solidFill>
              <a:latin typeface="Times New Roman"/>
            </a:endParaRPr>
          </a:p>
        </p:txBody>
      </p:sp>
    </p:spTree>
    <p:extLst>
      <p:ext uri="{BB962C8B-B14F-4D97-AF65-F5344CB8AC3E}">
        <p14:creationId xmlns:p14="http://schemas.microsoft.com/office/powerpoint/2010/main" val="1674191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PlaceHolder 1"/>
          <p:cNvSpPr>
            <a:spLocks noGrp="1" noRot="1" noChangeAspect="1"/>
          </p:cNvSpPr>
          <p:nvPr>
            <p:ph type="sldImg"/>
          </p:nvPr>
        </p:nvSpPr>
        <p:spPr>
          <a:xfrm>
            <a:off x="4038600" y="857250"/>
            <a:ext cx="4113213" cy="2312988"/>
          </a:xfrm>
          <a:prstGeom prst="rect">
            <a:avLst/>
          </a:prstGeom>
          <a:ln w="0">
            <a:noFill/>
          </a:ln>
        </p:spPr>
      </p:sp>
      <p:sp>
        <p:nvSpPr>
          <p:cNvPr id="152" name="PlaceHolder 2"/>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53" name="PlaceHolder 3"/>
          <p:cNvSpPr>
            <a:spLocks noGrp="1"/>
          </p:cNvSpPr>
          <p:nvPr>
            <p:ph type="sldNum" idx="26"/>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5173F879-3987-43A0-B925-6E850F36E3E4}" type="slidenum">
              <a:rPr lang="es-ES" sz="1200" b="0" strike="noStrike" spc="-1">
                <a:solidFill>
                  <a:srgbClr val="000000"/>
                </a:solidFill>
                <a:latin typeface="Times New Roman"/>
              </a:rPr>
              <a:t>7</a:t>
            </a:fld>
            <a:endParaRPr lang="es-E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3D476-5878-EC66-7F6C-1D5BBFA6A2DC}"/>
            </a:ext>
          </a:extLst>
        </p:cNvPr>
        <p:cNvGrpSpPr/>
        <p:nvPr/>
      </p:nvGrpSpPr>
      <p:grpSpPr>
        <a:xfrm>
          <a:off x="0" y="0"/>
          <a:ext cx="0" cy="0"/>
          <a:chOff x="0" y="0"/>
          <a:chExt cx="0" cy="0"/>
        </a:xfrm>
      </p:grpSpPr>
      <p:sp>
        <p:nvSpPr>
          <p:cNvPr id="151" name="PlaceHolder 1">
            <a:extLst>
              <a:ext uri="{FF2B5EF4-FFF2-40B4-BE49-F238E27FC236}">
                <a16:creationId xmlns:a16="http://schemas.microsoft.com/office/drawing/2014/main" id="{B175CFC2-CAD8-271B-1D7A-2DC17C69AC5F}"/>
              </a:ext>
            </a:extLst>
          </p:cNvPr>
          <p:cNvSpPr>
            <a:spLocks noGrp="1" noRot="1" noChangeAspect="1"/>
          </p:cNvSpPr>
          <p:nvPr>
            <p:ph type="sldImg"/>
          </p:nvPr>
        </p:nvSpPr>
        <p:spPr>
          <a:xfrm>
            <a:off x="4038600" y="857250"/>
            <a:ext cx="4113213" cy="2312988"/>
          </a:xfrm>
          <a:prstGeom prst="rect">
            <a:avLst/>
          </a:prstGeom>
          <a:ln w="0">
            <a:noFill/>
          </a:ln>
        </p:spPr>
      </p:sp>
      <p:sp>
        <p:nvSpPr>
          <p:cNvPr id="152" name="PlaceHolder 2">
            <a:extLst>
              <a:ext uri="{FF2B5EF4-FFF2-40B4-BE49-F238E27FC236}">
                <a16:creationId xmlns:a16="http://schemas.microsoft.com/office/drawing/2014/main" id="{AC99BCA9-A36A-287C-85EA-45167EAF9247}"/>
              </a:ext>
            </a:extLst>
          </p:cNvPr>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53" name="PlaceHolder 3">
            <a:extLst>
              <a:ext uri="{FF2B5EF4-FFF2-40B4-BE49-F238E27FC236}">
                <a16:creationId xmlns:a16="http://schemas.microsoft.com/office/drawing/2014/main" id="{199C5F2D-E7C8-3A63-53F4-3D63722CFD00}"/>
              </a:ext>
            </a:extLst>
          </p:cNvPr>
          <p:cNvSpPr>
            <a:spLocks noGrp="1"/>
          </p:cNvSpPr>
          <p:nvPr>
            <p:ph type="sldNum" idx="26"/>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5173F879-3987-43A0-B925-6E850F36E3E4}" type="slidenum">
              <a:rPr lang="es-ES" sz="1200" b="0" strike="noStrike" spc="-1">
                <a:solidFill>
                  <a:srgbClr val="000000"/>
                </a:solidFill>
                <a:latin typeface="Times New Roman"/>
              </a:rPr>
              <a:t>8</a:t>
            </a:fld>
            <a:endParaRPr lang="es-ES" sz="1200" b="0" strike="noStrike" spc="-1">
              <a:solidFill>
                <a:srgbClr val="000000"/>
              </a:solidFill>
              <a:latin typeface="Times New Roman"/>
            </a:endParaRPr>
          </a:p>
        </p:txBody>
      </p:sp>
    </p:spTree>
    <p:extLst>
      <p:ext uri="{BB962C8B-B14F-4D97-AF65-F5344CB8AC3E}">
        <p14:creationId xmlns:p14="http://schemas.microsoft.com/office/powerpoint/2010/main" val="3472304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PlaceHolder 1"/>
          <p:cNvSpPr>
            <a:spLocks noGrp="1" noRot="1" noChangeAspect="1"/>
          </p:cNvSpPr>
          <p:nvPr>
            <p:ph type="sldImg"/>
          </p:nvPr>
        </p:nvSpPr>
        <p:spPr>
          <a:xfrm>
            <a:off x="4038600" y="857250"/>
            <a:ext cx="4113213" cy="2312988"/>
          </a:xfrm>
          <a:prstGeom prst="rect">
            <a:avLst/>
          </a:prstGeom>
          <a:ln w="0">
            <a:noFill/>
          </a:ln>
        </p:spPr>
      </p:sp>
      <p:sp>
        <p:nvSpPr>
          <p:cNvPr id="155" name="PlaceHolder 2"/>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56" name="PlaceHolder 3"/>
          <p:cNvSpPr>
            <a:spLocks noGrp="1"/>
          </p:cNvSpPr>
          <p:nvPr>
            <p:ph type="sldNum" idx="27"/>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BCA31CBA-58B1-48F3-9B5D-02A82419E95C}" type="slidenum">
              <a:rPr lang="es-ES" sz="1200" b="0" strike="noStrike" spc="-1">
                <a:solidFill>
                  <a:srgbClr val="000000"/>
                </a:solidFill>
                <a:latin typeface="Times New Roman"/>
              </a:rPr>
              <a:t>9</a:t>
            </a:fld>
            <a:endParaRPr lang="es-E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PlaceHolder 1"/>
          <p:cNvSpPr>
            <a:spLocks noGrp="1" noRot="1" noChangeAspect="1"/>
          </p:cNvSpPr>
          <p:nvPr>
            <p:ph type="sldImg"/>
          </p:nvPr>
        </p:nvSpPr>
        <p:spPr>
          <a:xfrm>
            <a:off x="4038600" y="857250"/>
            <a:ext cx="4113213" cy="2312988"/>
          </a:xfrm>
          <a:prstGeom prst="rect">
            <a:avLst/>
          </a:prstGeom>
          <a:ln w="0">
            <a:noFill/>
          </a:ln>
        </p:spPr>
      </p:sp>
      <p:sp>
        <p:nvSpPr>
          <p:cNvPr id="158" name="PlaceHolder 2"/>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59" name="PlaceHolder 3"/>
          <p:cNvSpPr>
            <a:spLocks noGrp="1"/>
          </p:cNvSpPr>
          <p:nvPr>
            <p:ph type="sldNum" idx="28"/>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917C504B-0DBC-410D-BC90-D08890B0679B}" type="slidenum">
              <a:rPr lang="es-ES" sz="1200" b="0" strike="noStrike" spc="-1">
                <a:solidFill>
                  <a:srgbClr val="000000"/>
                </a:solidFill>
                <a:latin typeface="Times New Roman"/>
              </a:rPr>
              <a:t>10</a:t>
            </a:fld>
            <a:endParaRPr lang="es-E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laceHolder 1"/>
          <p:cNvSpPr>
            <a:spLocks noGrp="1" noRot="1" noChangeAspect="1"/>
          </p:cNvSpPr>
          <p:nvPr>
            <p:ph type="sldImg"/>
          </p:nvPr>
        </p:nvSpPr>
        <p:spPr>
          <a:xfrm>
            <a:off x="4038600" y="857250"/>
            <a:ext cx="4113213" cy="2312988"/>
          </a:xfrm>
          <a:prstGeom prst="rect">
            <a:avLst/>
          </a:prstGeom>
          <a:ln w="0">
            <a:noFill/>
          </a:ln>
        </p:spPr>
      </p:sp>
      <p:sp>
        <p:nvSpPr>
          <p:cNvPr id="161" name="PlaceHolder 2"/>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62" name="PlaceHolder 3"/>
          <p:cNvSpPr>
            <a:spLocks noGrp="1"/>
          </p:cNvSpPr>
          <p:nvPr>
            <p:ph type="sldNum" idx="29"/>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23F24146-DAC1-4AF9-B6A5-EE55127098D1}" type="slidenum">
              <a:rPr lang="es-ES" sz="1200" b="0" strike="noStrike" spc="-1">
                <a:solidFill>
                  <a:srgbClr val="000000"/>
                </a:solidFill>
                <a:latin typeface="Times New Roman"/>
              </a:rPr>
              <a:t>11</a:t>
            </a:fld>
            <a:endParaRPr lang="es-E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PlaceHolder 1"/>
          <p:cNvSpPr>
            <a:spLocks noGrp="1" noRot="1" noChangeAspect="1"/>
          </p:cNvSpPr>
          <p:nvPr>
            <p:ph type="sldImg"/>
          </p:nvPr>
        </p:nvSpPr>
        <p:spPr>
          <a:xfrm>
            <a:off x="4038600" y="857250"/>
            <a:ext cx="4113213" cy="2312988"/>
          </a:xfrm>
          <a:prstGeom prst="rect">
            <a:avLst/>
          </a:prstGeom>
          <a:ln w="0">
            <a:noFill/>
          </a:ln>
        </p:spPr>
      </p:sp>
      <p:sp>
        <p:nvSpPr>
          <p:cNvPr id="164" name="PlaceHolder 2"/>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65" name="PlaceHolder 3"/>
          <p:cNvSpPr>
            <a:spLocks noGrp="1"/>
          </p:cNvSpPr>
          <p:nvPr>
            <p:ph type="sldNum" idx="30"/>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385FD84A-713B-48F2-94B9-2FEB0016246F}" type="slidenum">
              <a:rPr lang="es-ES" sz="1200" b="0" strike="noStrike" spc="-1">
                <a:solidFill>
                  <a:srgbClr val="000000"/>
                </a:solidFill>
                <a:latin typeface="Times New Roman"/>
              </a:rPr>
              <a:t>12</a:t>
            </a:fld>
            <a:endParaRPr lang="es-ES"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PlaceHolder 1"/>
          <p:cNvSpPr>
            <a:spLocks noGrp="1" noRot="1" noChangeAspect="1"/>
          </p:cNvSpPr>
          <p:nvPr>
            <p:ph type="sldImg"/>
          </p:nvPr>
        </p:nvSpPr>
        <p:spPr>
          <a:xfrm>
            <a:off x="4038600" y="857250"/>
            <a:ext cx="4113213" cy="2312988"/>
          </a:xfrm>
          <a:prstGeom prst="rect">
            <a:avLst/>
          </a:prstGeom>
          <a:ln w="0">
            <a:noFill/>
          </a:ln>
        </p:spPr>
      </p:sp>
      <p:sp>
        <p:nvSpPr>
          <p:cNvPr id="167" name="PlaceHolder 2"/>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68" name="PlaceHolder 3"/>
          <p:cNvSpPr>
            <a:spLocks noGrp="1"/>
          </p:cNvSpPr>
          <p:nvPr>
            <p:ph type="sldNum" idx="31"/>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D6F8E5CF-611D-4BF1-9CA0-F0D15872B372}" type="slidenum">
              <a:rPr lang="es-ES" sz="1200" b="0" strike="noStrike" spc="-1">
                <a:solidFill>
                  <a:srgbClr val="000000"/>
                </a:solidFill>
                <a:latin typeface="Times New Roman"/>
              </a:rPr>
              <a:t>13</a:t>
            </a:fld>
            <a:endParaRPr lang="es-ES"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noRot="1" noChangeAspect="1"/>
          </p:cNvSpPr>
          <p:nvPr>
            <p:ph type="sldImg"/>
          </p:nvPr>
        </p:nvSpPr>
        <p:spPr>
          <a:xfrm>
            <a:off x="4038600" y="857250"/>
            <a:ext cx="4113213" cy="2312988"/>
          </a:xfrm>
          <a:prstGeom prst="rect">
            <a:avLst/>
          </a:prstGeom>
          <a:ln w="0">
            <a:noFill/>
          </a:ln>
        </p:spPr>
      </p:sp>
      <p:sp>
        <p:nvSpPr>
          <p:cNvPr id="170" name="PlaceHolder 2"/>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71" name="PlaceHolder 3"/>
          <p:cNvSpPr>
            <a:spLocks noGrp="1"/>
          </p:cNvSpPr>
          <p:nvPr>
            <p:ph type="sldNum" idx="32"/>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BFD234AF-722F-46ED-A412-152E33AAEA6D}" type="slidenum">
              <a:rPr lang="es-ES" sz="1200" b="0" strike="noStrike" spc="-1">
                <a:solidFill>
                  <a:srgbClr val="000000"/>
                </a:solidFill>
                <a:latin typeface="Times New Roman"/>
              </a:rPr>
              <a:t>14</a:t>
            </a:fld>
            <a:endParaRPr lang="es-ES" sz="12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EF213-66B8-AFA8-C41F-B8D81DE05C81}"/>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173997FA-2D53-69D0-A03A-65BCB9123996}"/>
              </a:ext>
            </a:extLst>
          </p:cNvPr>
          <p:cNvSpPr>
            <a:spLocks noGrp="1" noRot="1" noChangeAspect="1"/>
          </p:cNvSpPr>
          <p:nvPr>
            <p:ph type="sldImg"/>
          </p:nvPr>
        </p:nvSpPr>
        <p:spPr>
          <a:xfrm>
            <a:off x="4038600" y="857250"/>
            <a:ext cx="4113213" cy="2312988"/>
          </a:xfrm>
          <a:prstGeom prst="rect">
            <a:avLst/>
          </a:prstGeom>
          <a:ln w="0">
            <a:noFill/>
          </a:ln>
        </p:spPr>
      </p:sp>
      <p:sp>
        <p:nvSpPr>
          <p:cNvPr id="164" name="PlaceHolder 2">
            <a:extLst>
              <a:ext uri="{FF2B5EF4-FFF2-40B4-BE49-F238E27FC236}">
                <a16:creationId xmlns:a16="http://schemas.microsoft.com/office/drawing/2014/main" id="{9B2AA8FC-12FA-0132-5F94-A2DB778D4F63}"/>
              </a:ext>
            </a:extLst>
          </p:cNvPr>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65" name="PlaceHolder 3">
            <a:extLst>
              <a:ext uri="{FF2B5EF4-FFF2-40B4-BE49-F238E27FC236}">
                <a16:creationId xmlns:a16="http://schemas.microsoft.com/office/drawing/2014/main" id="{4C6392B6-2ED6-2815-017D-2D9FA3BF1F82}"/>
              </a:ext>
            </a:extLst>
          </p:cNvPr>
          <p:cNvSpPr>
            <a:spLocks noGrp="1"/>
          </p:cNvSpPr>
          <p:nvPr>
            <p:ph type="sldNum" idx="30"/>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385FD84A-713B-48F2-94B9-2FEB0016246F}" type="slidenum">
              <a:rPr lang="es-ES" sz="1200" b="0" strike="noStrike" spc="-1">
                <a:solidFill>
                  <a:srgbClr val="000000"/>
                </a:solidFill>
                <a:latin typeface="Times New Roman"/>
              </a:rPr>
              <a:t>15</a:t>
            </a:fld>
            <a:endParaRPr lang="es-ES" sz="1200" b="0" strike="noStrike" spc="-1">
              <a:solidFill>
                <a:srgbClr val="000000"/>
              </a:solidFill>
              <a:latin typeface="Times New Roman"/>
            </a:endParaRPr>
          </a:p>
        </p:txBody>
      </p:sp>
    </p:spTree>
    <p:extLst>
      <p:ext uri="{BB962C8B-B14F-4D97-AF65-F5344CB8AC3E}">
        <p14:creationId xmlns:p14="http://schemas.microsoft.com/office/powerpoint/2010/main" val="28071521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96AB7-FEB1-F8A9-BACE-F7C12496D0F7}"/>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C24FC4F9-94EE-E61A-A6AC-5857351886EB}"/>
              </a:ext>
            </a:extLst>
          </p:cNvPr>
          <p:cNvSpPr>
            <a:spLocks noGrp="1" noRot="1" noChangeAspect="1"/>
          </p:cNvSpPr>
          <p:nvPr>
            <p:ph type="sldImg"/>
          </p:nvPr>
        </p:nvSpPr>
        <p:spPr>
          <a:xfrm>
            <a:off x="4038600" y="857250"/>
            <a:ext cx="4113213" cy="2312988"/>
          </a:xfrm>
          <a:prstGeom prst="rect">
            <a:avLst/>
          </a:prstGeom>
          <a:ln w="0">
            <a:noFill/>
          </a:ln>
        </p:spPr>
      </p:sp>
      <p:sp>
        <p:nvSpPr>
          <p:cNvPr id="164" name="PlaceHolder 2">
            <a:extLst>
              <a:ext uri="{FF2B5EF4-FFF2-40B4-BE49-F238E27FC236}">
                <a16:creationId xmlns:a16="http://schemas.microsoft.com/office/drawing/2014/main" id="{8F9BE210-C2CF-63F1-0A60-AAED2A853620}"/>
              </a:ext>
            </a:extLst>
          </p:cNvPr>
          <p:cNvSpPr>
            <a:spLocks noGrp="1"/>
          </p:cNvSpPr>
          <p:nvPr>
            <p:ph type="body"/>
          </p:nvPr>
        </p:nvSpPr>
        <p:spPr>
          <a:xfrm>
            <a:off x="1219320" y="3300480"/>
            <a:ext cx="9752400" cy="2699280"/>
          </a:xfrm>
          <a:prstGeom prst="rect">
            <a:avLst/>
          </a:prstGeom>
          <a:noFill/>
          <a:ln w="0">
            <a:noFill/>
          </a:ln>
        </p:spPr>
        <p:txBody>
          <a:bodyPr lIns="91440" tIns="45720" rIns="91440" bIns="45720" anchor="t">
            <a:noAutofit/>
          </a:bodyPr>
          <a:lstStyle/>
          <a:p>
            <a:pPr marL="216000" indent="-216000">
              <a:buNone/>
            </a:pPr>
            <a:endParaRPr lang="es-ES" sz="1800" b="0" strike="noStrike" spc="-1">
              <a:solidFill>
                <a:srgbClr val="000000"/>
              </a:solidFill>
              <a:latin typeface="Arial"/>
            </a:endParaRPr>
          </a:p>
        </p:txBody>
      </p:sp>
      <p:sp>
        <p:nvSpPr>
          <p:cNvPr id="165" name="PlaceHolder 3">
            <a:extLst>
              <a:ext uri="{FF2B5EF4-FFF2-40B4-BE49-F238E27FC236}">
                <a16:creationId xmlns:a16="http://schemas.microsoft.com/office/drawing/2014/main" id="{54904401-F763-6420-7773-964D05E35552}"/>
              </a:ext>
            </a:extLst>
          </p:cNvPr>
          <p:cNvSpPr>
            <a:spLocks noGrp="1"/>
          </p:cNvSpPr>
          <p:nvPr>
            <p:ph type="sldNum" idx="30"/>
          </p:nvPr>
        </p:nvSpPr>
        <p:spPr>
          <a:xfrm>
            <a:off x="6905520" y="6513480"/>
            <a:ext cx="5282280" cy="343440"/>
          </a:xfrm>
          <a:prstGeom prst="rect">
            <a:avLst/>
          </a:prstGeom>
          <a:noFill/>
          <a:ln w="0">
            <a:noFill/>
          </a:ln>
        </p:spPr>
        <p:txBody>
          <a:bodyPr lIns="91440" tIns="45720" rIns="91440" bIns="45720" anchor="b">
            <a:noAutofit/>
          </a:bodyPr>
          <a:lstStyle>
            <a:lvl1pPr indent="0" algn="r">
              <a:lnSpc>
                <a:spcPct val="100000"/>
              </a:lnSpc>
              <a:buNone/>
              <a:tabLst>
                <a:tab pos="0" algn="l"/>
              </a:tabLst>
              <a:defRPr lang="es-ES" sz="1200" b="0" strike="noStrike" spc="-1">
                <a:solidFill>
                  <a:srgbClr val="000000"/>
                </a:solidFill>
                <a:latin typeface="Times New Roman"/>
              </a:defRPr>
            </a:lvl1pPr>
          </a:lstStyle>
          <a:p>
            <a:pPr indent="0" algn="r">
              <a:lnSpc>
                <a:spcPct val="100000"/>
              </a:lnSpc>
              <a:buNone/>
              <a:tabLst>
                <a:tab pos="0" algn="l"/>
              </a:tabLst>
            </a:pPr>
            <a:fld id="{385FD84A-713B-48F2-94B9-2FEB0016246F}" type="slidenum">
              <a:rPr lang="es-ES" sz="1200" b="0" strike="noStrike" spc="-1">
                <a:solidFill>
                  <a:srgbClr val="000000"/>
                </a:solidFill>
                <a:latin typeface="Times New Roman"/>
              </a:rPr>
              <a:t>16</a:t>
            </a:fld>
            <a:endParaRPr lang="es-ES" sz="1200" b="0" strike="noStrike" spc="-1">
              <a:solidFill>
                <a:srgbClr val="000000"/>
              </a:solidFill>
              <a:latin typeface="Times New Roman"/>
            </a:endParaRPr>
          </a:p>
        </p:txBody>
      </p:sp>
    </p:spTree>
    <p:extLst>
      <p:ext uri="{BB962C8B-B14F-4D97-AF65-F5344CB8AC3E}">
        <p14:creationId xmlns:p14="http://schemas.microsoft.com/office/powerpoint/2010/main" val="1072808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3987000" y="583200"/>
            <a:ext cx="2598120" cy="2500200"/>
          </a:xfrm>
          <a:prstGeom prst="rect">
            <a:avLst/>
          </a:prstGeom>
          <a:noFill/>
          <a:ln w="0">
            <a:noFill/>
          </a:ln>
        </p:spPr>
        <p:txBody>
          <a:bodyPr lIns="0" tIns="0" rIns="0" bIns="0" anchor="ctr">
            <a:noAutofit/>
          </a:bodyPr>
          <a:lstStyle/>
          <a:p>
            <a:pPr indent="0" algn="ctr">
              <a:buNone/>
            </a:pPr>
            <a:endParaRPr lang="es-ES" sz="4400" b="0" strike="noStrike" spc="-1">
              <a:solidFill>
                <a:srgbClr val="000000"/>
              </a:solidFill>
              <a:latin typeface="Arial"/>
            </a:endParaRPr>
          </a:p>
        </p:txBody>
      </p:sp>
      <p:sp>
        <p:nvSpPr>
          <p:cNvPr id="14" name="PlaceHolder 2"/>
          <p:cNvSpPr>
            <a:spLocks noGrp="1"/>
          </p:cNvSpPr>
          <p:nvPr>
            <p:ph/>
          </p:nvPr>
        </p:nvSpPr>
        <p:spPr>
          <a:xfrm>
            <a:off x="609480" y="1604520"/>
            <a:ext cx="10971720" cy="3976560"/>
          </a:xfrm>
          <a:prstGeom prst="rect">
            <a:avLst/>
          </a:prstGeom>
          <a:noFill/>
          <a:ln w="0">
            <a:noFill/>
          </a:ln>
        </p:spPr>
        <p:txBody>
          <a:bodyPr lIns="0" tIns="0" rIns="0" bIns="0" anchor="t">
            <a:normAutofit/>
          </a:bodyPr>
          <a:lstStyle/>
          <a:p>
            <a:pPr indent="0">
              <a:spcBef>
                <a:spcPts val="1417"/>
              </a:spcBef>
              <a:buNone/>
            </a:pPr>
            <a:endParaRPr lang="es-ES" sz="32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775072E3-56A0-4D36-9008-AF334BF2C7DE}"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31" name="PlaceHolder 1"/>
          <p:cNvSpPr>
            <a:spLocks noGrp="1"/>
          </p:cNvSpPr>
          <p:nvPr>
            <p:ph type="title"/>
          </p:nvPr>
        </p:nvSpPr>
        <p:spPr>
          <a:xfrm>
            <a:off x="3987000" y="583200"/>
            <a:ext cx="2598120" cy="2500200"/>
          </a:xfrm>
          <a:prstGeom prst="rect">
            <a:avLst/>
          </a:prstGeom>
          <a:noFill/>
          <a:ln w="0">
            <a:noFill/>
          </a:ln>
        </p:spPr>
        <p:txBody>
          <a:bodyPr lIns="0" tIns="0" rIns="0" bIns="0" anchor="ctr">
            <a:noAutofit/>
          </a:bodyPr>
          <a:lstStyle/>
          <a:p>
            <a:pPr indent="0" algn="ctr">
              <a:buNone/>
            </a:pPr>
            <a:endParaRPr lang="es-ES" sz="4400" b="0" strike="noStrike" spc="-1">
              <a:solidFill>
                <a:srgbClr val="000000"/>
              </a:solidFill>
              <a:latin typeface="Arial"/>
            </a:endParaRPr>
          </a:p>
        </p:txBody>
      </p:sp>
      <p:sp>
        <p:nvSpPr>
          <p:cNvPr id="32" name="PlaceHolder 2"/>
          <p:cNvSpPr>
            <a:spLocks noGrp="1"/>
          </p:cNvSpPr>
          <p:nvPr>
            <p:ph/>
          </p:nvPr>
        </p:nvSpPr>
        <p:spPr>
          <a:xfrm>
            <a:off x="609480" y="1604520"/>
            <a:ext cx="10971720" cy="3976560"/>
          </a:xfrm>
          <a:prstGeom prst="rect">
            <a:avLst/>
          </a:prstGeom>
          <a:noFill/>
          <a:ln w="0">
            <a:noFill/>
          </a:ln>
        </p:spPr>
        <p:txBody>
          <a:bodyPr lIns="0" tIns="0" rIns="0" bIns="0" anchor="t">
            <a:normAutofit/>
          </a:bodyPr>
          <a:lstStyle/>
          <a:p>
            <a:pPr indent="0">
              <a:spcBef>
                <a:spcPts val="1417"/>
              </a:spcBef>
              <a:buNone/>
            </a:pPr>
            <a:endParaRPr lang="es-ES" sz="3200" b="0" strike="noStrike" spc="-1">
              <a:solidFill>
                <a:srgbClr val="000000"/>
              </a:solidFill>
              <a:latin typeface="Arial"/>
            </a:endParaRPr>
          </a:p>
        </p:txBody>
      </p:sp>
      <p:sp>
        <p:nvSpPr>
          <p:cNvPr id="4" name="PlaceHolder 3"/>
          <p:cNvSpPr>
            <a:spLocks noGrp="1"/>
          </p:cNvSpPr>
          <p:nvPr>
            <p:ph type="sldNum" idx="9"/>
          </p:nvPr>
        </p:nvSpPr>
        <p:spPr/>
        <p:txBody>
          <a:bodyPr/>
          <a:lstStyle/>
          <a:p>
            <a:fld id="{20715A0B-41B2-4C7D-9EAB-86D3E32EB032}" type="slidenum">
              <a:t>‹Nº›</a:t>
            </a:fld>
            <a:endParaRPr/>
          </a:p>
        </p:txBody>
      </p:sp>
      <p:sp>
        <p:nvSpPr>
          <p:cNvPr id="5" name="PlaceHolder 4"/>
          <p:cNvSpPr>
            <a:spLocks noGrp="1"/>
          </p:cNvSpPr>
          <p:nvPr>
            <p:ph type="dt" idx="10"/>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40" name="PlaceHolder 1"/>
          <p:cNvSpPr>
            <a:spLocks noGrp="1"/>
          </p:cNvSpPr>
          <p:nvPr>
            <p:ph type="title"/>
          </p:nvPr>
        </p:nvSpPr>
        <p:spPr>
          <a:xfrm>
            <a:off x="3987000" y="583200"/>
            <a:ext cx="2598120" cy="2500200"/>
          </a:xfrm>
          <a:prstGeom prst="rect">
            <a:avLst/>
          </a:prstGeom>
          <a:noFill/>
          <a:ln w="0">
            <a:noFill/>
          </a:ln>
        </p:spPr>
        <p:txBody>
          <a:bodyPr lIns="0" tIns="0" rIns="0" bIns="0" anchor="ctr">
            <a:noAutofit/>
          </a:bodyPr>
          <a:lstStyle/>
          <a:p>
            <a:pPr indent="0" algn="ctr">
              <a:buNone/>
            </a:pPr>
            <a:endParaRPr lang="es-ES" sz="4400" b="0" strike="noStrike" spc="-1">
              <a:solidFill>
                <a:srgbClr val="000000"/>
              </a:solidFill>
              <a:latin typeface="Arial"/>
            </a:endParaRPr>
          </a:p>
        </p:txBody>
      </p:sp>
      <p:sp>
        <p:nvSpPr>
          <p:cNvPr id="41" name="PlaceHolder 2"/>
          <p:cNvSpPr>
            <a:spLocks noGrp="1"/>
          </p:cNvSpPr>
          <p:nvPr>
            <p:ph/>
          </p:nvPr>
        </p:nvSpPr>
        <p:spPr>
          <a:xfrm>
            <a:off x="609480" y="1604520"/>
            <a:ext cx="10971720" cy="3976560"/>
          </a:xfrm>
          <a:prstGeom prst="rect">
            <a:avLst/>
          </a:prstGeom>
          <a:noFill/>
          <a:ln w="0">
            <a:noFill/>
          </a:ln>
        </p:spPr>
        <p:txBody>
          <a:bodyPr lIns="0" tIns="0" rIns="0" bIns="0" anchor="t">
            <a:normAutofit/>
          </a:bodyPr>
          <a:lstStyle/>
          <a:p>
            <a:pPr indent="0">
              <a:spcBef>
                <a:spcPts val="1417"/>
              </a:spcBef>
              <a:buNone/>
            </a:pPr>
            <a:endParaRPr lang="es-ES" sz="3200" b="0" strike="noStrike" spc="-1">
              <a:solidFill>
                <a:srgbClr val="000000"/>
              </a:solidFill>
              <a:latin typeface="Arial"/>
            </a:endParaRPr>
          </a:p>
        </p:txBody>
      </p:sp>
      <p:sp>
        <p:nvSpPr>
          <p:cNvPr id="4" name="PlaceHolder 3"/>
          <p:cNvSpPr>
            <a:spLocks noGrp="1"/>
          </p:cNvSpPr>
          <p:nvPr>
            <p:ph type="sldNum" idx="11"/>
          </p:nvPr>
        </p:nvSpPr>
        <p:spPr/>
        <p:txBody>
          <a:bodyPr/>
          <a:lstStyle/>
          <a:p>
            <a:fld id="{546581AB-98A2-40AD-8B95-AF6C20CF5189}" type="slidenum">
              <a:t>‹Nº›</a:t>
            </a:fld>
            <a:endParaRPr/>
          </a:p>
        </p:txBody>
      </p:sp>
      <p:sp>
        <p:nvSpPr>
          <p:cNvPr id="5" name="PlaceHolder 4"/>
          <p:cNvSpPr>
            <a:spLocks noGrp="1"/>
          </p:cNvSpPr>
          <p:nvPr>
            <p:ph type="dt" idx="12"/>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 Id="rId5" Type="http://schemas.openxmlformats.org/officeDocument/2006/relationships/image" Target="../media/image3.svg"/><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8" name="bk object 16"/>
          <p:cNvSpPr/>
          <p:nvPr/>
        </p:nvSpPr>
        <p:spPr>
          <a:xfrm>
            <a:off x="891360" y="5283720"/>
            <a:ext cx="2623320" cy="1573200"/>
          </a:xfrm>
          <a:prstGeom prst="rect">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sp>
        <p:nvSpPr>
          <p:cNvPr id="9" name="PlaceHolder 1"/>
          <p:cNvSpPr>
            <a:spLocks noGrp="1"/>
          </p:cNvSpPr>
          <p:nvPr>
            <p:ph type="title"/>
          </p:nvPr>
        </p:nvSpPr>
        <p:spPr>
          <a:xfrm>
            <a:off x="3987000" y="583200"/>
            <a:ext cx="2598120" cy="2499840"/>
          </a:xfrm>
          <a:prstGeom prst="rect">
            <a:avLst/>
          </a:prstGeom>
          <a:noFill/>
          <a:ln w="0">
            <a:noFill/>
          </a:ln>
        </p:spPr>
        <p:txBody>
          <a:bodyPr lIns="0" tIns="0" rIns="0" bIns="0" anchor="ctr">
            <a:noAutofit/>
          </a:bodyPr>
          <a:lstStyle/>
          <a:p>
            <a:pPr indent="0" algn="ctr">
              <a:buNone/>
            </a:pPr>
            <a:r>
              <a:rPr lang="es-ES" sz="4400" b="0" strike="noStrike" spc="-1">
                <a:solidFill>
                  <a:srgbClr val="000000"/>
                </a:solidFill>
                <a:latin typeface="Arial"/>
              </a:rPr>
              <a:t>Pulse para editar el formato del texto de título</a:t>
            </a:r>
          </a:p>
        </p:txBody>
      </p:sp>
      <p:sp>
        <p:nvSpPr>
          <p:cNvPr id="10" name="PlaceHolder 2"/>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ES"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ES"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2000" b="0" strike="noStrike" spc="-1">
                <a:solidFill>
                  <a:srgbClr val="000000"/>
                </a:solidFill>
                <a:latin typeface="Arial"/>
              </a:rPr>
              <a:t>Séptimo nivel del esquema</a:t>
            </a:r>
          </a:p>
        </p:txBody>
      </p:sp>
      <p:sp>
        <p:nvSpPr>
          <p:cNvPr id="11" name="PlaceHolder 3"/>
          <p:cNvSpPr>
            <a:spLocks noGrp="1"/>
          </p:cNvSpPr>
          <p:nvPr>
            <p:ph type="ftr" idx="4"/>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&lt;pie de página&gt;</a:t>
            </a:r>
            <a:endParaRPr lang="es-ES" sz="1200" b="0" strike="noStrike" spc="-1">
              <a:solidFill>
                <a:srgbClr val="000000"/>
              </a:solidFill>
              <a:latin typeface="Times New Roman"/>
            </a:endParaRPr>
          </a:p>
        </p:txBody>
      </p:sp>
      <p:sp>
        <p:nvSpPr>
          <p:cNvPr id="12" name="PlaceHolder 4"/>
          <p:cNvSpPr>
            <a:spLocks noGrp="1"/>
          </p:cNvSpPr>
          <p:nvPr>
            <p:ph type="sldNum" idx="5"/>
          </p:nvPr>
        </p:nvSpPr>
        <p:spPr>
          <a:xfrm>
            <a:off x="9311760" y="6378120"/>
            <a:ext cx="2802960" cy="342000"/>
          </a:xfrm>
          <a:prstGeom prst="rect">
            <a:avLst/>
          </a:prstGeom>
          <a:noFill/>
          <a:ln w="0">
            <a:noFill/>
          </a:ln>
        </p:spPr>
        <p:txBody>
          <a:bodyPr lIns="0" tIns="0" rIns="0" bIns="0" anchor="t">
            <a:noAutofit/>
          </a:bodyPr>
          <a:lstStyle>
            <a:lvl1pPr indent="0" algn="r" defTabSz="914400">
              <a:lnSpc>
                <a:spcPct val="100000"/>
              </a:lnSpc>
              <a:buNone/>
              <a:tabLst>
                <a:tab pos="0" algn="l"/>
              </a:tabLst>
              <a:defRPr lang="es-ES" sz="1800" b="0" strike="noStrike" spc="-1">
                <a:solidFill>
                  <a:schemeClr val="dk1">
                    <a:tint val="75000"/>
                  </a:schemeClr>
                </a:solidFill>
                <a:latin typeface="Calibri"/>
              </a:defRPr>
            </a:lvl1pPr>
          </a:lstStyle>
          <a:p>
            <a:pPr indent="0" algn="r" defTabSz="914400">
              <a:lnSpc>
                <a:spcPct val="100000"/>
              </a:lnSpc>
              <a:buNone/>
              <a:tabLst>
                <a:tab pos="0" algn="l"/>
              </a:tabLst>
            </a:pPr>
            <a:fld id="{58ABE146-5F67-4BD2-B4F0-121AD67ECB07}" type="slidenum">
              <a:rPr lang="es-ES" sz="1800" b="0" strike="noStrike" spc="-1">
                <a:solidFill>
                  <a:schemeClr val="dk1">
                    <a:tint val="75000"/>
                  </a:schemeClr>
                </a:solidFill>
                <a:latin typeface="Calibri"/>
              </a:rPr>
              <a:t>‹Nº›</a:t>
            </a:fld>
            <a:endParaRPr lang="es-ES" sz="18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3" name="bk object 16" hidden="1"/>
          <p:cNvSpPr/>
          <p:nvPr/>
        </p:nvSpPr>
        <p:spPr>
          <a:xfrm>
            <a:off x="891360" y="5283720"/>
            <a:ext cx="2623320" cy="1573200"/>
          </a:xfrm>
          <a:prstGeom prst="rect">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sp>
        <p:nvSpPr>
          <p:cNvPr id="24" name="bk object 16"/>
          <p:cNvSpPr/>
          <p:nvPr/>
        </p:nvSpPr>
        <p:spPr>
          <a:xfrm>
            <a:off x="0" y="2636640"/>
            <a:ext cx="3943440" cy="1584000"/>
          </a:xfrm>
          <a:custGeom>
            <a:avLst/>
            <a:gdLst>
              <a:gd name="textAreaLeft" fmla="*/ 0 w 3943440"/>
              <a:gd name="textAreaRight" fmla="*/ 3944520 w 3943440"/>
              <a:gd name="textAreaTop" fmla="*/ 0 h 1584000"/>
              <a:gd name="textAreaBottom" fmla="*/ 1585080 h 1584000"/>
            </a:gdLst>
            <a:ahLst/>
            <a:cxnLst/>
            <a:rect l="textAreaLeft" t="textAreaTop" r="textAreaRight" b="textAreaBottom"/>
            <a:pathLst>
              <a:path w="3944620" h="1584960">
                <a:moveTo>
                  <a:pt x="0" y="1584959"/>
                </a:moveTo>
                <a:lnTo>
                  <a:pt x="3944112" y="1584959"/>
                </a:lnTo>
                <a:lnTo>
                  <a:pt x="3944112" y="0"/>
                </a:lnTo>
                <a:lnTo>
                  <a:pt x="0" y="0"/>
                </a:lnTo>
                <a:lnTo>
                  <a:pt x="0" y="1584959"/>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sp>
        <p:nvSpPr>
          <p:cNvPr id="25" name="bk object 17"/>
          <p:cNvSpPr/>
          <p:nvPr/>
        </p:nvSpPr>
        <p:spPr>
          <a:xfrm>
            <a:off x="771120" y="2952000"/>
            <a:ext cx="2402280" cy="952920"/>
          </a:xfrm>
          <a:prstGeom prst="rect">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pic>
        <p:nvPicPr>
          <p:cNvPr id="26" name="Gráfico 5"/>
          <p:cNvPicPr/>
          <p:nvPr/>
        </p:nvPicPr>
        <p:blipFill>
          <a:blip>
            <a:extLst>
              <a:ext uri="{96DAC541-7B7A-43D3-8B79-37D633B846F1}">
                <asvg:svgBlip xmlns:asvg="http://schemas.microsoft.com/office/drawing/2016/SVG/main" r:embed="rId5"/>
              </a:ext>
            </a:extLst>
          </a:blip>
          <a:stretch/>
        </p:blipFill>
        <p:spPr>
          <a:xfrm>
            <a:off x="2891160" y="6357600"/>
            <a:ext cx="6408360" cy="362160"/>
          </a:xfrm>
          <a:prstGeom prst="rect">
            <a:avLst/>
          </a:prstGeom>
          <a:ln w="0">
            <a:noFill/>
          </a:ln>
        </p:spPr>
      </p:pic>
      <p:sp>
        <p:nvSpPr>
          <p:cNvPr id="27" name="PlaceHolder 1"/>
          <p:cNvSpPr>
            <a:spLocks noGrp="1"/>
          </p:cNvSpPr>
          <p:nvPr>
            <p:ph type="title"/>
          </p:nvPr>
        </p:nvSpPr>
        <p:spPr>
          <a:xfrm>
            <a:off x="3987000" y="583200"/>
            <a:ext cx="2598120" cy="2499840"/>
          </a:xfrm>
          <a:prstGeom prst="rect">
            <a:avLst/>
          </a:prstGeom>
          <a:noFill/>
          <a:ln w="0">
            <a:noFill/>
          </a:ln>
        </p:spPr>
        <p:txBody>
          <a:bodyPr lIns="0" tIns="0" rIns="0" bIns="0" anchor="ctr">
            <a:noAutofit/>
          </a:bodyPr>
          <a:lstStyle/>
          <a:p>
            <a:pPr indent="0" algn="ctr">
              <a:buNone/>
            </a:pPr>
            <a:r>
              <a:rPr lang="es-ES" sz="4400" b="0" strike="noStrike" spc="-1">
                <a:solidFill>
                  <a:srgbClr val="000000"/>
                </a:solidFill>
                <a:latin typeface="Arial"/>
              </a:rPr>
              <a:t>Pulse para editar el formato del texto de título</a:t>
            </a:r>
          </a:p>
        </p:txBody>
      </p:sp>
      <p:sp>
        <p:nvSpPr>
          <p:cNvPr id="28" name="PlaceHolder 2"/>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ES"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ES"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2000" b="0" strike="noStrike" spc="-1">
                <a:solidFill>
                  <a:srgbClr val="000000"/>
                </a:solidFill>
                <a:latin typeface="Arial"/>
              </a:rPr>
              <a:t>Séptimo nivel del esquema</a:t>
            </a:r>
          </a:p>
        </p:txBody>
      </p:sp>
      <p:sp>
        <p:nvSpPr>
          <p:cNvPr id="29" name="PlaceHolder 3"/>
          <p:cNvSpPr>
            <a:spLocks noGrp="1"/>
          </p:cNvSpPr>
          <p:nvPr>
            <p:ph type="sldNum" idx="9"/>
          </p:nvPr>
        </p:nvSpPr>
        <p:spPr>
          <a:xfrm>
            <a:off x="9296280" y="6378120"/>
            <a:ext cx="2802960" cy="342000"/>
          </a:xfrm>
          <a:prstGeom prst="rect">
            <a:avLst/>
          </a:prstGeom>
          <a:noFill/>
          <a:ln w="0">
            <a:noFill/>
          </a:ln>
        </p:spPr>
        <p:txBody>
          <a:bodyPr lIns="0" tIns="0" rIns="0" bIns="0" anchor="t">
            <a:noAutofit/>
          </a:bodyPr>
          <a:lstStyle>
            <a:lvl1pPr indent="0" algn="r" defTabSz="914400">
              <a:lnSpc>
                <a:spcPct val="100000"/>
              </a:lnSpc>
              <a:buNone/>
              <a:tabLst>
                <a:tab pos="0" algn="l"/>
              </a:tabLst>
              <a:defRPr lang="es-ES" sz="1800" b="0" strike="noStrike" spc="-1">
                <a:solidFill>
                  <a:schemeClr val="dk1">
                    <a:tint val="75000"/>
                  </a:schemeClr>
                </a:solidFill>
                <a:latin typeface="Calibri"/>
              </a:defRPr>
            </a:lvl1pPr>
          </a:lstStyle>
          <a:p>
            <a:pPr indent="0" algn="r" defTabSz="914400">
              <a:lnSpc>
                <a:spcPct val="100000"/>
              </a:lnSpc>
              <a:buNone/>
              <a:tabLst>
                <a:tab pos="0" algn="l"/>
              </a:tabLst>
            </a:pPr>
            <a:fld id="{DBF3533A-9BD0-4E7D-B0B8-35AF47F09CD9}" type="slidenum">
              <a:rPr lang="es-ES" sz="1800" b="0" strike="noStrike" spc="-1">
                <a:solidFill>
                  <a:schemeClr val="dk1">
                    <a:tint val="75000"/>
                  </a:schemeClr>
                </a:solidFill>
                <a:latin typeface="Calibri"/>
              </a:rPr>
              <a:t>‹Nº›</a:t>
            </a:fld>
            <a:endParaRPr lang="es-ES" sz="1800" b="0" strike="noStrike" spc="-1">
              <a:solidFill>
                <a:srgbClr val="000000"/>
              </a:solidFill>
              <a:latin typeface="Times New Roman"/>
            </a:endParaRPr>
          </a:p>
        </p:txBody>
      </p:sp>
      <p:sp>
        <p:nvSpPr>
          <p:cNvPr id="30" name="PlaceHolder 4"/>
          <p:cNvSpPr>
            <a:spLocks noGrp="1"/>
          </p:cNvSpPr>
          <p:nvPr>
            <p:ph type="dt" idx="10"/>
          </p:nvPr>
        </p:nvSpPr>
        <p:spPr>
          <a:xfrm>
            <a:off x="609480" y="6378120"/>
            <a:ext cx="2802960" cy="342000"/>
          </a:xfrm>
          <a:prstGeom prst="rect">
            <a:avLst/>
          </a:prstGeom>
          <a:noFill/>
          <a:ln w="0">
            <a:noFill/>
          </a:ln>
        </p:spPr>
        <p:txBody>
          <a:bodyPr lIns="0" tIns="0" rIns="0" bIns="0" anchor="t">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3" name="bk object 16" hidden="1"/>
          <p:cNvSpPr/>
          <p:nvPr/>
        </p:nvSpPr>
        <p:spPr>
          <a:xfrm>
            <a:off x="891360" y="5283720"/>
            <a:ext cx="2623320" cy="1573200"/>
          </a:xfrm>
          <a:prstGeom prst="rect">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sp>
        <p:nvSpPr>
          <p:cNvPr id="34" name="bk object 16"/>
          <p:cNvSpPr/>
          <p:nvPr/>
        </p:nvSpPr>
        <p:spPr>
          <a:xfrm>
            <a:off x="594360" y="4722480"/>
            <a:ext cx="1519920" cy="1252800"/>
          </a:xfrm>
          <a:prstGeom prst="rect">
            <a:avLst/>
          </a:prstGeom>
          <a:blipFill rotWithShape="0">
            <a:blip r:embed="rId4"/>
            <a:srcRect/>
            <a:stretch/>
          </a:blip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pic>
        <p:nvPicPr>
          <p:cNvPr id="35" name="Gráfico 4"/>
          <p:cNvPicPr/>
          <p:nvPr/>
        </p:nvPicPr>
        <p:blipFill>
          <a:blip>
            <a:extLst>
              <a:ext uri="{96DAC541-7B7A-43D3-8B79-37D633B846F1}">
                <asvg:svgBlip xmlns:asvg="http://schemas.microsoft.com/office/drawing/2016/SVG/main" r:embed="rId5"/>
              </a:ext>
            </a:extLst>
          </a:blip>
          <a:stretch/>
        </p:blipFill>
        <p:spPr>
          <a:xfrm>
            <a:off x="5045040" y="6356160"/>
            <a:ext cx="6408360" cy="362160"/>
          </a:xfrm>
          <a:prstGeom prst="rect">
            <a:avLst/>
          </a:prstGeom>
          <a:ln w="0">
            <a:noFill/>
          </a:ln>
        </p:spPr>
      </p:pic>
      <p:sp>
        <p:nvSpPr>
          <p:cNvPr id="36" name="PlaceHolder 1"/>
          <p:cNvSpPr>
            <a:spLocks noGrp="1"/>
          </p:cNvSpPr>
          <p:nvPr>
            <p:ph type="title"/>
          </p:nvPr>
        </p:nvSpPr>
        <p:spPr>
          <a:xfrm>
            <a:off x="3987000" y="583200"/>
            <a:ext cx="2598120" cy="2499840"/>
          </a:xfrm>
          <a:prstGeom prst="rect">
            <a:avLst/>
          </a:prstGeom>
          <a:noFill/>
          <a:ln w="0">
            <a:noFill/>
          </a:ln>
        </p:spPr>
        <p:txBody>
          <a:bodyPr lIns="0" tIns="0" rIns="0" bIns="0" anchor="ctr">
            <a:noAutofit/>
          </a:bodyPr>
          <a:lstStyle/>
          <a:p>
            <a:pPr indent="0" algn="ctr">
              <a:buNone/>
            </a:pPr>
            <a:r>
              <a:rPr lang="es-ES" sz="4400" b="0" strike="noStrike" spc="-1">
                <a:solidFill>
                  <a:srgbClr val="000000"/>
                </a:solidFill>
                <a:latin typeface="Arial"/>
              </a:rPr>
              <a:t>Pulse para editar el formato del texto de título</a:t>
            </a:r>
          </a:p>
        </p:txBody>
      </p:sp>
      <p:sp>
        <p:nvSpPr>
          <p:cNvPr id="37" name="PlaceHolder 2"/>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ES"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ES"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2000" b="0" strike="noStrike" spc="-1">
                <a:solidFill>
                  <a:srgbClr val="000000"/>
                </a:solidFill>
                <a:latin typeface="Arial"/>
              </a:rPr>
              <a:t>Séptimo nivel del esquema</a:t>
            </a:r>
          </a:p>
        </p:txBody>
      </p:sp>
      <p:sp>
        <p:nvSpPr>
          <p:cNvPr id="38" name="PlaceHolder 3"/>
          <p:cNvSpPr>
            <a:spLocks noGrp="1"/>
          </p:cNvSpPr>
          <p:nvPr>
            <p:ph type="sldNum" idx="11"/>
          </p:nvPr>
        </p:nvSpPr>
        <p:spPr>
          <a:xfrm>
            <a:off x="9372600" y="6378120"/>
            <a:ext cx="2802960" cy="342000"/>
          </a:xfrm>
          <a:prstGeom prst="rect">
            <a:avLst/>
          </a:prstGeom>
          <a:noFill/>
          <a:ln w="0">
            <a:noFill/>
          </a:ln>
        </p:spPr>
        <p:txBody>
          <a:bodyPr lIns="0" tIns="0" rIns="0" bIns="0" anchor="t">
            <a:noAutofit/>
          </a:bodyPr>
          <a:lstStyle>
            <a:lvl1pPr indent="0" algn="r" defTabSz="914400">
              <a:lnSpc>
                <a:spcPct val="100000"/>
              </a:lnSpc>
              <a:buNone/>
              <a:tabLst>
                <a:tab pos="0" algn="l"/>
              </a:tabLst>
              <a:defRPr lang="es-ES" sz="1800" b="0" strike="noStrike" spc="-1">
                <a:solidFill>
                  <a:schemeClr val="dk1">
                    <a:tint val="75000"/>
                  </a:schemeClr>
                </a:solidFill>
                <a:latin typeface="Calibri"/>
              </a:defRPr>
            </a:lvl1pPr>
          </a:lstStyle>
          <a:p>
            <a:pPr indent="0" algn="r" defTabSz="914400">
              <a:lnSpc>
                <a:spcPct val="100000"/>
              </a:lnSpc>
              <a:buNone/>
              <a:tabLst>
                <a:tab pos="0" algn="l"/>
              </a:tabLst>
            </a:pPr>
            <a:fld id="{6334826F-8CE2-440E-8AF3-D17AA0F499A6}" type="slidenum">
              <a:rPr lang="es-ES" sz="1800" b="0" strike="noStrike" spc="-1">
                <a:solidFill>
                  <a:schemeClr val="dk1">
                    <a:tint val="75000"/>
                  </a:schemeClr>
                </a:solidFill>
                <a:latin typeface="Calibri"/>
              </a:rPr>
              <a:t>‹Nº›</a:t>
            </a:fld>
            <a:endParaRPr lang="es-ES" sz="1800" b="0" strike="noStrike" spc="-1">
              <a:solidFill>
                <a:srgbClr val="000000"/>
              </a:solidFill>
              <a:latin typeface="Times New Roman"/>
            </a:endParaRPr>
          </a:p>
        </p:txBody>
      </p:sp>
      <p:sp>
        <p:nvSpPr>
          <p:cNvPr id="39" name="PlaceHolder 4"/>
          <p:cNvSpPr>
            <a:spLocks noGrp="1"/>
          </p:cNvSpPr>
          <p:nvPr>
            <p:ph type="dt" idx="12"/>
          </p:nvPr>
        </p:nvSpPr>
        <p:spPr>
          <a:xfrm>
            <a:off x="609480" y="6378120"/>
            <a:ext cx="2802960" cy="342000"/>
          </a:xfrm>
          <a:prstGeom prst="rect">
            <a:avLst/>
          </a:prstGeom>
          <a:noFill/>
          <a:ln w="0">
            <a:noFill/>
          </a:ln>
        </p:spPr>
        <p:txBody>
          <a:bodyPr lIns="0" tIns="0" rIns="0" bIns="0" anchor="t">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6.png"/><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object 3"/>
          <p:cNvSpPr/>
          <p:nvPr/>
        </p:nvSpPr>
        <p:spPr>
          <a:xfrm>
            <a:off x="2749680" y="4919760"/>
            <a:ext cx="6105600" cy="50076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defTabSz="914400">
              <a:lnSpc>
                <a:spcPct val="100000"/>
              </a:lnSpc>
              <a:spcBef>
                <a:spcPts val="99"/>
              </a:spcBef>
            </a:pPr>
            <a:r>
              <a:rPr lang="es-ES" sz="3200" b="1" strike="noStrike" spc="-1">
                <a:solidFill>
                  <a:schemeClr val="dk1"/>
                </a:solidFill>
                <a:latin typeface="Lucida Sans"/>
              </a:rPr>
              <a:t>Lab Book 1.0. Waveguides</a:t>
            </a:r>
            <a:endParaRPr lang="es-ES" sz="3200" b="0" strike="noStrike" spc="-1">
              <a:solidFill>
                <a:srgbClr val="000000"/>
              </a:solidFill>
              <a:latin typeface="Arial"/>
            </a:endParaRPr>
          </a:p>
        </p:txBody>
      </p:sp>
      <p:sp>
        <p:nvSpPr>
          <p:cNvPr id="49" name="object 4"/>
          <p:cNvSpPr/>
          <p:nvPr/>
        </p:nvSpPr>
        <p:spPr>
          <a:xfrm>
            <a:off x="2749680" y="5610240"/>
            <a:ext cx="8222040" cy="28728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defTabSz="914400">
              <a:lnSpc>
                <a:spcPct val="100000"/>
              </a:lnSpc>
              <a:spcBef>
                <a:spcPts val="99"/>
              </a:spcBef>
            </a:pPr>
            <a:r>
              <a:rPr lang="es-ES" sz="1800" b="0" strike="noStrike" spc="157" err="1">
                <a:solidFill>
                  <a:schemeClr val="dk1"/>
                </a:solidFill>
                <a:latin typeface="Arial"/>
              </a:rPr>
              <a:t>Student</a:t>
            </a:r>
            <a:r>
              <a:rPr lang="es-ES" sz="1800" b="0" strike="noStrike" spc="157">
                <a:solidFill>
                  <a:schemeClr val="dk1"/>
                </a:solidFill>
                <a:latin typeface="Arial"/>
              </a:rPr>
              <a:t>: Lorena Gómez Diego &amp; Marta Orient Cabañas</a:t>
            </a:r>
            <a:endParaRPr lang="es-ES" sz="1800" b="0" strike="noStrike" spc="-1">
              <a:solidFill>
                <a:srgbClr val="000000"/>
              </a:solidFill>
              <a:latin typeface="Arial"/>
            </a:endParaRPr>
          </a:p>
        </p:txBody>
      </p:sp>
      <p:sp>
        <p:nvSpPr>
          <p:cNvPr id="50" name="object 5"/>
          <p:cNvSpPr/>
          <p:nvPr/>
        </p:nvSpPr>
        <p:spPr>
          <a:xfrm>
            <a:off x="0" y="0"/>
            <a:ext cx="12191040" cy="4188240"/>
          </a:xfrm>
          <a:prstGeom prst="rect">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sp>
        <p:nvSpPr>
          <p:cNvPr id="2" name="PlaceHolder 1"/>
          <p:cNvSpPr>
            <a:spLocks noGrp="1"/>
          </p:cNvSpPr>
          <p:nvPr>
            <p:ph type="sldNum" idx="11"/>
          </p:nvPr>
        </p:nvSpPr>
        <p:spPr/>
        <p:txBody>
          <a:bodyPr/>
          <a:lstStyle/>
          <a:p>
            <a:fld id="{9196E44A-1DF0-425B-BD4A-931046CA5A98}" type="slidenum">
              <a:r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685800" y="408960"/>
            <a:ext cx="6152760" cy="1157040"/>
          </a:xfrm>
          <a:prstGeom prst="rect">
            <a:avLst/>
          </a:prstGeom>
          <a:noFill/>
          <a:ln w="0">
            <a:noFill/>
          </a:ln>
        </p:spPr>
        <p:txBody>
          <a:bodyPr lIns="0" tIns="12600" rIns="0" bIns="0" anchor="t">
            <a:noAutofit/>
          </a:bodyPr>
          <a:lstStyle/>
          <a:p>
            <a:pPr marL="12600" indent="0">
              <a:lnSpc>
                <a:spcPct val="100000"/>
              </a:lnSpc>
              <a:spcBef>
                <a:spcPts val="99"/>
              </a:spcBef>
              <a:buNone/>
              <a:tabLst>
                <a:tab pos="0" algn="l"/>
              </a:tabLst>
            </a:pPr>
            <a:r>
              <a:rPr lang="es-ES" sz="2500" b="1" u="sng" strike="noStrike" spc="-7">
                <a:solidFill>
                  <a:schemeClr val="dk1"/>
                </a:solidFill>
                <a:uFillTx/>
                <a:latin typeface="Calibri"/>
              </a:rPr>
              <a:t>Instructions</a:t>
            </a:r>
            <a:br>
              <a:rPr sz="2400"/>
            </a:br>
            <a:r>
              <a:rPr lang="es-ES" sz="2000" b="0" strike="noStrike" spc="-7">
                <a:solidFill>
                  <a:schemeClr val="dk1"/>
                </a:solidFill>
                <a:latin typeface="Calibri"/>
              </a:rPr>
              <a:t>General</a:t>
            </a:r>
            <a:endParaRPr lang="es-ES" sz="2000" b="0" strike="noStrike" spc="-1">
              <a:solidFill>
                <a:srgbClr val="000000"/>
              </a:solidFill>
              <a:latin typeface="Arial"/>
            </a:endParaRPr>
          </a:p>
        </p:txBody>
      </p:sp>
      <p:pic>
        <p:nvPicPr>
          <p:cNvPr id="52" name="Gráfico 82"/>
          <p:cNvPicPr/>
          <p:nvPr/>
        </p:nvPicPr>
        <p:blipFill>
          <a:blip r:embed="rId2"/>
          <a:stretch/>
        </p:blipFill>
        <p:spPr>
          <a:xfrm>
            <a:off x="5045040" y="6356160"/>
            <a:ext cx="6408360" cy="362160"/>
          </a:xfrm>
          <a:prstGeom prst="rect">
            <a:avLst/>
          </a:prstGeom>
          <a:ln w="0">
            <a:noFill/>
          </a:ln>
        </p:spPr>
      </p:pic>
      <p:sp>
        <p:nvSpPr>
          <p:cNvPr id="53" name="PlaceHolder 2"/>
          <p:cNvSpPr>
            <a:spLocks noGrp="1"/>
          </p:cNvSpPr>
          <p:nvPr>
            <p:ph type="ftr" idx="16"/>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54" name="Marcador de texto 2"/>
          <p:cNvSpPr/>
          <p:nvPr/>
        </p:nvSpPr>
        <p:spPr>
          <a:xfrm>
            <a:off x="608040" y="1163160"/>
            <a:ext cx="11048040" cy="495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just" defTabSz="914400">
              <a:lnSpc>
                <a:spcPct val="100000"/>
              </a:lnSpc>
            </a:pPr>
            <a:r>
              <a:rPr lang="en-US" sz="2000" b="1" strike="noStrike" spc="-1">
                <a:solidFill>
                  <a:srgbClr val="000000"/>
                </a:solidFill>
                <a:latin typeface="Calibri"/>
              </a:rPr>
              <a:t>SCRIPTS</a:t>
            </a:r>
            <a:endParaRPr lang="es-ES" sz="2000" b="0" strike="noStrike" spc="-1">
              <a:solidFill>
                <a:srgbClr val="000000"/>
              </a:solidFill>
              <a:latin typeface="Arial"/>
            </a:endParaRPr>
          </a:p>
          <a:p>
            <a:pPr marL="343080" indent="-343080" algn="just" defTabSz="914400">
              <a:lnSpc>
                <a:spcPct val="100000"/>
              </a:lnSpc>
              <a:buClr>
                <a:srgbClr val="000000"/>
              </a:buClr>
              <a:buFont typeface="Arial"/>
              <a:buChar char="•"/>
            </a:pPr>
            <a:r>
              <a:rPr lang="en-US" sz="1800" b="0" strike="noStrike" spc="-1">
                <a:solidFill>
                  <a:srgbClr val="000000"/>
                </a:solidFill>
                <a:latin typeface="Calibri"/>
              </a:rPr>
              <a:t>From 	GitHub </a:t>
            </a:r>
            <a:r>
              <a:rPr lang="en-US" sz="1800" b="0" strike="noStrike" spc="-1">
                <a:solidFill>
                  <a:srgbClr val="000000"/>
                </a:solidFill>
                <a:latin typeface="Wingdings"/>
              </a:rPr>
              <a:t></a:t>
            </a:r>
            <a:r>
              <a:rPr lang="en-US" sz="1800" b="0" strike="noStrike" spc="-1">
                <a:solidFill>
                  <a:srgbClr val="000000"/>
                </a:solidFill>
                <a:latin typeface="Calibri"/>
              </a:rPr>
              <a:t> </a:t>
            </a:r>
            <a:endParaRPr lang="es-ES" sz="1800" b="0" strike="noStrike" spc="-1">
              <a:solidFill>
                <a:srgbClr val="000000"/>
              </a:solidFill>
              <a:latin typeface="Arial"/>
            </a:endParaRPr>
          </a:p>
          <a:p>
            <a:pPr marL="800280" lvl="1" indent="-343080" algn="just" defTabSz="914400">
              <a:lnSpc>
                <a:spcPct val="100000"/>
              </a:lnSpc>
              <a:buClr>
                <a:srgbClr val="000000"/>
              </a:buClr>
              <a:buFont typeface="Arial"/>
              <a:buChar char="•"/>
            </a:pPr>
            <a:r>
              <a:rPr lang="en-US" sz="1800" b="0" strike="noStrike" spc="-1">
                <a:solidFill>
                  <a:srgbClr val="000000"/>
                </a:solidFill>
                <a:latin typeface="Calibri"/>
              </a:rPr>
              <a:t>Fork the repo: https://github.com/cccanvas-upv/cifoin-lab1.git</a:t>
            </a:r>
            <a:endParaRPr lang="es-ES" sz="1800" b="0" strike="noStrike" spc="-1">
              <a:solidFill>
                <a:srgbClr val="000000"/>
              </a:solidFill>
              <a:latin typeface="Arial"/>
            </a:endParaRPr>
          </a:p>
          <a:p>
            <a:pPr marL="800280" lvl="1" indent="-343080" algn="just" defTabSz="914400">
              <a:lnSpc>
                <a:spcPct val="100000"/>
              </a:lnSpc>
              <a:buClr>
                <a:srgbClr val="000000"/>
              </a:buClr>
              <a:buFont typeface="Arial"/>
              <a:buChar char="•"/>
            </a:pPr>
            <a:r>
              <a:rPr lang="en-US" sz="1800" b="0" strike="noStrike" spc="-1">
                <a:solidFill>
                  <a:srgbClr val="000000"/>
                </a:solidFill>
                <a:latin typeface="Calibri"/>
              </a:rPr>
              <a:t>Clone the repo using VSCode</a:t>
            </a:r>
            <a:endParaRPr lang="es-ES" sz="1800" b="0" strike="noStrike" spc="-1">
              <a:solidFill>
                <a:srgbClr val="000000"/>
              </a:solidFill>
              <a:latin typeface="Arial"/>
            </a:endParaRPr>
          </a:p>
          <a:p>
            <a:pPr marL="343080" indent="-343080" algn="just" defTabSz="914400">
              <a:lnSpc>
                <a:spcPct val="100000"/>
              </a:lnSpc>
              <a:buClr>
                <a:srgbClr val="000000"/>
              </a:buClr>
              <a:buFont typeface="Arial"/>
              <a:buChar char="•"/>
            </a:pPr>
            <a:r>
              <a:rPr lang="en-US" sz="1800" b="0" strike="noStrike" spc="-1">
                <a:solidFill>
                  <a:srgbClr val="000000"/>
                </a:solidFill>
                <a:latin typeface="Calibri"/>
              </a:rPr>
              <a:t>Run the Jupyter Notebook: </a:t>
            </a:r>
            <a:endParaRPr lang="es-ES" sz="1800" b="0" strike="noStrike" spc="-1">
              <a:solidFill>
                <a:srgbClr val="000000"/>
              </a:solidFill>
              <a:latin typeface="Arial"/>
            </a:endParaRPr>
          </a:p>
          <a:p>
            <a:pPr marL="800280" lvl="1" indent="-343080" algn="just" defTabSz="914400">
              <a:lnSpc>
                <a:spcPct val="100000"/>
              </a:lnSpc>
              <a:buClr>
                <a:srgbClr val="000000"/>
              </a:buClr>
              <a:buFont typeface="Arial"/>
              <a:buChar char="•"/>
            </a:pPr>
            <a:r>
              <a:rPr lang="en-US" sz="1800" b="0" strike="noStrike" spc="-1">
                <a:solidFill>
                  <a:srgbClr val="000000"/>
                </a:solidFill>
                <a:latin typeface="Calibri"/>
              </a:rPr>
              <a:t>WAVEGUIDES_Student.ipynb </a:t>
            </a:r>
            <a:endParaRPr lang="es-ES" sz="1800" b="0" strike="noStrike" spc="-1">
              <a:solidFill>
                <a:srgbClr val="000000"/>
              </a:solidFill>
              <a:latin typeface="Arial"/>
            </a:endParaRPr>
          </a:p>
          <a:p>
            <a:pPr algn="just" defTabSz="914400">
              <a:lnSpc>
                <a:spcPct val="100000"/>
              </a:lnSpc>
            </a:pPr>
            <a:endParaRPr lang="es-ES" sz="2000" b="0" strike="noStrike" spc="-1">
              <a:solidFill>
                <a:srgbClr val="000000"/>
              </a:solidFill>
              <a:latin typeface="Arial"/>
            </a:endParaRPr>
          </a:p>
          <a:p>
            <a:pPr algn="just" defTabSz="914400">
              <a:lnSpc>
                <a:spcPct val="100000"/>
              </a:lnSpc>
            </a:pPr>
            <a:endParaRPr lang="es-ES" sz="2000" b="0" strike="noStrike" spc="-1">
              <a:solidFill>
                <a:srgbClr val="000000"/>
              </a:solidFill>
              <a:latin typeface="Arial"/>
            </a:endParaRPr>
          </a:p>
        </p:txBody>
      </p:sp>
      <p:sp>
        <p:nvSpPr>
          <p:cNvPr id="55" name="object 7"/>
          <p:cNvSpPr/>
          <p:nvPr/>
        </p:nvSpPr>
        <p:spPr>
          <a:xfrm>
            <a:off x="902880" y="3422880"/>
            <a:ext cx="3928320" cy="1901520"/>
          </a:xfrm>
          <a:custGeom>
            <a:avLst/>
            <a:gdLst>
              <a:gd name="textAreaLeft" fmla="*/ 0 w 3928320"/>
              <a:gd name="textAreaRight" fmla="*/ 3929400 w 3928320"/>
              <a:gd name="textAreaTop" fmla="*/ 0 h 1901520"/>
              <a:gd name="textAreaBottom" fmla="*/ 1902600 h 1901520"/>
            </a:gdLst>
            <a:ahLst/>
            <a:cxnLst/>
            <a:rect l="textAreaLeft" t="textAreaTop" r="textAreaRight" b="textAreaBottom"/>
            <a:pathLst>
              <a:path w="3929379" h="1902460">
                <a:moveTo>
                  <a:pt x="0" y="1901952"/>
                </a:moveTo>
                <a:lnTo>
                  <a:pt x="3928872" y="1901952"/>
                </a:lnTo>
                <a:lnTo>
                  <a:pt x="3928872" y="0"/>
                </a:lnTo>
                <a:lnTo>
                  <a:pt x="0" y="0"/>
                </a:lnTo>
                <a:lnTo>
                  <a:pt x="0" y="1901952"/>
                </a:lnTo>
                <a:close/>
              </a:path>
            </a:pathLst>
          </a:custGeom>
          <a:solidFill>
            <a:srgbClr val="F1F1F1"/>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sp>
        <p:nvSpPr>
          <p:cNvPr id="56" name="object 62"/>
          <p:cNvSpPr/>
          <p:nvPr/>
        </p:nvSpPr>
        <p:spPr>
          <a:xfrm>
            <a:off x="1747080" y="3983760"/>
            <a:ext cx="75240" cy="984960"/>
          </a:xfrm>
          <a:custGeom>
            <a:avLst/>
            <a:gdLst>
              <a:gd name="textAreaLeft" fmla="*/ 0 w 75240"/>
              <a:gd name="textAreaRight" fmla="*/ 76320 w 75240"/>
              <a:gd name="textAreaTop" fmla="*/ 0 h 984960"/>
              <a:gd name="textAreaBottom" fmla="*/ 986040 h 984960"/>
            </a:gdLst>
            <a:ahLst/>
            <a:cxnLst/>
            <a:rect l="textAreaLeft" t="textAreaTop" r="textAreaRight" b="textAreaBottom"/>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sp>
        <p:nvSpPr>
          <p:cNvPr id="57" name="object 63"/>
          <p:cNvSpPr/>
          <p:nvPr/>
        </p:nvSpPr>
        <p:spPr>
          <a:xfrm>
            <a:off x="1091160" y="4210920"/>
            <a:ext cx="576720" cy="654840"/>
          </a:xfrm>
          <a:prstGeom prst="rect">
            <a:avLst/>
          </a:prstGeom>
          <a:noFill/>
          <a:ln w="0">
            <a:noFill/>
          </a:ln>
        </p:spPr>
        <p:style>
          <a:lnRef idx="0">
            <a:scrgbClr r="0" g="0" b="0"/>
          </a:lnRef>
          <a:fillRef idx="0">
            <a:scrgbClr r="0" g="0" b="0"/>
          </a:fillRef>
          <a:effectRef idx="0">
            <a:scrgbClr r="0" g="0" b="0"/>
          </a:effectRef>
          <a:fontRef idx="minor"/>
        </p:style>
        <p:txBody>
          <a:bodyPr lIns="0" tIns="13320" rIns="0" bIns="0" anchor="t">
            <a:spAutoFit/>
          </a:bodyPr>
          <a:lstStyle/>
          <a:p>
            <a:pPr algn="ctr" defTabSz="914400">
              <a:lnSpc>
                <a:spcPct val="100000"/>
              </a:lnSpc>
              <a:spcBef>
                <a:spcPts val="105"/>
              </a:spcBef>
            </a:pPr>
            <a:r>
              <a:rPr lang="es-ES" sz="1400" b="0" strike="noStrike" spc="-1">
                <a:solidFill>
                  <a:schemeClr val="dk1"/>
                </a:solidFill>
                <a:latin typeface="Calibri"/>
              </a:rPr>
              <a:t>h</a:t>
            </a:r>
            <a:endParaRPr lang="es-ES" sz="1400" b="0" strike="noStrike" spc="-1">
              <a:solidFill>
                <a:srgbClr val="000000"/>
              </a:solidFill>
              <a:latin typeface="Arial"/>
            </a:endParaRPr>
          </a:p>
          <a:p>
            <a:pPr algn="ctr" defTabSz="914400">
              <a:lnSpc>
                <a:spcPct val="100000"/>
              </a:lnSpc>
              <a:spcBef>
                <a:spcPts val="6"/>
              </a:spcBef>
            </a:pPr>
            <a:r>
              <a:rPr lang="es-ES" sz="1400" b="0" strike="noStrike" spc="-12">
                <a:solidFill>
                  <a:schemeClr val="dk1"/>
                </a:solidFill>
                <a:latin typeface="Calibri"/>
              </a:rPr>
              <a:t>(h</a:t>
            </a:r>
            <a:r>
              <a:rPr lang="es-ES" sz="1400" b="0" strike="noStrike" spc="-1">
                <a:solidFill>
                  <a:schemeClr val="dk1"/>
                </a:solidFill>
                <a:latin typeface="Calibri"/>
              </a:rPr>
              <a:t>eig</a:t>
            </a:r>
            <a:r>
              <a:rPr lang="es-ES" sz="1400" b="0" strike="noStrike" spc="-26">
                <a:solidFill>
                  <a:schemeClr val="dk1"/>
                </a:solidFill>
                <a:latin typeface="Calibri"/>
              </a:rPr>
              <a:t>h</a:t>
            </a:r>
            <a:r>
              <a:rPr lang="es-ES" sz="1400" b="0" strike="noStrike" spc="-7">
                <a:solidFill>
                  <a:schemeClr val="dk1"/>
                </a:solidFill>
                <a:latin typeface="Calibri"/>
              </a:rPr>
              <a:t>t</a:t>
            </a:r>
            <a:r>
              <a:rPr lang="es-ES" sz="1400" b="0" strike="noStrike" spc="-1">
                <a:solidFill>
                  <a:schemeClr val="dk1"/>
                </a:solidFill>
                <a:latin typeface="Calibri"/>
              </a:rPr>
              <a:t>)</a:t>
            </a:r>
            <a:endParaRPr lang="es-ES" sz="1400" b="0" strike="noStrike" spc="-1">
              <a:solidFill>
                <a:srgbClr val="000000"/>
              </a:solidFill>
              <a:latin typeface="Arial"/>
            </a:endParaRPr>
          </a:p>
        </p:txBody>
      </p:sp>
      <p:sp>
        <p:nvSpPr>
          <p:cNvPr id="58" name="object 64"/>
          <p:cNvSpPr/>
          <p:nvPr/>
        </p:nvSpPr>
        <p:spPr>
          <a:xfrm>
            <a:off x="1984680" y="3773520"/>
            <a:ext cx="1757160" cy="75240"/>
          </a:xfrm>
          <a:custGeom>
            <a:avLst/>
            <a:gdLst>
              <a:gd name="textAreaLeft" fmla="*/ 0 w 1757160"/>
              <a:gd name="textAreaRight" fmla="*/ 1758240 w 1757160"/>
              <a:gd name="textAreaTop" fmla="*/ 0 h 75240"/>
              <a:gd name="textAreaBottom" fmla="*/ 76320 h 75240"/>
            </a:gdLst>
            <a:ahLst/>
            <a:cxnLst/>
            <a:rect l="textAreaLeft" t="textAreaTop" r="textAreaRight" b="textAreaBottom"/>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sp>
        <p:nvSpPr>
          <p:cNvPr id="59" name="object 65"/>
          <p:cNvSpPr/>
          <p:nvPr/>
        </p:nvSpPr>
        <p:spPr>
          <a:xfrm>
            <a:off x="2504880" y="3532680"/>
            <a:ext cx="732240" cy="440640"/>
          </a:xfrm>
          <a:prstGeom prst="rect">
            <a:avLst/>
          </a:prstGeom>
          <a:noFill/>
          <a:ln w="0">
            <a:noFill/>
          </a:ln>
        </p:spPr>
        <p:style>
          <a:lnRef idx="0">
            <a:scrgbClr r="0" g="0" b="0"/>
          </a:lnRef>
          <a:fillRef idx="0">
            <a:scrgbClr r="0" g="0" b="0"/>
          </a:fillRef>
          <a:effectRef idx="0">
            <a:scrgbClr r="0" g="0" b="0"/>
          </a:effectRef>
          <a:fontRef idx="minor"/>
        </p:style>
        <p:txBody>
          <a:bodyPr lIns="0" tIns="13320" rIns="0" bIns="0" anchor="t">
            <a:spAutoFit/>
          </a:bodyPr>
          <a:lstStyle/>
          <a:p>
            <a:pPr defTabSz="914400">
              <a:lnSpc>
                <a:spcPct val="100000"/>
              </a:lnSpc>
              <a:spcBef>
                <a:spcPts val="105"/>
              </a:spcBef>
            </a:pPr>
            <a:r>
              <a:rPr lang="es-ES" sz="1400" b="0" strike="noStrike" spc="-1">
                <a:solidFill>
                  <a:schemeClr val="dk1"/>
                </a:solidFill>
                <a:latin typeface="Calibri"/>
              </a:rPr>
              <a:t>W</a:t>
            </a:r>
            <a:r>
              <a:rPr lang="es-ES" sz="1400" b="0" strike="noStrike" spc="-66">
                <a:solidFill>
                  <a:schemeClr val="dk1"/>
                </a:solidFill>
                <a:latin typeface="Calibri"/>
              </a:rPr>
              <a:t> </a:t>
            </a:r>
            <a:r>
              <a:rPr lang="es-ES" sz="1400" b="0" strike="noStrike" spc="-7">
                <a:solidFill>
                  <a:schemeClr val="dk1"/>
                </a:solidFill>
                <a:latin typeface="Calibri"/>
              </a:rPr>
              <a:t>(width)</a:t>
            </a:r>
            <a:endParaRPr lang="es-ES" sz="1400" b="0" strike="noStrike" spc="-1">
              <a:solidFill>
                <a:srgbClr val="000000"/>
              </a:solidFill>
              <a:latin typeface="Arial"/>
            </a:endParaRPr>
          </a:p>
        </p:txBody>
      </p:sp>
      <p:sp>
        <p:nvSpPr>
          <p:cNvPr id="60" name="object 73"/>
          <p:cNvSpPr/>
          <p:nvPr/>
        </p:nvSpPr>
        <p:spPr>
          <a:xfrm>
            <a:off x="1984680" y="3983760"/>
            <a:ext cx="1757880" cy="604800"/>
          </a:xfrm>
          <a:prstGeom prst="rect">
            <a:avLst/>
          </a:prstGeom>
          <a:solidFill>
            <a:srgbClr val="CCB657"/>
          </a:solidFill>
          <a:ln w="0">
            <a:noFill/>
          </a:ln>
        </p:spPr>
        <p:style>
          <a:lnRef idx="0">
            <a:scrgbClr r="0" g="0" b="0"/>
          </a:lnRef>
          <a:fillRef idx="0">
            <a:scrgbClr r="0" g="0" b="0"/>
          </a:fillRef>
          <a:effectRef idx="0">
            <a:scrgbClr r="0" g="0" b="0"/>
          </a:effectRef>
          <a:fontRef idx="minor"/>
        </p:style>
        <p:txBody>
          <a:bodyPr lIns="0" tIns="2520" rIns="0" bIns="0" anchor="t">
            <a:spAutoFit/>
          </a:bodyPr>
          <a:lstStyle/>
          <a:p>
            <a:pPr defTabSz="914400">
              <a:lnSpc>
                <a:spcPct val="100000"/>
              </a:lnSpc>
              <a:spcBef>
                <a:spcPts val="20"/>
              </a:spcBef>
            </a:pPr>
            <a:endParaRPr lang="es-ES" sz="2350" b="0" strike="noStrike" spc="-1">
              <a:solidFill>
                <a:srgbClr val="000000"/>
              </a:solidFill>
              <a:latin typeface="Arial"/>
            </a:endParaRPr>
          </a:p>
          <a:p>
            <a:pPr marL="18360" algn="ctr" defTabSz="914400">
              <a:lnSpc>
                <a:spcPct val="100000"/>
              </a:lnSpc>
            </a:pPr>
            <a:r>
              <a:rPr lang="es-ES" sz="1600" b="1" strike="noStrike" spc="-12">
                <a:solidFill>
                  <a:schemeClr val="dk1"/>
                </a:solidFill>
                <a:latin typeface="Calibri"/>
              </a:rPr>
              <a:t>Core</a:t>
            </a:r>
            <a:endParaRPr lang="es-ES" sz="1600" b="0" strike="noStrike" spc="-1">
              <a:solidFill>
                <a:srgbClr val="000000"/>
              </a:solidFill>
              <a:latin typeface="Arial"/>
            </a:endParaRPr>
          </a:p>
        </p:txBody>
      </p:sp>
      <p:sp>
        <p:nvSpPr>
          <p:cNvPr id="61" name="object 74"/>
          <p:cNvSpPr/>
          <p:nvPr/>
        </p:nvSpPr>
        <p:spPr>
          <a:xfrm>
            <a:off x="3984120" y="4338360"/>
            <a:ext cx="739800" cy="50004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defTabSz="914400">
              <a:lnSpc>
                <a:spcPct val="100000"/>
              </a:lnSpc>
              <a:spcBef>
                <a:spcPts val="96"/>
              </a:spcBef>
            </a:pPr>
            <a:r>
              <a:rPr lang="es-ES" sz="1600" b="1" strike="noStrike" spc="-12">
                <a:solidFill>
                  <a:schemeClr val="dk1"/>
                </a:solidFill>
                <a:latin typeface="Calibri"/>
              </a:rPr>
              <a:t>Cladding</a:t>
            </a:r>
            <a:endParaRPr lang="es-ES" sz="1600" b="0" strike="noStrike" spc="-1">
              <a:solidFill>
                <a:srgbClr val="000000"/>
              </a:solidFill>
              <a:latin typeface="Arial"/>
            </a:endParaRPr>
          </a:p>
        </p:txBody>
      </p:sp>
      <p:sp>
        <p:nvSpPr>
          <p:cNvPr id="62" name="object 7"/>
          <p:cNvSpPr/>
          <p:nvPr/>
        </p:nvSpPr>
        <p:spPr>
          <a:xfrm>
            <a:off x="7391520" y="3422880"/>
            <a:ext cx="3928320" cy="1901520"/>
          </a:xfrm>
          <a:custGeom>
            <a:avLst/>
            <a:gdLst>
              <a:gd name="textAreaLeft" fmla="*/ 0 w 3928320"/>
              <a:gd name="textAreaRight" fmla="*/ 3929400 w 3928320"/>
              <a:gd name="textAreaTop" fmla="*/ 0 h 1901520"/>
              <a:gd name="textAreaBottom" fmla="*/ 1902600 h 1901520"/>
            </a:gdLst>
            <a:ahLst/>
            <a:cxnLst/>
            <a:rect l="textAreaLeft" t="textAreaTop" r="textAreaRight" b="textAreaBottom"/>
            <a:pathLst>
              <a:path w="3929379" h="1902460">
                <a:moveTo>
                  <a:pt x="0" y="1901952"/>
                </a:moveTo>
                <a:lnTo>
                  <a:pt x="3928872" y="1901952"/>
                </a:lnTo>
                <a:lnTo>
                  <a:pt x="3928872" y="0"/>
                </a:lnTo>
                <a:lnTo>
                  <a:pt x="0" y="0"/>
                </a:lnTo>
                <a:lnTo>
                  <a:pt x="0" y="1901952"/>
                </a:lnTo>
                <a:close/>
              </a:path>
            </a:pathLst>
          </a:custGeom>
          <a:solidFill>
            <a:srgbClr val="F1F1F1"/>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sp>
        <p:nvSpPr>
          <p:cNvPr id="63" name="object 64"/>
          <p:cNvSpPr/>
          <p:nvPr/>
        </p:nvSpPr>
        <p:spPr>
          <a:xfrm>
            <a:off x="8473320" y="3773520"/>
            <a:ext cx="1757160" cy="75240"/>
          </a:xfrm>
          <a:custGeom>
            <a:avLst/>
            <a:gdLst>
              <a:gd name="textAreaLeft" fmla="*/ 0 w 1757160"/>
              <a:gd name="textAreaRight" fmla="*/ 1758240 w 1757160"/>
              <a:gd name="textAreaTop" fmla="*/ 0 h 75240"/>
              <a:gd name="textAreaBottom" fmla="*/ 76320 h 75240"/>
            </a:gdLst>
            <a:ahLst/>
            <a:cxnLst/>
            <a:rect l="textAreaLeft" t="textAreaTop" r="textAreaRight" b="textAreaBottom"/>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sp>
        <p:nvSpPr>
          <p:cNvPr id="64" name="object 65"/>
          <p:cNvSpPr/>
          <p:nvPr/>
        </p:nvSpPr>
        <p:spPr>
          <a:xfrm>
            <a:off x="8993520" y="3532680"/>
            <a:ext cx="732240" cy="440640"/>
          </a:xfrm>
          <a:prstGeom prst="rect">
            <a:avLst/>
          </a:prstGeom>
          <a:noFill/>
          <a:ln w="0">
            <a:noFill/>
          </a:ln>
        </p:spPr>
        <p:style>
          <a:lnRef idx="0">
            <a:scrgbClr r="0" g="0" b="0"/>
          </a:lnRef>
          <a:fillRef idx="0">
            <a:scrgbClr r="0" g="0" b="0"/>
          </a:fillRef>
          <a:effectRef idx="0">
            <a:scrgbClr r="0" g="0" b="0"/>
          </a:effectRef>
          <a:fontRef idx="minor"/>
        </p:style>
        <p:txBody>
          <a:bodyPr lIns="0" tIns="13320" rIns="0" bIns="0" anchor="t">
            <a:spAutoFit/>
          </a:bodyPr>
          <a:lstStyle/>
          <a:p>
            <a:pPr defTabSz="914400">
              <a:lnSpc>
                <a:spcPct val="100000"/>
              </a:lnSpc>
              <a:spcBef>
                <a:spcPts val="105"/>
              </a:spcBef>
            </a:pPr>
            <a:r>
              <a:rPr lang="es-ES" sz="1400" b="0" strike="noStrike" spc="-1">
                <a:solidFill>
                  <a:schemeClr val="dk1"/>
                </a:solidFill>
                <a:latin typeface="Calibri"/>
              </a:rPr>
              <a:t>W</a:t>
            </a:r>
            <a:r>
              <a:rPr lang="es-ES" sz="1400" b="0" strike="noStrike" spc="-66">
                <a:solidFill>
                  <a:schemeClr val="dk1"/>
                </a:solidFill>
                <a:latin typeface="Calibri"/>
              </a:rPr>
              <a:t> </a:t>
            </a:r>
            <a:r>
              <a:rPr lang="es-ES" sz="1400" b="0" strike="noStrike" spc="-7">
                <a:solidFill>
                  <a:schemeClr val="dk1"/>
                </a:solidFill>
                <a:latin typeface="Calibri"/>
              </a:rPr>
              <a:t>(width)</a:t>
            </a:r>
            <a:endParaRPr lang="es-ES" sz="1400" b="0" strike="noStrike" spc="-1">
              <a:solidFill>
                <a:srgbClr val="000000"/>
              </a:solidFill>
              <a:latin typeface="Arial"/>
            </a:endParaRPr>
          </a:p>
        </p:txBody>
      </p:sp>
      <p:sp>
        <p:nvSpPr>
          <p:cNvPr id="65" name="object 73"/>
          <p:cNvSpPr/>
          <p:nvPr/>
        </p:nvSpPr>
        <p:spPr>
          <a:xfrm>
            <a:off x="8473320" y="3983760"/>
            <a:ext cx="1757880" cy="604800"/>
          </a:xfrm>
          <a:prstGeom prst="rect">
            <a:avLst/>
          </a:prstGeom>
          <a:solidFill>
            <a:srgbClr val="CCB657"/>
          </a:solidFill>
          <a:ln w="0">
            <a:noFill/>
          </a:ln>
        </p:spPr>
        <p:style>
          <a:lnRef idx="0">
            <a:scrgbClr r="0" g="0" b="0"/>
          </a:lnRef>
          <a:fillRef idx="0">
            <a:scrgbClr r="0" g="0" b="0"/>
          </a:fillRef>
          <a:effectRef idx="0">
            <a:scrgbClr r="0" g="0" b="0"/>
          </a:effectRef>
          <a:fontRef idx="minor"/>
        </p:style>
        <p:txBody>
          <a:bodyPr lIns="0" tIns="2520" rIns="0" bIns="0" anchor="t">
            <a:spAutoFit/>
          </a:bodyPr>
          <a:lstStyle/>
          <a:p>
            <a:pPr defTabSz="914400">
              <a:lnSpc>
                <a:spcPct val="100000"/>
              </a:lnSpc>
              <a:spcBef>
                <a:spcPts val="20"/>
              </a:spcBef>
            </a:pPr>
            <a:endParaRPr lang="es-ES" sz="2350" b="0" strike="noStrike" spc="-1">
              <a:solidFill>
                <a:srgbClr val="000000"/>
              </a:solidFill>
              <a:latin typeface="Arial"/>
            </a:endParaRPr>
          </a:p>
          <a:p>
            <a:pPr marL="18360" algn="ctr" defTabSz="914400">
              <a:lnSpc>
                <a:spcPct val="100000"/>
              </a:lnSpc>
            </a:pPr>
            <a:r>
              <a:rPr lang="es-ES" sz="1600" b="1" strike="noStrike" spc="-12">
                <a:solidFill>
                  <a:schemeClr val="dk1"/>
                </a:solidFill>
                <a:latin typeface="Calibri"/>
              </a:rPr>
              <a:t>Core</a:t>
            </a:r>
            <a:endParaRPr lang="es-ES" sz="1600" b="0" strike="noStrike" spc="-1">
              <a:solidFill>
                <a:srgbClr val="000000"/>
              </a:solidFill>
              <a:latin typeface="Arial"/>
            </a:endParaRPr>
          </a:p>
        </p:txBody>
      </p:sp>
      <p:sp>
        <p:nvSpPr>
          <p:cNvPr id="66" name="object 74"/>
          <p:cNvSpPr/>
          <p:nvPr/>
        </p:nvSpPr>
        <p:spPr>
          <a:xfrm>
            <a:off x="10472760" y="4338360"/>
            <a:ext cx="739800" cy="50004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defTabSz="914400">
              <a:lnSpc>
                <a:spcPct val="100000"/>
              </a:lnSpc>
              <a:spcBef>
                <a:spcPts val="96"/>
              </a:spcBef>
            </a:pPr>
            <a:r>
              <a:rPr lang="es-ES" sz="1600" b="1" strike="noStrike" spc="-12">
                <a:solidFill>
                  <a:schemeClr val="dk1"/>
                </a:solidFill>
                <a:latin typeface="Calibri"/>
              </a:rPr>
              <a:t>Cladding</a:t>
            </a:r>
            <a:endParaRPr lang="es-ES" sz="1600" b="0" strike="noStrike" spc="-1">
              <a:solidFill>
                <a:srgbClr val="000000"/>
              </a:solidFill>
              <a:latin typeface="Arial"/>
            </a:endParaRPr>
          </a:p>
        </p:txBody>
      </p:sp>
      <p:sp>
        <p:nvSpPr>
          <p:cNvPr id="67" name="object 73"/>
          <p:cNvSpPr/>
          <p:nvPr/>
        </p:nvSpPr>
        <p:spPr>
          <a:xfrm>
            <a:off x="7391520" y="4690800"/>
            <a:ext cx="3904920" cy="604800"/>
          </a:xfrm>
          <a:prstGeom prst="rect">
            <a:avLst/>
          </a:prstGeom>
          <a:solidFill>
            <a:srgbClr val="CCB657"/>
          </a:solidFill>
          <a:ln w="0">
            <a:noFill/>
          </a:ln>
        </p:spPr>
        <p:style>
          <a:lnRef idx="0">
            <a:scrgbClr r="0" g="0" b="0"/>
          </a:lnRef>
          <a:fillRef idx="0">
            <a:scrgbClr r="0" g="0" b="0"/>
          </a:fillRef>
          <a:effectRef idx="0">
            <a:scrgbClr r="0" g="0" b="0"/>
          </a:effectRef>
          <a:fontRef idx="minor"/>
        </p:style>
        <p:txBody>
          <a:bodyPr lIns="0" tIns="2520" rIns="0" bIns="0" anchor="t">
            <a:spAutoFit/>
          </a:bodyPr>
          <a:lstStyle/>
          <a:p>
            <a:pPr defTabSz="914400">
              <a:lnSpc>
                <a:spcPct val="100000"/>
              </a:lnSpc>
              <a:spcBef>
                <a:spcPts val="20"/>
              </a:spcBef>
            </a:pPr>
            <a:endParaRPr lang="es-ES" sz="2350" b="0" strike="noStrike" spc="-1">
              <a:solidFill>
                <a:srgbClr val="000000"/>
              </a:solidFill>
              <a:latin typeface="Arial"/>
            </a:endParaRPr>
          </a:p>
          <a:p>
            <a:pPr marL="18360" defTabSz="914400">
              <a:lnSpc>
                <a:spcPct val="100000"/>
              </a:lnSpc>
            </a:pPr>
            <a:r>
              <a:rPr lang="es-ES" sz="1600" b="1" strike="noStrike" spc="-12">
                <a:solidFill>
                  <a:schemeClr val="dk1"/>
                </a:solidFill>
                <a:latin typeface="Calibri"/>
              </a:rPr>
              <a:t>Slab</a:t>
            </a:r>
            <a:endParaRPr lang="es-ES" sz="1600" b="0" strike="noStrike" spc="-1">
              <a:solidFill>
                <a:srgbClr val="000000"/>
              </a:solidFill>
              <a:latin typeface="Arial"/>
            </a:endParaRPr>
          </a:p>
        </p:txBody>
      </p:sp>
      <p:sp>
        <p:nvSpPr>
          <p:cNvPr id="68" name="object 62"/>
          <p:cNvSpPr/>
          <p:nvPr/>
        </p:nvSpPr>
        <p:spPr>
          <a:xfrm>
            <a:off x="8575920" y="3994200"/>
            <a:ext cx="55080" cy="694080"/>
          </a:xfrm>
          <a:custGeom>
            <a:avLst/>
            <a:gdLst>
              <a:gd name="textAreaLeft" fmla="*/ 0 w 55080"/>
              <a:gd name="textAreaRight" fmla="*/ 56160 w 55080"/>
              <a:gd name="textAreaTop" fmla="*/ 0 h 694080"/>
              <a:gd name="textAreaBottom" fmla="*/ 695160 h 694080"/>
            </a:gdLst>
            <a:ahLst/>
            <a:cxnLst/>
            <a:rect l="textAreaLeft" t="textAreaTop" r="textAreaRight" b="textAreaBottom"/>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sp>
        <p:nvSpPr>
          <p:cNvPr id="69" name="object 62"/>
          <p:cNvSpPr/>
          <p:nvPr/>
        </p:nvSpPr>
        <p:spPr>
          <a:xfrm>
            <a:off x="8233200" y="4689360"/>
            <a:ext cx="54000" cy="612360"/>
          </a:xfrm>
          <a:custGeom>
            <a:avLst/>
            <a:gdLst>
              <a:gd name="textAreaLeft" fmla="*/ 0 w 54000"/>
              <a:gd name="textAreaRight" fmla="*/ 55080 w 54000"/>
              <a:gd name="textAreaTop" fmla="*/ 0 h 612360"/>
              <a:gd name="textAreaBottom" fmla="*/ 613440 h 612360"/>
            </a:gdLst>
            <a:ahLst/>
            <a:cxnLst/>
            <a:rect l="textAreaLeft" t="textAreaTop" r="textAreaRight" b="textAreaBottom"/>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sp>
        <p:nvSpPr>
          <p:cNvPr id="70" name="object 63"/>
          <p:cNvSpPr/>
          <p:nvPr/>
        </p:nvSpPr>
        <p:spPr>
          <a:xfrm>
            <a:off x="8352000" y="4887000"/>
            <a:ext cx="672840" cy="227160"/>
          </a:xfrm>
          <a:prstGeom prst="rect">
            <a:avLst/>
          </a:prstGeom>
          <a:noFill/>
          <a:ln w="0">
            <a:noFill/>
          </a:ln>
        </p:spPr>
        <p:style>
          <a:lnRef idx="0">
            <a:scrgbClr r="0" g="0" b="0"/>
          </a:lnRef>
          <a:fillRef idx="0">
            <a:scrgbClr r="0" g="0" b="0"/>
          </a:fillRef>
          <a:effectRef idx="0">
            <a:scrgbClr r="0" g="0" b="0"/>
          </a:effectRef>
          <a:fontRef idx="minor"/>
        </p:style>
        <p:txBody>
          <a:bodyPr lIns="0" tIns="13320" rIns="0" bIns="0" anchor="t">
            <a:spAutoFit/>
          </a:bodyPr>
          <a:lstStyle/>
          <a:p>
            <a:pPr defTabSz="914400">
              <a:lnSpc>
                <a:spcPct val="100000"/>
              </a:lnSpc>
              <a:spcBef>
                <a:spcPts val="105"/>
              </a:spcBef>
            </a:pPr>
            <a:r>
              <a:rPr lang="es-ES" sz="1400" b="0" strike="noStrike" spc="-1">
                <a:solidFill>
                  <a:schemeClr val="dk1"/>
                </a:solidFill>
                <a:latin typeface="Calibri"/>
              </a:rPr>
              <a:t>h_slab</a:t>
            </a:r>
            <a:endParaRPr lang="es-ES" sz="1400" b="0" strike="noStrike" spc="-1">
              <a:solidFill>
                <a:srgbClr val="000000"/>
              </a:solidFill>
              <a:latin typeface="Arial"/>
            </a:endParaRPr>
          </a:p>
        </p:txBody>
      </p:sp>
      <p:sp>
        <p:nvSpPr>
          <p:cNvPr id="71" name="object 63"/>
          <p:cNvSpPr/>
          <p:nvPr/>
        </p:nvSpPr>
        <p:spPr>
          <a:xfrm>
            <a:off x="8706240" y="3990240"/>
            <a:ext cx="1379160" cy="227160"/>
          </a:xfrm>
          <a:prstGeom prst="rect">
            <a:avLst/>
          </a:prstGeom>
          <a:noFill/>
          <a:ln w="0">
            <a:noFill/>
          </a:ln>
        </p:spPr>
        <p:style>
          <a:lnRef idx="0">
            <a:scrgbClr r="0" g="0" b="0"/>
          </a:lnRef>
          <a:fillRef idx="0">
            <a:scrgbClr r="0" g="0" b="0"/>
          </a:fillRef>
          <a:effectRef idx="0">
            <a:scrgbClr r="0" g="0" b="0"/>
          </a:effectRef>
          <a:fontRef idx="minor"/>
        </p:style>
        <p:txBody>
          <a:bodyPr lIns="0" tIns="13320" rIns="0" bIns="0" anchor="t">
            <a:spAutoFit/>
          </a:bodyPr>
          <a:lstStyle/>
          <a:p>
            <a:pPr defTabSz="914400">
              <a:lnSpc>
                <a:spcPct val="100000"/>
              </a:lnSpc>
              <a:spcBef>
                <a:spcPts val="105"/>
              </a:spcBef>
            </a:pPr>
            <a:r>
              <a:rPr lang="es-ES" sz="1400" b="0" strike="noStrike" spc="-12">
                <a:solidFill>
                  <a:schemeClr val="dk1"/>
                </a:solidFill>
                <a:latin typeface="Calibri"/>
              </a:rPr>
              <a:t>h_core </a:t>
            </a:r>
            <a:endParaRPr lang="es-ES" sz="1400" b="0" strike="noStrike" spc="-1">
              <a:solidFill>
                <a:srgbClr val="000000"/>
              </a:solidFill>
              <a:latin typeface="Arial"/>
            </a:endParaRPr>
          </a:p>
        </p:txBody>
      </p:sp>
      <p:sp>
        <p:nvSpPr>
          <p:cNvPr id="72" name="CuadroTexto 1"/>
          <p:cNvSpPr/>
          <p:nvPr/>
        </p:nvSpPr>
        <p:spPr>
          <a:xfrm>
            <a:off x="9159120" y="5257080"/>
            <a:ext cx="2275200" cy="364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1" strike="noStrike" spc="-1">
                <a:solidFill>
                  <a:schemeClr val="dk1"/>
                </a:solidFill>
                <a:latin typeface="Calibri"/>
              </a:rPr>
              <a:t>shallow</a:t>
            </a:r>
            <a:r>
              <a:rPr lang="en-US" sz="1800" b="0" strike="noStrike" spc="-1">
                <a:solidFill>
                  <a:schemeClr val="dk1"/>
                </a:solidFill>
                <a:latin typeface="Calibri"/>
              </a:rPr>
              <a:t> waveguide</a:t>
            </a:r>
            <a:endParaRPr lang="es-ES" sz="1800" b="0" strike="noStrike" spc="-1">
              <a:solidFill>
                <a:srgbClr val="000000"/>
              </a:solidFill>
              <a:latin typeface="Arial"/>
            </a:endParaRPr>
          </a:p>
        </p:txBody>
      </p:sp>
      <p:sp>
        <p:nvSpPr>
          <p:cNvPr id="73" name="CuadroTexto 7"/>
          <p:cNvSpPr/>
          <p:nvPr/>
        </p:nvSpPr>
        <p:spPr>
          <a:xfrm>
            <a:off x="2970000" y="5257080"/>
            <a:ext cx="21564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800" b="1" strike="noStrike" spc="-1">
                <a:solidFill>
                  <a:schemeClr val="dk1"/>
                </a:solidFill>
                <a:latin typeface="Calibri"/>
              </a:rPr>
              <a:t>deep</a:t>
            </a:r>
            <a:r>
              <a:rPr lang="en-US" sz="1800" b="0" strike="noStrike" spc="-1">
                <a:solidFill>
                  <a:schemeClr val="dk1"/>
                </a:solidFill>
                <a:latin typeface="Calibri"/>
              </a:rPr>
              <a:t> waveguide</a:t>
            </a:r>
            <a:endParaRPr lang="es-ES" sz="1800" b="0" strike="noStrike" spc="-1">
              <a:solidFill>
                <a:srgbClr val="000000"/>
              </a:solidFill>
              <a:latin typeface="Arial"/>
            </a:endParaRPr>
          </a:p>
        </p:txBody>
      </p:sp>
      <p:sp>
        <p:nvSpPr>
          <p:cNvPr id="4" name="PlaceHolder 3"/>
          <p:cNvSpPr>
            <a:spLocks noGrp="1"/>
          </p:cNvSpPr>
          <p:nvPr>
            <p:ph type="sldNum" idx="5"/>
          </p:nvPr>
        </p:nvSpPr>
        <p:spPr/>
        <p:txBody>
          <a:bodyPr/>
          <a:lstStyle/>
          <a:p>
            <a:fld id="{281C9A66-916F-4DDA-AD54-56145B015D44}"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685800" y="408960"/>
            <a:ext cx="10993320" cy="1157040"/>
          </a:xfrm>
          <a:prstGeom prst="rect">
            <a:avLst/>
          </a:prstGeom>
          <a:noFill/>
          <a:ln w="0">
            <a:noFill/>
          </a:ln>
        </p:spPr>
        <p:txBody>
          <a:bodyPr lIns="0" tIns="12600" rIns="0" bIns="0" anchor="t">
            <a:noAutofit/>
          </a:bodyPr>
          <a:lstStyle/>
          <a:p>
            <a:pPr marL="12600" indent="0">
              <a:lnSpc>
                <a:spcPct val="100000"/>
              </a:lnSpc>
              <a:spcBef>
                <a:spcPts val="99"/>
              </a:spcBef>
              <a:buNone/>
              <a:tabLst>
                <a:tab pos="0" algn="l"/>
              </a:tabLst>
            </a:pPr>
            <a:r>
              <a:rPr lang="en-US" sz="2500" b="1" strike="noStrike" spc="-1">
                <a:solidFill>
                  <a:schemeClr val="dk1"/>
                </a:solidFill>
                <a:latin typeface="Calibri"/>
              </a:rPr>
              <a:t>Learning outcome #1 – Effective index of a waveguide</a:t>
            </a:r>
            <a:br>
              <a:rPr sz="2500"/>
            </a:br>
            <a:endParaRPr lang="es-ES" sz="2500" b="0" strike="noStrike" spc="-1">
              <a:solidFill>
                <a:srgbClr val="000000"/>
              </a:solidFill>
              <a:latin typeface="Arial"/>
            </a:endParaRPr>
          </a:p>
        </p:txBody>
      </p:sp>
      <p:pic>
        <p:nvPicPr>
          <p:cNvPr id="75" name="Gráfico 82"/>
          <p:cNvPicPr/>
          <p:nvPr/>
        </p:nvPicPr>
        <p:blipFill>
          <a:blip r:embed="rId3"/>
          <a:stretch/>
        </p:blipFill>
        <p:spPr>
          <a:xfrm>
            <a:off x="5045040" y="6356160"/>
            <a:ext cx="6408360" cy="362160"/>
          </a:xfrm>
          <a:prstGeom prst="rect">
            <a:avLst/>
          </a:prstGeom>
          <a:ln w="0">
            <a:noFill/>
          </a:ln>
        </p:spPr>
      </p:pic>
      <p:sp>
        <p:nvSpPr>
          <p:cNvPr id="76" name="PlaceHolder 2"/>
          <p:cNvSpPr>
            <a:spLocks noGrp="1"/>
          </p:cNvSpPr>
          <p:nvPr>
            <p:ph type="ftr" idx="17"/>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77" name="Marcador de texto 2"/>
          <p:cNvSpPr/>
          <p:nvPr/>
        </p:nvSpPr>
        <p:spPr>
          <a:xfrm>
            <a:off x="608040" y="1092319"/>
            <a:ext cx="11048040" cy="495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defTabSz="914400">
              <a:lnSpc>
                <a:spcPct val="100000"/>
              </a:lnSpc>
              <a:tabLst>
                <a:tab pos="0" algn="l"/>
              </a:tabLst>
            </a:pPr>
            <a:r>
              <a:rPr lang="en-US" sz="2000" b="1" strike="noStrike" spc="-1">
                <a:solidFill>
                  <a:schemeClr val="dk1"/>
                </a:solidFill>
                <a:latin typeface="Calibri"/>
              </a:rPr>
              <a:t>INSTRUCTOR:</a:t>
            </a:r>
            <a:endParaRPr lang="es-ES" sz="2000" b="0" strike="noStrike" spc="-1">
              <a:solidFill>
                <a:srgbClr val="000000"/>
              </a:solidFill>
              <a:latin typeface="Arial"/>
            </a:endParaRPr>
          </a:p>
          <a:p>
            <a:pPr marL="343080" indent="-343080" algn="just" defTabSz="914400">
              <a:lnSpc>
                <a:spcPct val="100000"/>
              </a:lnSpc>
              <a:buClr>
                <a:srgbClr val="000000"/>
              </a:buClr>
              <a:buFont typeface="Arial"/>
              <a:buChar char="•"/>
              <a:tabLst>
                <a:tab pos="0" algn="l"/>
              </a:tabLst>
            </a:pPr>
            <a:r>
              <a:rPr lang="en-US" sz="2000" b="0" strike="noStrike" spc="-1">
                <a:solidFill>
                  <a:schemeClr val="dk1"/>
                </a:solidFill>
                <a:latin typeface="Calibri"/>
              </a:rPr>
              <a:t>Present Python and </a:t>
            </a:r>
            <a:r>
              <a:rPr lang="en-US" sz="2000" b="0" strike="noStrike" spc="-1" err="1">
                <a:solidFill>
                  <a:schemeClr val="dk1"/>
                </a:solidFill>
                <a:latin typeface="Calibri"/>
              </a:rPr>
              <a:t>GDSFactory</a:t>
            </a:r>
            <a:r>
              <a:rPr lang="en-US" sz="2000" b="0" strike="noStrike" spc="-1">
                <a:solidFill>
                  <a:schemeClr val="dk1"/>
                </a:solidFill>
                <a:latin typeface="Calibri"/>
              </a:rPr>
              <a:t>: materials, output, results.</a:t>
            </a:r>
            <a:endParaRPr lang="es-ES" sz="2000" b="0" strike="noStrike" spc="-1">
              <a:solidFill>
                <a:srgbClr val="000000"/>
              </a:solidFill>
              <a:latin typeface="Arial"/>
            </a:endParaRPr>
          </a:p>
          <a:p>
            <a:pPr marL="343080" indent="-343080" algn="just" defTabSz="914400">
              <a:lnSpc>
                <a:spcPct val="100000"/>
              </a:lnSpc>
              <a:buClr>
                <a:srgbClr val="000000"/>
              </a:buClr>
              <a:buFont typeface="Arial"/>
              <a:buChar char="•"/>
              <a:tabLst>
                <a:tab pos="0" algn="l"/>
              </a:tabLst>
            </a:pPr>
            <a:r>
              <a:rPr lang="en-US" sz="2000" b="0" strike="noStrike" spc="-1">
                <a:solidFill>
                  <a:schemeClr val="dk1"/>
                </a:solidFill>
                <a:latin typeface="Calibri"/>
              </a:rPr>
              <a:t>Explain how to run a simulation for a particular cross-section. </a:t>
            </a:r>
            <a:endParaRPr lang="es-ES" sz="2000" b="0" strike="noStrike" spc="-1">
              <a:solidFill>
                <a:srgbClr val="000000"/>
              </a:solidFill>
              <a:latin typeface="Arial"/>
            </a:endParaRPr>
          </a:p>
          <a:p>
            <a:pPr marL="343080" indent="-343080" algn="just" defTabSz="914400">
              <a:lnSpc>
                <a:spcPct val="100000"/>
              </a:lnSpc>
              <a:buClr>
                <a:srgbClr val="000000"/>
              </a:buClr>
              <a:buFont typeface="Arial"/>
              <a:buChar char="•"/>
              <a:tabLst>
                <a:tab pos="0" algn="l"/>
              </a:tabLst>
            </a:pPr>
            <a:r>
              <a:rPr lang="en-US" sz="2000" b="0" strike="noStrike" spc="-1">
                <a:solidFill>
                  <a:schemeClr val="dk1"/>
                </a:solidFill>
                <a:latin typeface="Calibri"/>
              </a:rPr>
              <a:t>Showcase how to change between shallow and deep waveguide.</a:t>
            </a:r>
            <a:endParaRPr lang="es-ES" sz="2000" b="0" strike="noStrike" spc="-1">
              <a:solidFill>
                <a:srgbClr val="000000"/>
              </a:solidFill>
              <a:latin typeface="Arial"/>
            </a:endParaRPr>
          </a:p>
          <a:p>
            <a:pPr marL="343080" indent="-343080" algn="just" defTabSz="914400">
              <a:lnSpc>
                <a:spcPct val="100000"/>
              </a:lnSpc>
              <a:buClr>
                <a:srgbClr val="000000"/>
              </a:buClr>
              <a:buFont typeface="Arial"/>
              <a:buChar char="•"/>
              <a:tabLst>
                <a:tab pos="0" algn="l"/>
              </a:tabLst>
            </a:pPr>
            <a:r>
              <a:rPr lang="en-US" sz="2000" b="0" strike="noStrike" spc="-1">
                <a:solidFill>
                  <a:schemeClr val="dk1"/>
                </a:solidFill>
                <a:latin typeface="Calibri"/>
              </a:rPr>
              <a:t>Describe how to change the wavelength and width for the waveguide analysis.</a:t>
            </a:r>
            <a:endParaRPr lang="es-ES" sz="2000" b="0" strike="noStrike" spc="-1">
              <a:solidFill>
                <a:srgbClr val="000000"/>
              </a:solidFill>
              <a:latin typeface="Arial"/>
            </a:endParaRPr>
          </a:p>
          <a:p>
            <a:pPr marL="343080" indent="-343080" algn="just" defTabSz="914400">
              <a:lnSpc>
                <a:spcPct val="100000"/>
              </a:lnSpc>
              <a:buClr>
                <a:srgbClr val="000000"/>
              </a:buClr>
              <a:buFont typeface="Arial"/>
              <a:buChar char="•"/>
              <a:tabLst>
                <a:tab pos="0" algn="l"/>
              </a:tabLst>
            </a:pPr>
            <a:r>
              <a:rPr lang="en-US" sz="2000" b="0" strike="noStrike" spc="-1">
                <a:solidFill>
                  <a:schemeClr val="dk1"/>
                </a:solidFill>
                <a:latin typeface="Calibri"/>
              </a:rPr>
              <a:t>Describe the outputs.</a:t>
            </a:r>
            <a:endParaRPr lang="es-ES" sz="2000" b="0" strike="noStrike" spc="-1">
              <a:solidFill>
                <a:srgbClr val="000000"/>
              </a:solidFill>
              <a:latin typeface="Arial"/>
            </a:endParaRPr>
          </a:p>
          <a:p>
            <a:pPr algn="just" defTabSz="914400">
              <a:lnSpc>
                <a:spcPct val="100000"/>
              </a:lnSpc>
              <a:tabLst>
                <a:tab pos="0" algn="l"/>
              </a:tabLst>
            </a:pPr>
            <a:r>
              <a:rPr lang="en-US" sz="2000" b="1" strike="noStrike" spc="-1">
                <a:solidFill>
                  <a:schemeClr val="dk1"/>
                </a:solidFill>
                <a:latin typeface="Calibri"/>
              </a:rPr>
              <a:t>ALL EXAMPLE #1: </a:t>
            </a:r>
            <a:r>
              <a:rPr lang="en-US" sz="2000" b="0" strike="noStrike" spc="-1">
                <a:solidFill>
                  <a:schemeClr val="dk1"/>
                </a:solidFill>
                <a:latin typeface="Calibri"/>
              </a:rPr>
              <a:t>waveguide width 1.2 µm, deep </a:t>
            </a:r>
            <a:r>
              <a:rPr lang="en-US" sz="2000" b="0" strike="noStrike" spc="-1" err="1">
                <a:solidFill>
                  <a:schemeClr val="dk1"/>
                </a:solidFill>
                <a:latin typeface="Calibri"/>
              </a:rPr>
              <a:t>wvg</a:t>
            </a:r>
            <a:r>
              <a:rPr lang="en-US" sz="2000" b="0" strike="noStrike" spc="-1">
                <a:solidFill>
                  <a:schemeClr val="dk1"/>
                </a:solidFill>
                <a:latin typeface="Calibri"/>
              </a:rPr>
              <a:t>, wavelength start and end same 1.55 µm </a:t>
            </a:r>
            <a:r>
              <a:rPr lang="en-US" sz="2000" b="0" strike="noStrike" spc="-1">
                <a:solidFill>
                  <a:schemeClr val="dk1"/>
                </a:solidFill>
                <a:latin typeface="Wingdings"/>
              </a:rPr>
              <a:t></a:t>
            </a:r>
            <a:r>
              <a:rPr lang="en-US" sz="2000" b="0" strike="noStrike" spc="-1">
                <a:solidFill>
                  <a:schemeClr val="dk1"/>
                </a:solidFill>
                <a:latin typeface="Calibri"/>
              </a:rPr>
              <a:t> all ”Run”</a:t>
            </a:r>
            <a:endParaRPr lang="es-ES" sz="2000" b="0" strike="noStrike" spc="-1">
              <a:solidFill>
                <a:srgbClr val="000000"/>
              </a:solidFill>
              <a:latin typeface="Arial"/>
            </a:endParaRPr>
          </a:p>
          <a:p>
            <a:pPr algn="just" defTabSz="914400">
              <a:lnSpc>
                <a:spcPct val="100000"/>
              </a:lnSpc>
              <a:tabLst>
                <a:tab pos="0" algn="l"/>
              </a:tabLst>
            </a:pPr>
            <a:r>
              <a:rPr lang="en-US" sz="2000" b="1" strike="noStrike" spc="-1">
                <a:solidFill>
                  <a:schemeClr val="dk1"/>
                </a:solidFill>
                <a:latin typeface="Calibri"/>
              </a:rPr>
              <a:t>ALL: </a:t>
            </a:r>
            <a:r>
              <a:rPr lang="en-US" sz="2000" b="0" strike="noStrike" spc="-1">
                <a:solidFill>
                  <a:schemeClr val="dk1"/>
                </a:solidFill>
                <a:latin typeface="Calibri"/>
              </a:rPr>
              <a:t>Follow</a:t>
            </a:r>
            <a:r>
              <a:rPr lang="en-US" sz="2000" b="1" strike="noStrike" spc="-1">
                <a:solidFill>
                  <a:schemeClr val="dk1"/>
                </a:solidFill>
                <a:latin typeface="Calibri"/>
              </a:rPr>
              <a:t> </a:t>
            </a:r>
            <a:r>
              <a:rPr lang="en-US" sz="2000" b="0" strike="noStrike" spc="-1">
                <a:solidFill>
                  <a:schemeClr val="dk1"/>
                </a:solidFill>
                <a:latin typeface="Calibri"/>
              </a:rPr>
              <a:t>instructor, that will show how to 1) plot mode, 2) explore the results (</a:t>
            </a:r>
            <a:r>
              <a:rPr lang="en-US" sz="2000" b="0" strike="noStrike" spc="-1" err="1">
                <a:solidFill>
                  <a:schemeClr val="dk1"/>
                </a:solidFill>
                <a:latin typeface="Calibri"/>
              </a:rPr>
              <a:t>neff</a:t>
            </a:r>
            <a:r>
              <a:rPr lang="en-US" sz="2000" b="0" strike="noStrike" spc="-1">
                <a:solidFill>
                  <a:schemeClr val="dk1"/>
                </a:solidFill>
                <a:latin typeface="Calibri"/>
              </a:rPr>
              <a:t> …)</a:t>
            </a:r>
            <a:endParaRPr lang="es-ES" sz="2000" b="0" strike="noStrike" spc="-1">
              <a:solidFill>
                <a:srgbClr val="000000"/>
              </a:solidFill>
              <a:latin typeface="Arial"/>
            </a:endParaRPr>
          </a:p>
          <a:p>
            <a:pPr algn="just" defTabSz="914400">
              <a:lnSpc>
                <a:spcPct val="100000"/>
              </a:lnSpc>
              <a:tabLst>
                <a:tab pos="0" algn="l"/>
              </a:tabLst>
            </a:pPr>
            <a:endParaRPr lang="es-ES" sz="2000" b="0" strike="noStrike" spc="-1">
              <a:solidFill>
                <a:srgbClr val="000000"/>
              </a:solidFill>
              <a:latin typeface="Arial"/>
            </a:endParaRPr>
          </a:p>
          <a:p>
            <a:pPr algn="just" defTabSz="914400">
              <a:lnSpc>
                <a:spcPct val="100000"/>
              </a:lnSpc>
              <a:tabLst>
                <a:tab pos="0" algn="l"/>
              </a:tabLst>
            </a:pPr>
            <a:endParaRPr lang="es-ES" sz="2000" b="0" strike="noStrike" spc="-1">
              <a:solidFill>
                <a:srgbClr val="000000"/>
              </a:solidFill>
              <a:latin typeface="Arial"/>
            </a:endParaRPr>
          </a:p>
        </p:txBody>
      </p:sp>
      <p:sp>
        <p:nvSpPr>
          <p:cNvPr id="78" name="CuadroTexto 1"/>
          <p:cNvSpPr/>
          <p:nvPr/>
        </p:nvSpPr>
        <p:spPr>
          <a:xfrm>
            <a:off x="608040" y="4029685"/>
            <a:ext cx="11198880" cy="2122204"/>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GB" sz="1200" spc="-1" noProof="0">
                <a:solidFill>
                  <a:srgbClr val="000000"/>
                </a:solidFill>
                <a:latin typeface="Arial"/>
              </a:rPr>
              <a:t>The first steps were to compare the refractive index of each material studied: silicon (Si), silicon nitride (</a:t>
            </a:r>
            <a:r>
              <a:rPr lang="en-GB" sz="1200" spc="-1" noProof="0" err="1">
                <a:solidFill>
                  <a:srgbClr val="000000"/>
                </a:solidFill>
                <a:latin typeface="Arial"/>
              </a:rPr>
              <a:t>SiNx</a:t>
            </a:r>
            <a:r>
              <a:rPr lang="en-GB" sz="1200" spc="-1" noProof="0">
                <a:solidFill>
                  <a:srgbClr val="000000"/>
                </a:solidFill>
                <a:latin typeface="Arial"/>
              </a:rPr>
              <a:t>) and silicon dioxide (SiO2). Results were clear, as the silicon nitride resulted being less dispersive than silicon, having also lower refraction index (3.47 for Si vs 2 for </a:t>
            </a:r>
            <a:r>
              <a:rPr lang="en-GB" sz="1200" spc="-1" noProof="0" err="1">
                <a:solidFill>
                  <a:srgbClr val="000000"/>
                </a:solidFill>
                <a:latin typeface="Arial"/>
              </a:rPr>
              <a:t>SiNx</a:t>
            </a:r>
            <a:r>
              <a:rPr lang="en-GB" sz="1200" spc="-1" noProof="0">
                <a:solidFill>
                  <a:srgbClr val="000000"/>
                </a:solidFill>
                <a:latin typeface="Arial"/>
              </a:rPr>
              <a:t>). Furthermore, the SiO2 has the lowest dispersion and refractive index (1.457, varying the fifth decimal). </a:t>
            </a:r>
          </a:p>
          <a:p>
            <a:pPr algn="just" defTabSz="914400">
              <a:lnSpc>
                <a:spcPct val="100000"/>
              </a:lnSpc>
            </a:pPr>
            <a:endParaRPr lang="en-GB" sz="1200" spc="-1" noProof="0">
              <a:solidFill>
                <a:srgbClr val="000000"/>
              </a:solidFill>
              <a:latin typeface="Arial"/>
            </a:endParaRPr>
          </a:p>
          <a:p>
            <a:pPr algn="just" defTabSz="914400">
              <a:lnSpc>
                <a:spcPct val="100000"/>
              </a:lnSpc>
            </a:pPr>
            <a:r>
              <a:rPr lang="en-GB" sz="1200" b="0" strike="noStrike" spc="-1">
                <a:solidFill>
                  <a:srgbClr val="000000"/>
                </a:solidFill>
                <a:latin typeface="Arial"/>
              </a:rPr>
              <a:t>Refracti</a:t>
            </a:r>
            <a:r>
              <a:rPr lang="en-GB" sz="1200" spc="-1">
                <a:solidFill>
                  <a:srgbClr val="000000"/>
                </a:solidFill>
                <a:latin typeface="Arial"/>
              </a:rPr>
              <a:t>ve index represents how much the speed of light is reduced in a material (the speed of light in the material), and so, if we want modes to be guided inside a waveguide, the refraction index of the cladding must be lower than the refraction index of the core, to ensure that the refraction angle is not reached, and the power is confined inside the waveguide. </a:t>
            </a:r>
          </a:p>
          <a:p>
            <a:pPr algn="just" defTabSz="914400">
              <a:lnSpc>
                <a:spcPct val="100000"/>
              </a:lnSpc>
            </a:pPr>
            <a:endParaRPr lang="en-GB" sz="1200" spc="-1">
              <a:solidFill>
                <a:srgbClr val="000000"/>
              </a:solidFill>
              <a:latin typeface="Arial"/>
            </a:endParaRPr>
          </a:p>
          <a:p>
            <a:pPr algn="just"/>
            <a:r>
              <a:rPr lang="en-GB" sz="1200" spc="-1">
                <a:solidFill>
                  <a:srgbClr val="000000"/>
                </a:solidFill>
                <a:latin typeface="Arial"/>
              </a:rPr>
              <a:t>This way, we arrive to the section definition, where a shallow waveguide will be defined with a SiO2 cladding (</a:t>
            </a:r>
            <a:r>
              <a:rPr lang="en-GB" sz="1200" spc="-1" err="1">
                <a:solidFill>
                  <a:srgbClr val="000000"/>
                </a:solidFill>
                <a:latin typeface="Arial"/>
              </a:rPr>
              <a:t>n_clad</a:t>
            </a:r>
            <a:r>
              <a:rPr lang="en-GB" sz="1200" spc="-1">
                <a:solidFill>
                  <a:srgbClr val="000000"/>
                </a:solidFill>
                <a:latin typeface="Arial"/>
              </a:rPr>
              <a:t>=1.457) and a </a:t>
            </a:r>
            <a:r>
              <a:rPr lang="en-GB" sz="1200" spc="-1" err="1">
                <a:solidFill>
                  <a:srgbClr val="000000"/>
                </a:solidFill>
                <a:latin typeface="Arial"/>
              </a:rPr>
              <a:t>SiNx</a:t>
            </a:r>
            <a:r>
              <a:rPr lang="en-GB" sz="1200" spc="-1">
                <a:solidFill>
                  <a:srgbClr val="000000"/>
                </a:solidFill>
                <a:latin typeface="Arial"/>
              </a:rPr>
              <a:t> core (</a:t>
            </a:r>
            <a:r>
              <a:rPr lang="en-GB" sz="1200" spc="-1" err="1">
                <a:solidFill>
                  <a:srgbClr val="000000"/>
                </a:solidFill>
                <a:latin typeface="Arial"/>
              </a:rPr>
              <a:t>n_core</a:t>
            </a:r>
            <a:r>
              <a:rPr lang="en-GB" sz="1200" spc="-1">
                <a:solidFill>
                  <a:srgbClr val="000000"/>
                </a:solidFill>
                <a:latin typeface="Arial"/>
              </a:rPr>
              <a:t>=2 &gt; </a:t>
            </a:r>
            <a:r>
              <a:rPr lang="en-GB" sz="1200" spc="-1" err="1">
                <a:solidFill>
                  <a:srgbClr val="000000"/>
                </a:solidFill>
                <a:latin typeface="Arial"/>
              </a:rPr>
              <a:t>n_clad</a:t>
            </a:r>
            <a:r>
              <a:rPr lang="en-GB" sz="1200" spc="-1">
                <a:solidFill>
                  <a:srgbClr val="000000"/>
                </a:solidFill>
                <a:latin typeface="Arial"/>
              </a:rPr>
              <a:t>). The modes that will be propagated inside this waveguide are those that have a </a:t>
            </a:r>
            <a:r>
              <a:rPr lang="en-GB" sz="1200" spc="-1" err="1">
                <a:solidFill>
                  <a:srgbClr val="000000"/>
                </a:solidFill>
                <a:latin typeface="Arial"/>
              </a:rPr>
              <a:t>n_eff</a:t>
            </a:r>
            <a:r>
              <a:rPr lang="en-GB" sz="1200" spc="-1">
                <a:solidFill>
                  <a:srgbClr val="000000"/>
                </a:solidFill>
                <a:latin typeface="Arial"/>
              </a:rPr>
              <a:t> inside the range </a:t>
            </a:r>
            <a:r>
              <a:rPr lang="en-GB" sz="1200" spc="-1">
                <a:solidFill>
                  <a:srgbClr val="000000"/>
                </a:solidFill>
                <a:latin typeface="Arial"/>
                <a:sym typeface="Wingdings" panose="05000000000000000000" pitchFamily="2" charset="2"/>
              </a:rPr>
              <a:t> </a:t>
            </a:r>
            <a:r>
              <a:rPr lang="en-GB" sz="1200" spc="-1" err="1">
                <a:solidFill>
                  <a:srgbClr val="000000"/>
                </a:solidFill>
                <a:latin typeface="Arial"/>
                <a:sym typeface="Wingdings" panose="05000000000000000000" pitchFamily="2" charset="2"/>
              </a:rPr>
              <a:t>n_clad</a:t>
            </a:r>
            <a:r>
              <a:rPr lang="en-GB" sz="1200" spc="-1">
                <a:solidFill>
                  <a:srgbClr val="000000"/>
                </a:solidFill>
                <a:latin typeface="Arial"/>
                <a:sym typeface="Wingdings" panose="05000000000000000000" pitchFamily="2" charset="2"/>
              </a:rPr>
              <a:t> &lt; </a:t>
            </a:r>
            <a:r>
              <a:rPr lang="en-GB" sz="1200" spc="-1" err="1">
                <a:solidFill>
                  <a:srgbClr val="000000"/>
                </a:solidFill>
                <a:latin typeface="Arial"/>
                <a:sym typeface="Wingdings" panose="05000000000000000000" pitchFamily="2" charset="2"/>
              </a:rPr>
              <a:t>n_eff</a:t>
            </a:r>
            <a:r>
              <a:rPr lang="en-GB" sz="1200" spc="-1">
                <a:solidFill>
                  <a:srgbClr val="000000"/>
                </a:solidFill>
                <a:latin typeface="Arial"/>
                <a:sym typeface="Wingdings" panose="05000000000000000000" pitchFamily="2" charset="2"/>
              </a:rPr>
              <a:t> &lt; </a:t>
            </a:r>
            <a:r>
              <a:rPr lang="en-GB" sz="1200" spc="-1" err="1">
                <a:solidFill>
                  <a:srgbClr val="000000"/>
                </a:solidFill>
                <a:latin typeface="Arial"/>
                <a:sym typeface="Wingdings" panose="05000000000000000000" pitchFamily="2" charset="2"/>
              </a:rPr>
              <a:t>n_core</a:t>
            </a:r>
            <a:r>
              <a:rPr lang="en-GB" sz="1200" spc="-1">
                <a:solidFill>
                  <a:srgbClr val="000000"/>
                </a:solidFill>
                <a:latin typeface="Arial"/>
                <a:sym typeface="Wingdings" panose="05000000000000000000" pitchFamily="2" charset="2"/>
              </a:rPr>
              <a:t>. </a:t>
            </a:r>
            <a:r>
              <a:rPr lang="en-US" sz="1200" spc="-1">
                <a:solidFill>
                  <a:srgbClr val="000000"/>
                </a:solidFill>
                <a:latin typeface="Arial"/>
                <a:sym typeface="Wingdings" panose="05000000000000000000" pitchFamily="2" charset="2"/>
              </a:rPr>
              <a:t>The closer the effective index is to the core index, the more confined the mode is in the core (and the same works for the </a:t>
            </a:r>
            <a:r>
              <a:rPr lang="en-US" sz="1200" spc="-1">
                <a:solidFill>
                  <a:srgbClr val="000000"/>
                </a:solidFill>
                <a:sym typeface="Wingdings" panose="05000000000000000000" pitchFamily="2" charset="2"/>
              </a:rPr>
              <a:t>cladding analogously). </a:t>
            </a:r>
            <a:endParaRPr lang="en-GB" sz="1200" b="0" strike="noStrike" spc="-1" noProof="0">
              <a:solidFill>
                <a:srgbClr val="000000"/>
              </a:solidFill>
              <a:latin typeface="Arial"/>
            </a:endParaRPr>
          </a:p>
        </p:txBody>
      </p:sp>
      <p:sp>
        <p:nvSpPr>
          <p:cNvPr id="4" name="PlaceHolder 3"/>
          <p:cNvSpPr>
            <a:spLocks noGrp="1"/>
          </p:cNvSpPr>
          <p:nvPr>
            <p:ph type="sldNum" idx="5"/>
          </p:nvPr>
        </p:nvSpPr>
        <p:spPr/>
        <p:txBody>
          <a:bodyPr/>
          <a:lstStyle/>
          <a:p>
            <a:fld id="{23AA0A5E-593B-4736-9FB8-836C9D80AF65}" type="slidenu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BF08F-C731-50B1-86F0-C848B2A0D170}"/>
            </a:ext>
          </a:extLst>
        </p:cNvPr>
        <p:cNvGrpSpPr/>
        <p:nvPr/>
      </p:nvGrpSpPr>
      <p:grpSpPr>
        <a:xfrm>
          <a:off x="0" y="0"/>
          <a:ext cx="0" cy="0"/>
          <a:chOff x="0" y="0"/>
          <a:chExt cx="0" cy="0"/>
        </a:xfrm>
      </p:grpSpPr>
      <p:sp>
        <p:nvSpPr>
          <p:cNvPr id="74" name="PlaceHolder 1">
            <a:extLst>
              <a:ext uri="{FF2B5EF4-FFF2-40B4-BE49-F238E27FC236}">
                <a16:creationId xmlns:a16="http://schemas.microsoft.com/office/drawing/2014/main" id="{9250AA47-2535-0E65-1187-9230005855E0}"/>
              </a:ext>
            </a:extLst>
          </p:cNvPr>
          <p:cNvSpPr>
            <a:spLocks noGrp="1"/>
          </p:cNvSpPr>
          <p:nvPr>
            <p:ph type="title"/>
          </p:nvPr>
        </p:nvSpPr>
        <p:spPr>
          <a:xfrm>
            <a:off x="685800" y="408960"/>
            <a:ext cx="10993320" cy="1157040"/>
          </a:xfrm>
          <a:prstGeom prst="rect">
            <a:avLst/>
          </a:prstGeom>
          <a:noFill/>
          <a:ln w="0">
            <a:noFill/>
          </a:ln>
        </p:spPr>
        <p:txBody>
          <a:bodyPr lIns="0" tIns="12600" rIns="0" bIns="0" anchor="t">
            <a:noAutofit/>
          </a:bodyPr>
          <a:lstStyle/>
          <a:p>
            <a:pPr marL="12600" indent="0">
              <a:lnSpc>
                <a:spcPct val="100000"/>
              </a:lnSpc>
              <a:spcBef>
                <a:spcPts val="99"/>
              </a:spcBef>
              <a:buNone/>
              <a:tabLst>
                <a:tab pos="0" algn="l"/>
              </a:tabLst>
            </a:pPr>
            <a:r>
              <a:rPr lang="en-US" sz="2500" b="1" strike="noStrike" spc="-1">
                <a:solidFill>
                  <a:schemeClr val="dk1"/>
                </a:solidFill>
                <a:latin typeface="Calibri"/>
              </a:rPr>
              <a:t>Learning outcome #1 – Effective index of a waveguide</a:t>
            </a:r>
            <a:br>
              <a:rPr sz="2500"/>
            </a:br>
            <a:endParaRPr lang="es-ES" sz="2500" b="0" strike="noStrike" spc="-1">
              <a:solidFill>
                <a:srgbClr val="000000"/>
              </a:solidFill>
              <a:latin typeface="Arial"/>
            </a:endParaRPr>
          </a:p>
        </p:txBody>
      </p:sp>
      <p:pic>
        <p:nvPicPr>
          <p:cNvPr id="75" name="Gráfico 82">
            <a:extLst>
              <a:ext uri="{FF2B5EF4-FFF2-40B4-BE49-F238E27FC236}">
                <a16:creationId xmlns:a16="http://schemas.microsoft.com/office/drawing/2014/main" id="{CBAFCCD4-BAC6-8713-F727-63D932330B97}"/>
              </a:ext>
            </a:extLst>
          </p:cNvPr>
          <p:cNvPicPr/>
          <p:nvPr/>
        </p:nvPicPr>
        <p:blipFill>
          <a:blip r:embed="rId3"/>
          <a:stretch/>
        </p:blipFill>
        <p:spPr>
          <a:xfrm>
            <a:off x="5045040" y="6356160"/>
            <a:ext cx="6408360" cy="362160"/>
          </a:xfrm>
          <a:prstGeom prst="rect">
            <a:avLst/>
          </a:prstGeom>
          <a:ln w="0">
            <a:noFill/>
          </a:ln>
        </p:spPr>
      </p:pic>
      <p:sp>
        <p:nvSpPr>
          <p:cNvPr id="76" name="PlaceHolder 2">
            <a:extLst>
              <a:ext uri="{FF2B5EF4-FFF2-40B4-BE49-F238E27FC236}">
                <a16:creationId xmlns:a16="http://schemas.microsoft.com/office/drawing/2014/main" id="{C5C22A48-1E42-B83F-417A-F208E968C1D2}"/>
              </a:ext>
            </a:extLst>
          </p:cNvPr>
          <p:cNvSpPr>
            <a:spLocks noGrp="1"/>
          </p:cNvSpPr>
          <p:nvPr>
            <p:ph type="ftr" idx="17"/>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78" name="CuadroTexto 1">
            <a:extLst>
              <a:ext uri="{FF2B5EF4-FFF2-40B4-BE49-F238E27FC236}">
                <a16:creationId xmlns:a16="http://schemas.microsoft.com/office/drawing/2014/main" id="{2C579AC3-EB54-E89B-A5D2-B3E84CA7CE3E}"/>
              </a:ext>
            </a:extLst>
          </p:cNvPr>
          <p:cNvSpPr/>
          <p:nvPr/>
        </p:nvSpPr>
        <p:spPr>
          <a:xfrm>
            <a:off x="609480" y="3739136"/>
            <a:ext cx="11198880" cy="1937538"/>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r>
              <a:rPr lang="ca-ES-valencia" sz="1200" spc="-1" noProof="0">
                <a:solidFill>
                  <a:srgbClr val="000000"/>
                </a:solidFill>
                <a:latin typeface="Arial"/>
              </a:rPr>
              <a:t>Once </a:t>
            </a:r>
            <a:r>
              <a:rPr lang="ca-ES-valencia" sz="1200" spc="-1" noProof="0" err="1">
                <a:solidFill>
                  <a:srgbClr val="000000"/>
                </a:solidFill>
                <a:latin typeface="Arial"/>
              </a:rPr>
              <a:t>we</a:t>
            </a:r>
            <a:r>
              <a:rPr lang="ca-ES-valencia" sz="1200" spc="-1" noProof="0">
                <a:solidFill>
                  <a:srgbClr val="000000"/>
                </a:solidFill>
                <a:latin typeface="Arial"/>
              </a:rPr>
              <a:t> define </a:t>
            </a:r>
            <a:r>
              <a:rPr lang="ca-ES-valencia" sz="1200" spc="-1" noProof="0" err="1">
                <a:solidFill>
                  <a:srgbClr val="000000"/>
                </a:solidFill>
                <a:latin typeface="Arial"/>
              </a:rPr>
              <a:t>the</a:t>
            </a:r>
            <a:r>
              <a:rPr lang="ca-ES-valencia" sz="1200" spc="-1" noProof="0">
                <a:solidFill>
                  <a:srgbClr val="000000"/>
                </a:solidFill>
                <a:latin typeface="Arial"/>
              </a:rPr>
              <a:t> </a:t>
            </a:r>
            <a:r>
              <a:rPr lang="ca-ES-valencia" sz="1200" spc="-1" noProof="0" err="1">
                <a:solidFill>
                  <a:srgbClr val="000000"/>
                </a:solidFill>
                <a:latin typeface="Arial"/>
              </a:rPr>
              <a:t>waveguide</a:t>
            </a:r>
            <a:r>
              <a:rPr lang="ca-ES-valencia" sz="1200" spc="-1" noProof="0">
                <a:solidFill>
                  <a:srgbClr val="000000"/>
                </a:solidFill>
                <a:latin typeface="Arial"/>
              </a:rPr>
              <a:t>, </a:t>
            </a:r>
            <a:r>
              <a:rPr lang="ca-ES-valencia" sz="1200" spc="-1" noProof="0" err="1">
                <a:solidFill>
                  <a:srgbClr val="000000"/>
                </a:solidFill>
                <a:latin typeface="Arial"/>
              </a:rPr>
              <a:t>we</a:t>
            </a:r>
            <a:r>
              <a:rPr lang="ca-ES-valencia" sz="1200" spc="-1" noProof="0">
                <a:solidFill>
                  <a:srgbClr val="000000"/>
                </a:solidFill>
                <a:latin typeface="Arial"/>
              </a:rPr>
              <a:t> </a:t>
            </a:r>
            <a:r>
              <a:rPr lang="ca-ES-valencia" sz="1200" spc="-1" noProof="0" err="1">
                <a:solidFill>
                  <a:srgbClr val="000000"/>
                </a:solidFill>
                <a:latin typeface="Arial"/>
              </a:rPr>
              <a:t>must</a:t>
            </a:r>
            <a:r>
              <a:rPr lang="ca-ES-valencia" sz="1200" spc="-1" noProof="0">
                <a:solidFill>
                  <a:srgbClr val="000000"/>
                </a:solidFill>
                <a:latin typeface="Arial"/>
              </a:rPr>
              <a:t> </a:t>
            </a:r>
            <a:r>
              <a:rPr lang="ca-ES-valencia" sz="1200" spc="-1" noProof="0" err="1">
                <a:solidFill>
                  <a:srgbClr val="000000"/>
                </a:solidFill>
                <a:latin typeface="Arial"/>
              </a:rPr>
              <a:t>study</a:t>
            </a:r>
            <a:r>
              <a:rPr lang="ca-ES-valencia" sz="1200" spc="-1" noProof="0">
                <a:solidFill>
                  <a:srgbClr val="000000"/>
                </a:solidFill>
                <a:latin typeface="Arial"/>
              </a:rPr>
              <a:t> </a:t>
            </a:r>
            <a:r>
              <a:rPr lang="ca-ES-valencia" sz="1200" spc="-1" noProof="0" err="1">
                <a:solidFill>
                  <a:srgbClr val="000000"/>
                </a:solidFill>
                <a:latin typeface="Arial"/>
              </a:rPr>
              <a:t>the</a:t>
            </a:r>
            <a:r>
              <a:rPr lang="ca-ES-valencia" sz="1200" spc="-1" noProof="0">
                <a:solidFill>
                  <a:srgbClr val="000000"/>
                </a:solidFill>
                <a:latin typeface="Arial"/>
              </a:rPr>
              <a:t> </a:t>
            </a:r>
            <a:r>
              <a:rPr lang="ca-ES-valencia" sz="1200" spc="-1" noProof="0" err="1">
                <a:solidFill>
                  <a:srgbClr val="000000"/>
                </a:solidFill>
                <a:latin typeface="Arial"/>
              </a:rPr>
              <a:t>results</a:t>
            </a:r>
            <a:r>
              <a:rPr lang="ca-ES-valencia" sz="1200" spc="-1" noProof="0">
                <a:solidFill>
                  <a:srgbClr val="000000"/>
                </a:solidFill>
                <a:latin typeface="Arial"/>
              </a:rPr>
              <a:t>. As </a:t>
            </a:r>
            <a:r>
              <a:rPr lang="ca-ES-valencia" sz="1200" spc="-1" noProof="0" err="1">
                <a:solidFill>
                  <a:srgbClr val="000000"/>
                </a:solidFill>
                <a:latin typeface="Arial"/>
              </a:rPr>
              <a:t>we</a:t>
            </a:r>
            <a:r>
              <a:rPr lang="ca-ES-valencia" sz="1200" spc="-1" noProof="0">
                <a:solidFill>
                  <a:srgbClr val="000000"/>
                </a:solidFill>
                <a:latin typeface="Arial"/>
              </a:rPr>
              <a:t> </a:t>
            </a:r>
            <a:r>
              <a:rPr lang="ca-ES-valencia" sz="1200" spc="-1" noProof="0" err="1">
                <a:solidFill>
                  <a:srgbClr val="000000"/>
                </a:solidFill>
                <a:latin typeface="Arial"/>
              </a:rPr>
              <a:t>determined</a:t>
            </a:r>
            <a:r>
              <a:rPr lang="ca-ES-valencia" sz="1200" spc="-1" noProof="0">
                <a:solidFill>
                  <a:srgbClr val="000000"/>
                </a:solidFill>
                <a:latin typeface="Arial"/>
              </a:rPr>
              <a:t>, </a:t>
            </a:r>
            <a:r>
              <a:rPr lang="ca-ES-valencia" sz="1200" spc="-1" noProof="0" err="1">
                <a:solidFill>
                  <a:srgbClr val="000000"/>
                </a:solidFill>
                <a:latin typeface="Arial"/>
              </a:rPr>
              <a:t>only</a:t>
            </a:r>
            <a:r>
              <a:rPr lang="ca-ES-valencia" sz="1200" spc="-1" noProof="0">
                <a:solidFill>
                  <a:srgbClr val="000000"/>
                </a:solidFill>
                <a:latin typeface="Arial"/>
              </a:rPr>
              <a:t> </a:t>
            </a:r>
            <a:r>
              <a:rPr lang="ca-ES-valencia" sz="1200" spc="-1" noProof="0" err="1">
                <a:solidFill>
                  <a:srgbClr val="000000"/>
                </a:solidFill>
                <a:latin typeface="Arial"/>
              </a:rPr>
              <a:t>those</a:t>
            </a:r>
            <a:r>
              <a:rPr lang="ca-ES-valencia" sz="1200" spc="-1" noProof="0">
                <a:solidFill>
                  <a:srgbClr val="000000"/>
                </a:solidFill>
                <a:latin typeface="Arial"/>
              </a:rPr>
              <a:t> </a:t>
            </a:r>
            <a:r>
              <a:rPr lang="ca-ES-valencia" sz="1200" spc="-1" noProof="0" err="1">
                <a:solidFill>
                  <a:srgbClr val="000000"/>
                </a:solidFill>
                <a:latin typeface="Arial"/>
              </a:rPr>
              <a:t>modes</a:t>
            </a:r>
            <a:r>
              <a:rPr lang="ca-ES-valencia" sz="1200" spc="-1" noProof="0">
                <a:solidFill>
                  <a:srgbClr val="000000"/>
                </a:solidFill>
                <a:latin typeface="Arial"/>
              </a:rPr>
              <a:t> </a:t>
            </a:r>
            <a:r>
              <a:rPr lang="ca-ES-valencia" sz="1200" spc="-1" noProof="0" err="1">
                <a:solidFill>
                  <a:srgbClr val="000000"/>
                </a:solidFill>
                <a:latin typeface="Arial"/>
              </a:rPr>
              <a:t>which</a:t>
            </a:r>
            <a:r>
              <a:rPr lang="ca-ES-valencia" sz="1200" spc="-1" noProof="0">
                <a:solidFill>
                  <a:srgbClr val="000000"/>
                </a:solidFill>
                <a:latin typeface="Arial"/>
              </a:rPr>
              <a:t> </a:t>
            </a:r>
            <a:r>
              <a:rPr lang="ca-ES-valencia" sz="1200" spc="-1" noProof="0" err="1">
                <a:solidFill>
                  <a:srgbClr val="000000"/>
                </a:solidFill>
                <a:latin typeface="Arial"/>
              </a:rPr>
              <a:t>n_eff</a:t>
            </a:r>
            <a:r>
              <a:rPr lang="ca-ES-valencia" sz="1200" spc="-1" noProof="0">
                <a:solidFill>
                  <a:srgbClr val="000000"/>
                </a:solidFill>
                <a:latin typeface="Arial"/>
              </a:rPr>
              <a:t> </a:t>
            </a:r>
            <a:r>
              <a:rPr lang="ca-ES-valencia" sz="1200" spc="-1" noProof="0" err="1">
                <a:solidFill>
                  <a:srgbClr val="000000"/>
                </a:solidFill>
                <a:latin typeface="Arial"/>
              </a:rPr>
              <a:t>is</a:t>
            </a:r>
            <a:r>
              <a:rPr lang="ca-ES-valencia" sz="1200" spc="-1" noProof="0">
                <a:solidFill>
                  <a:srgbClr val="000000"/>
                </a:solidFill>
                <a:latin typeface="Arial"/>
              </a:rPr>
              <a:t> </a:t>
            </a:r>
            <a:r>
              <a:rPr lang="ca-ES-valencia" sz="1200" spc="-1" noProof="0" err="1">
                <a:solidFill>
                  <a:srgbClr val="000000"/>
                </a:solidFill>
                <a:latin typeface="Arial"/>
              </a:rPr>
              <a:t>inside</a:t>
            </a:r>
            <a:r>
              <a:rPr lang="ca-ES-valencia" sz="1200" spc="-1" noProof="0">
                <a:solidFill>
                  <a:srgbClr val="000000"/>
                </a:solidFill>
                <a:latin typeface="Arial"/>
              </a:rPr>
              <a:t> </a:t>
            </a:r>
            <a:r>
              <a:rPr lang="ca-ES-valencia" sz="1200" spc="-1" noProof="0" err="1">
                <a:solidFill>
                  <a:srgbClr val="000000"/>
                </a:solidFill>
                <a:latin typeface="Arial"/>
              </a:rPr>
              <a:t>the</a:t>
            </a:r>
            <a:r>
              <a:rPr lang="ca-ES-valencia" sz="1200" spc="-1" noProof="0">
                <a:solidFill>
                  <a:srgbClr val="000000"/>
                </a:solidFill>
                <a:latin typeface="Arial"/>
              </a:rPr>
              <a:t> </a:t>
            </a:r>
            <a:r>
              <a:rPr lang="ca-ES-valencia" sz="1200" spc="-1" noProof="0" err="1">
                <a:solidFill>
                  <a:srgbClr val="000000"/>
                </a:solidFill>
                <a:latin typeface="Arial"/>
              </a:rPr>
              <a:t>range</a:t>
            </a:r>
            <a:r>
              <a:rPr lang="ca-ES-valencia" sz="1200" spc="-1" noProof="0">
                <a:solidFill>
                  <a:srgbClr val="000000"/>
                </a:solidFill>
                <a:latin typeface="Arial"/>
              </a:rPr>
              <a:t> </a:t>
            </a:r>
            <a:r>
              <a:rPr lang="ca-ES-valencia" sz="1200" spc="-1" noProof="0" err="1">
                <a:solidFill>
                  <a:srgbClr val="000000"/>
                </a:solidFill>
                <a:latin typeface="Arial"/>
              </a:rPr>
              <a:t>defined</a:t>
            </a:r>
            <a:r>
              <a:rPr lang="ca-ES-valencia" sz="1200" spc="-1" noProof="0">
                <a:solidFill>
                  <a:srgbClr val="000000"/>
                </a:solidFill>
                <a:latin typeface="Arial"/>
              </a:rPr>
              <a:t> </a:t>
            </a:r>
            <a:r>
              <a:rPr lang="ca-ES-valencia" sz="1200" spc="-1" noProof="0" err="1">
                <a:solidFill>
                  <a:srgbClr val="000000"/>
                </a:solidFill>
                <a:latin typeface="Arial"/>
              </a:rPr>
              <a:t>by</a:t>
            </a:r>
            <a:r>
              <a:rPr lang="ca-ES-valencia" sz="1200" spc="-1" noProof="0">
                <a:solidFill>
                  <a:srgbClr val="000000"/>
                </a:solidFill>
                <a:latin typeface="Arial"/>
              </a:rPr>
              <a:t> </a:t>
            </a:r>
            <a:r>
              <a:rPr lang="ca-ES-valencia" sz="1200" spc="-1" noProof="0" err="1">
                <a:solidFill>
                  <a:srgbClr val="000000"/>
                </a:solidFill>
                <a:latin typeface="Arial"/>
              </a:rPr>
              <a:t>the</a:t>
            </a:r>
            <a:r>
              <a:rPr lang="ca-ES-valencia" sz="1200" spc="-1" noProof="0">
                <a:solidFill>
                  <a:srgbClr val="000000"/>
                </a:solidFill>
                <a:latin typeface="Arial"/>
              </a:rPr>
              <a:t> refractive indexes </a:t>
            </a:r>
            <a:r>
              <a:rPr lang="ca-ES-valencia" sz="1200" spc="-1" noProof="0" err="1">
                <a:solidFill>
                  <a:srgbClr val="000000"/>
                </a:solidFill>
                <a:latin typeface="Arial"/>
              </a:rPr>
              <a:t>of</a:t>
            </a:r>
            <a:r>
              <a:rPr lang="ca-ES-valencia" sz="1200" spc="-1" noProof="0">
                <a:solidFill>
                  <a:srgbClr val="000000"/>
                </a:solidFill>
                <a:latin typeface="Arial"/>
              </a:rPr>
              <a:t> </a:t>
            </a:r>
            <a:r>
              <a:rPr lang="ca-ES-valencia" sz="1200" spc="-1" noProof="0" err="1">
                <a:solidFill>
                  <a:srgbClr val="000000"/>
                </a:solidFill>
                <a:latin typeface="Arial"/>
              </a:rPr>
              <a:t>the</a:t>
            </a:r>
            <a:r>
              <a:rPr lang="ca-ES-valencia" sz="1200" spc="-1" noProof="0">
                <a:solidFill>
                  <a:srgbClr val="000000"/>
                </a:solidFill>
                <a:latin typeface="Arial"/>
              </a:rPr>
              <a:t> </a:t>
            </a:r>
            <a:r>
              <a:rPr lang="ca-ES-valencia" sz="1200" spc="-1" noProof="0" err="1">
                <a:solidFill>
                  <a:srgbClr val="000000"/>
                </a:solidFill>
                <a:latin typeface="Arial"/>
              </a:rPr>
              <a:t>cladding</a:t>
            </a:r>
            <a:r>
              <a:rPr lang="ca-ES-valencia" sz="1200" spc="-1" noProof="0">
                <a:solidFill>
                  <a:srgbClr val="000000"/>
                </a:solidFill>
                <a:latin typeface="Arial"/>
              </a:rPr>
              <a:t> and </a:t>
            </a:r>
            <a:r>
              <a:rPr lang="ca-ES-valencia" sz="1200" spc="-1" noProof="0" err="1">
                <a:solidFill>
                  <a:srgbClr val="000000"/>
                </a:solidFill>
                <a:latin typeface="Arial"/>
              </a:rPr>
              <a:t>the</a:t>
            </a:r>
            <a:r>
              <a:rPr lang="ca-ES-valencia" sz="1200" spc="-1" noProof="0">
                <a:solidFill>
                  <a:srgbClr val="000000"/>
                </a:solidFill>
                <a:latin typeface="Arial"/>
              </a:rPr>
              <a:t> </a:t>
            </a:r>
            <a:r>
              <a:rPr lang="ca-ES-valencia" sz="1200" spc="-1" noProof="0" err="1">
                <a:solidFill>
                  <a:srgbClr val="000000"/>
                </a:solidFill>
                <a:latin typeface="Arial"/>
              </a:rPr>
              <a:t>core</a:t>
            </a:r>
            <a:r>
              <a:rPr lang="ca-ES-valencia" sz="1200" spc="-1" noProof="0">
                <a:solidFill>
                  <a:srgbClr val="000000"/>
                </a:solidFill>
                <a:latin typeface="Arial"/>
              </a:rPr>
              <a:t> </a:t>
            </a:r>
            <a:r>
              <a:rPr lang="ca-ES-valencia" sz="1200" spc="-1" noProof="0" err="1">
                <a:solidFill>
                  <a:srgbClr val="000000"/>
                </a:solidFill>
                <a:latin typeface="Arial"/>
              </a:rPr>
              <a:t>will</a:t>
            </a:r>
            <a:r>
              <a:rPr lang="ca-ES-valencia" sz="1200" spc="-1" noProof="0">
                <a:solidFill>
                  <a:srgbClr val="000000"/>
                </a:solidFill>
                <a:latin typeface="Arial"/>
              </a:rPr>
              <a:t> be </a:t>
            </a:r>
            <a:r>
              <a:rPr lang="ca-ES-valencia" sz="1200" spc="-1" noProof="0" err="1">
                <a:solidFill>
                  <a:srgbClr val="000000"/>
                </a:solidFill>
                <a:latin typeface="Arial"/>
              </a:rPr>
              <a:t>guided</a:t>
            </a:r>
            <a:r>
              <a:rPr lang="ca-ES-valencia" sz="1200" spc="-1" noProof="0">
                <a:solidFill>
                  <a:srgbClr val="000000"/>
                </a:solidFill>
                <a:latin typeface="Arial"/>
              </a:rPr>
              <a:t>. In </a:t>
            </a:r>
            <a:r>
              <a:rPr lang="ca-ES-valencia" sz="1200" spc="-1" noProof="0" err="1">
                <a:solidFill>
                  <a:srgbClr val="000000"/>
                </a:solidFill>
                <a:latin typeface="Arial"/>
              </a:rPr>
              <a:t>this</a:t>
            </a:r>
            <a:r>
              <a:rPr lang="ca-ES-valencia" sz="1200" spc="-1" noProof="0">
                <a:solidFill>
                  <a:srgbClr val="000000"/>
                </a:solidFill>
                <a:latin typeface="Arial"/>
              </a:rPr>
              <a:t> case, as </a:t>
            </a:r>
            <a:r>
              <a:rPr lang="ca-ES-valencia" sz="1200" spc="-1" noProof="0" err="1">
                <a:solidFill>
                  <a:srgbClr val="000000"/>
                </a:solidFill>
                <a:latin typeface="Arial"/>
              </a:rPr>
              <a:t>we</a:t>
            </a:r>
            <a:r>
              <a:rPr lang="ca-ES-valencia" sz="1200" spc="-1" noProof="0">
                <a:solidFill>
                  <a:srgbClr val="000000"/>
                </a:solidFill>
                <a:latin typeface="Arial"/>
              </a:rPr>
              <a:t> can </a:t>
            </a:r>
            <a:r>
              <a:rPr lang="ca-ES-valencia" sz="1200" spc="-1" noProof="0" err="1">
                <a:solidFill>
                  <a:srgbClr val="000000"/>
                </a:solidFill>
                <a:latin typeface="Arial"/>
              </a:rPr>
              <a:t>see</a:t>
            </a:r>
            <a:r>
              <a:rPr lang="ca-ES-valencia" sz="1200" spc="-1" noProof="0">
                <a:solidFill>
                  <a:srgbClr val="000000"/>
                </a:solidFill>
                <a:latin typeface="Arial"/>
              </a:rPr>
              <a:t>, </a:t>
            </a:r>
            <a:r>
              <a:rPr lang="ca-ES-valencia" sz="1200" spc="-1" noProof="0" err="1">
                <a:solidFill>
                  <a:srgbClr val="000000"/>
                </a:solidFill>
                <a:latin typeface="Arial"/>
              </a:rPr>
              <a:t>the</a:t>
            </a:r>
            <a:r>
              <a:rPr lang="ca-ES-valencia" sz="1200" spc="-1" noProof="0">
                <a:solidFill>
                  <a:srgbClr val="000000"/>
                </a:solidFill>
                <a:latin typeface="Arial"/>
              </a:rPr>
              <a:t> </a:t>
            </a:r>
            <a:r>
              <a:rPr lang="ca-ES-valencia" sz="1200" spc="-1" noProof="0" err="1">
                <a:solidFill>
                  <a:srgbClr val="000000"/>
                </a:solidFill>
                <a:latin typeface="Arial"/>
              </a:rPr>
              <a:t>two</a:t>
            </a:r>
            <a:r>
              <a:rPr lang="ca-ES-valencia" sz="1200" spc="-1" noProof="0">
                <a:solidFill>
                  <a:srgbClr val="000000"/>
                </a:solidFill>
                <a:latin typeface="Arial"/>
              </a:rPr>
              <a:t> </a:t>
            </a:r>
            <a:r>
              <a:rPr lang="ca-ES-valencia" sz="1200" spc="-1" noProof="0" err="1">
                <a:solidFill>
                  <a:srgbClr val="000000"/>
                </a:solidFill>
                <a:latin typeface="Arial"/>
              </a:rPr>
              <a:t>first</a:t>
            </a:r>
            <a:r>
              <a:rPr lang="ca-ES-valencia" sz="1200" spc="-1" noProof="0">
                <a:solidFill>
                  <a:srgbClr val="000000"/>
                </a:solidFill>
                <a:latin typeface="Arial"/>
              </a:rPr>
              <a:t> </a:t>
            </a:r>
            <a:r>
              <a:rPr lang="ca-ES-valencia" sz="1200" spc="-1" noProof="0" err="1">
                <a:solidFill>
                  <a:srgbClr val="000000"/>
                </a:solidFill>
                <a:latin typeface="Arial"/>
              </a:rPr>
              <a:t>modes</a:t>
            </a:r>
            <a:r>
              <a:rPr lang="ca-ES-valencia" sz="1200" spc="-1" noProof="0">
                <a:solidFill>
                  <a:srgbClr val="000000"/>
                </a:solidFill>
                <a:latin typeface="Arial"/>
              </a:rPr>
              <a:t> are </a:t>
            </a:r>
            <a:r>
              <a:rPr lang="ca-ES-valencia" sz="1200" spc="-1" noProof="0" err="1">
                <a:solidFill>
                  <a:srgbClr val="000000"/>
                </a:solidFill>
                <a:latin typeface="Arial"/>
              </a:rPr>
              <a:t>the</a:t>
            </a:r>
            <a:r>
              <a:rPr lang="ca-ES-valencia" sz="1200" spc="-1" noProof="0">
                <a:solidFill>
                  <a:srgbClr val="000000"/>
                </a:solidFill>
                <a:latin typeface="Arial"/>
              </a:rPr>
              <a:t> </a:t>
            </a:r>
            <a:r>
              <a:rPr lang="ca-ES-valencia" sz="1200" spc="-1" noProof="0" err="1">
                <a:solidFill>
                  <a:srgbClr val="000000"/>
                </a:solidFill>
                <a:latin typeface="Arial"/>
              </a:rPr>
              <a:t>only</a:t>
            </a:r>
            <a:r>
              <a:rPr lang="ca-ES-valencia" sz="1200" spc="-1" noProof="0">
                <a:solidFill>
                  <a:srgbClr val="000000"/>
                </a:solidFill>
                <a:latin typeface="Arial"/>
              </a:rPr>
              <a:t> </a:t>
            </a:r>
            <a:r>
              <a:rPr lang="ca-ES-valencia" sz="1200" spc="-1" noProof="0" err="1">
                <a:solidFill>
                  <a:srgbClr val="000000"/>
                </a:solidFill>
                <a:latin typeface="Arial"/>
              </a:rPr>
              <a:t>guided</a:t>
            </a:r>
            <a:r>
              <a:rPr lang="ca-ES-valencia" sz="1200" spc="-1" noProof="0">
                <a:solidFill>
                  <a:srgbClr val="000000"/>
                </a:solidFill>
                <a:latin typeface="Arial"/>
              </a:rPr>
              <a:t> </a:t>
            </a:r>
            <a:r>
              <a:rPr lang="ca-ES-valencia" sz="1200" spc="-1" noProof="0" err="1">
                <a:solidFill>
                  <a:srgbClr val="000000"/>
                </a:solidFill>
                <a:latin typeface="Arial"/>
              </a:rPr>
              <a:t>ones</a:t>
            </a:r>
            <a:r>
              <a:rPr lang="ca-ES-valencia" sz="1200" spc="-1" noProof="0">
                <a:solidFill>
                  <a:srgbClr val="000000"/>
                </a:solidFill>
                <a:latin typeface="Arial"/>
              </a:rPr>
              <a:t>, </a:t>
            </a:r>
            <a:r>
              <a:rPr lang="ca-ES-valencia" sz="1200" spc="-1" noProof="0" err="1">
                <a:solidFill>
                  <a:srgbClr val="000000"/>
                </a:solidFill>
                <a:latin typeface="Arial"/>
              </a:rPr>
              <a:t>because</a:t>
            </a:r>
            <a:r>
              <a:rPr lang="ca-ES-valencia" sz="1200" spc="-1" noProof="0">
                <a:solidFill>
                  <a:srgbClr val="000000"/>
                </a:solidFill>
                <a:latin typeface="Arial"/>
              </a:rPr>
              <a:t> in </a:t>
            </a:r>
            <a:r>
              <a:rPr lang="ca-ES-valencia" sz="1200" spc="-1" noProof="0" err="1">
                <a:solidFill>
                  <a:srgbClr val="000000"/>
                </a:solidFill>
                <a:latin typeface="Arial"/>
              </a:rPr>
              <a:t>all</a:t>
            </a:r>
            <a:r>
              <a:rPr lang="ca-ES-valencia" sz="1200" spc="-1" noProof="0">
                <a:solidFill>
                  <a:srgbClr val="000000"/>
                </a:solidFill>
                <a:latin typeface="Arial"/>
              </a:rPr>
              <a:t> </a:t>
            </a:r>
            <a:r>
              <a:rPr lang="ca-ES-valencia" sz="1200" spc="-1" noProof="0" err="1">
                <a:solidFill>
                  <a:srgbClr val="000000"/>
                </a:solidFill>
                <a:latin typeface="Arial"/>
              </a:rPr>
              <a:t>the</a:t>
            </a:r>
            <a:r>
              <a:rPr lang="ca-ES-valencia" sz="1200" spc="-1" noProof="0">
                <a:solidFill>
                  <a:srgbClr val="000000"/>
                </a:solidFill>
                <a:latin typeface="Arial"/>
              </a:rPr>
              <a:t> </a:t>
            </a:r>
            <a:r>
              <a:rPr lang="ca-ES-valencia" sz="1200" spc="-1" noProof="0" err="1">
                <a:solidFill>
                  <a:srgbClr val="000000"/>
                </a:solidFill>
                <a:latin typeface="Arial"/>
              </a:rPr>
              <a:t>rest</a:t>
            </a:r>
            <a:r>
              <a:rPr lang="ca-ES-valencia" sz="1200" spc="-1" noProof="0">
                <a:solidFill>
                  <a:srgbClr val="000000"/>
                </a:solidFill>
                <a:latin typeface="Arial"/>
              </a:rPr>
              <a:t> </a:t>
            </a:r>
            <a:r>
              <a:rPr lang="ca-ES-valencia" sz="1200" spc="-1" noProof="0" err="1">
                <a:solidFill>
                  <a:srgbClr val="000000"/>
                </a:solidFill>
                <a:latin typeface="Arial"/>
              </a:rPr>
              <a:t>the</a:t>
            </a:r>
            <a:r>
              <a:rPr lang="ca-ES-valencia" sz="1200" spc="-1" noProof="0">
                <a:solidFill>
                  <a:srgbClr val="000000"/>
                </a:solidFill>
                <a:latin typeface="Arial"/>
              </a:rPr>
              <a:t> </a:t>
            </a:r>
            <a:r>
              <a:rPr lang="ca-ES-valencia" sz="1200" spc="-1" noProof="0" err="1">
                <a:solidFill>
                  <a:srgbClr val="000000"/>
                </a:solidFill>
                <a:latin typeface="Arial"/>
              </a:rPr>
              <a:t>n_eff</a:t>
            </a:r>
            <a:r>
              <a:rPr lang="ca-ES-valencia" sz="1200" spc="-1" noProof="0">
                <a:solidFill>
                  <a:srgbClr val="000000"/>
                </a:solidFill>
                <a:latin typeface="Arial"/>
              </a:rPr>
              <a:t> </a:t>
            </a:r>
            <a:r>
              <a:rPr lang="ca-ES-valencia" sz="1200" spc="-1" noProof="0" err="1">
                <a:solidFill>
                  <a:srgbClr val="000000"/>
                </a:solidFill>
                <a:latin typeface="Arial"/>
              </a:rPr>
              <a:t>is</a:t>
            </a:r>
            <a:r>
              <a:rPr lang="ca-ES-valencia" sz="1200" spc="-1" noProof="0">
                <a:solidFill>
                  <a:srgbClr val="000000"/>
                </a:solidFill>
                <a:latin typeface="Arial"/>
              </a:rPr>
              <a:t> </a:t>
            </a:r>
            <a:r>
              <a:rPr lang="ca-ES-valencia" sz="1200" spc="-1" noProof="0" err="1">
                <a:solidFill>
                  <a:srgbClr val="000000"/>
                </a:solidFill>
                <a:latin typeface="Arial"/>
              </a:rPr>
              <a:t>lower</a:t>
            </a:r>
            <a:r>
              <a:rPr lang="ca-ES-valencia" sz="1200" spc="-1" noProof="0">
                <a:solidFill>
                  <a:srgbClr val="000000"/>
                </a:solidFill>
                <a:latin typeface="Arial"/>
              </a:rPr>
              <a:t> </a:t>
            </a:r>
            <a:r>
              <a:rPr lang="ca-ES-valencia" sz="1200" spc="-1" noProof="0" err="1">
                <a:solidFill>
                  <a:srgbClr val="000000"/>
                </a:solidFill>
                <a:latin typeface="Arial"/>
              </a:rPr>
              <a:t>than</a:t>
            </a:r>
            <a:r>
              <a:rPr lang="ca-ES-valencia" sz="1200" spc="-1" noProof="0">
                <a:solidFill>
                  <a:srgbClr val="000000"/>
                </a:solidFill>
                <a:latin typeface="Arial"/>
              </a:rPr>
              <a:t> </a:t>
            </a:r>
            <a:r>
              <a:rPr lang="ca-ES-valencia" sz="1200" spc="-1" noProof="0" err="1">
                <a:solidFill>
                  <a:srgbClr val="000000"/>
                </a:solidFill>
                <a:latin typeface="Arial"/>
              </a:rPr>
              <a:t>the</a:t>
            </a:r>
            <a:r>
              <a:rPr lang="ca-ES-valencia" sz="1200" spc="-1" noProof="0">
                <a:solidFill>
                  <a:srgbClr val="000000"/>
                </a:solidFill>
                <a:latin typeface="Arial"/>
              </a:rPr>
              <a:t> n </a:t>
            </a:r>
            <a:r>
              <a:rPr lang="ca-ES-valencia" sz="1200" spc="-1" noProof="0" err="1">
                <a:solidFill>
                  <a:srgbClr val="000000"/>
                </a:solidFill>
                <a:latin typeface="Arial"/>
              </a:rPr>
              <a:t>of</a:t>
            </a:r>
            <a:r>
              <a:rPr lang="ca-ES-valencia" sz="1200" spc="-1" noProof="0">
                <a:solidFill>
                  <a:srgbClr val="000000"/>
                </a:solidFill>
                <a:latin typeface="Arial"/>
              </a:rPr>
              <a:t> </a:t>
            </a:r>
            <a:r>
              <a:rPr lang="ca-ES-valencia" sz="1200" spc="-1" noProof="0" err="1">
                <a:solidFill>
                  <a:srgbClr val="000000"/>
                </a:solidFill>
                <a:latin typeface="Arial"/>
              </a:rPr>
              <a:t>the</a:t>
            </a:r>
            <a:r>
              <a:rPr lang="ca-ES-valencia" sz="1200" spc="-1" noProof="0">
                <a:solidFill>
                  <a:srgbClr val="000000"/>
                </a:solidFill>
                <a:latin typeface="Arial"/>
              </a:rPr>
              <a:t> </a:t>
            </a:r>
            <a:r>
              <a:rPr lang="ca-ES-valencia" sz="1200" spc="-1" noProof="0" err="1">
                <a:solidFill>
                  <a:srgbClr val="000000"/>
                </a:solidFill>
                <a:latin typeface="Arial"/>
              </a:rPr>
              <a:t>cladding</a:t>
            </a:r>
            <a:r>
              <a:rPr lang="ca-ES-valencia" sz="1200" spc="-1">
                <a:solidFill>
                  <a:srgbClr val="000000"/>
                </a:solidFill>
              </a:rPr>
              <a:t>. </a:t>
            </a:r>
            <a:r>
              <a:rPr lang="ca-ES-valencia" sz="1200" spc="-1" err="1">
                <a:solidFill>
                  <a:srgbClr val="000000"/>
                </a:solidFill>
              </a:rPr>
              <a:t>Also</a:t>
            </a:r>
            <a:r>
              <a:rPr lang="ca-ES-valencia" sz="1200" spc="-1">
                <a:solidFill>
                  <a:srgbClr val="000000"/>
                </a:solidFill>
              </a:rPr>
              <a:t>, as </a:t>
            </a:r>
            <a:r>
              <a:rPr lang="ca-ES-valencia" sz="1200" spc="-1" err="1">
                <a:solidFill>
                  <a:srgbClr val="000000"/>
                </a:solidFill>
              </a:rPr>
              <a:t>we</a:t>
            </a:r>
            <a:r>
              <a:rPr lang="ca-ES-valencia" sz="1200" spc="-1">
                <a:solidFill>
                  <a:srgbClr val="000000"/>
                </a:solidFill>
              </a:rPr>
              <a:t> </a:t>
            </a:r>
            <a:r>
              <a:rPr lang="ca-ES-valencia" sz="1200" spc="-1" err="1">
                <a:solidFill>
                  <a:srgbClr val="000000"/>
                </a:solidFill>
              </a:rPr>
              <a:t>commented</a:t>
            </a:r>
            <a:r>
              <a:rPr lang="ca-ES-valencia" sz="1200" spc="-1">
                <a:solidFill>
                  <a:srgbClr val="000000"/>
                </a:solidFill>
              </a:rPr>
              <a:t> in </a:t>
            </a:r>
            <a:r>
              <a:rPr lang="ca-ES-valencia" sz="1200" spc="-1" err="1">
                <a:solidFill>
                  <a:srgbClr val="000000"/>
                </a:solidFill>
              </a:rPr>
              <a:t>the</a:t>
            </a:r>
            <a:r>
              <a:rPr lang="ca-ES-valencia" sz="1200" spc="-1">
                <a:solidFill>
                  <a:srgbClr val="000000"/>
                </a:solidFill>
              </a:rPr>
              <a:t> </a:t>
            </a:r>
            <a:r>
              <a:rPr lang="ca-ES-valencia" sz="1200" spc="-1" err="1">
                <a:solidFill>
                  <a:srgbClr val="000000"/>
                </a:solidFill>
              </a:rPr>
              <a:t>previous</a:t>
            </a:r>
            <a:r>
              <a:rPr lang="ca-ES-valencia" sz="1200" spc="-1">
                <a:solidFill>
                  <a:srgbClr val="000000"/>
                </a:solidFill>
              </a:rPr>
              <a:t> </a:t>
            </a:r>
            <a:r>
              <a:rPr lang="ca-ES-valencia" sz="1200" spc="-1" err="1">
                <a:solidFill>
                  <a:srgbClr val="000000"/>
                </a:solidFill>
              </a:rPr>
              <a:t>slide</a:t>
            </a:r>
            <a:r>
              <a:rPr lang="ca-ES-valencia" sz="1200" spc="-1">
                <a:solidFill>
                  <a:srgbClr val="000000"/>
                </a:solidFill>
              </a:rPr>
              <a:t>, as </a:t>
            </a:r>
            <a:r>
              <a:rPr lang="ca-ES-valencia" sz="1200" spc="-1" err="1">
                <a:solidFill>
                  <a:srgbClr val="000000"/>
                </a:solidFill>
              </a:rPr>
              <a:t>for</a:t>
            </a:r>
            <a:r>
              <a:rPr lang="ca-ES-valencia" sz="1200" spc="-1">
                <a:solidFill>
                  <a:srgbClr val="000000"/>
                </a:solidFill>
              </a:rPr>
              <a:t> </a:t>
            </a:r>
            <a:r>
              <a:rPr lang="ca-ES-valencia" sz="1200" spc="-1" err="1">
                <a:solidFill>
                  <a:srgbClr val="000000"/>
                </a:solidFill>
              </a:rPr>
              <a:t>the</a:t>
            </a:r>
            <a:r>
              <a:rPr lang="ca-ES-valencia" sz="1200" spc="-1">
                <a:solidFill>
                  <a:srgbClr val="000000"/>
                </a:solidFill>
              </a:rPr>
              <a:t> </a:t>
            </a:r>
            <a:r>
              <a:rPr lang="ca-ES-valencia" sz="1200" spc="-1" err="1">
                <a:solidFill>
                  <a:srgbClr val="000000"/>
                </a:solidFill>
              </a:rPr>
              <a:t>first</a:t>
            </a:r>
            <a:r>
              <a:rPr lang="ca-ES-valencia" sz="1200" spc="-1">
                <a:solidFill>
                  <a:srgbClr val="000000"/>
                </a:solidFill>
              </a:rPr>
              <a:t> </a:t>
            </a:r>
            <a:r>
              <a:rPr lang="ca-ES-valencia" sz="1200" spc="-1" err="1">
                <a:solidFill>
                  <a:srgbClr val="000000"/>
                </a:solidFill>
              </a:rPr>
              <a:t>mode</a:t>
            </a:r>
            <a:r>
              <a:rPr lang="ca-ES-valencia" sz="1200" spc="-1">
                <a:solidFill>
                  <a:srgbClr val="000000"/>
                </a:solidFill>
              </a:rPr>
              <a:t> </a:t>
            </a:r>
            <a:r>
              <a:rPr lang="ca-ES-valencia" sz="1200" spc="-1" err="1">
                <a:solidFill>
                  <a:srgbClr val="000000"/>
                </a:solidFill>
              </a:rPr>
              <a:t>the</a:t>
            </a:r>
            <a:r>
              <a:rPr lang="ca-ES-valencia" sz="1200" spc="-1">
                <a:solidFill>
                  <a:srgbClr val="000000"/>
                </a:solidFill>
              </a:rPr>
              <a:t> </a:t>
            </a:r>
            <a:r>
              <a:rPr lang="ca-ES-valencia" sz="1200" spc="-1" err="1">
                <a:solidFill>
                  <a:srgbClr val="000000"/>
                </a:solidFill>
              </a:rPr>
              <a:t>n_eff</a:t>
            </a:r>
            <a:r>
              <a:rPr lang="ca-ES-valencia" sz="1200" spc="-1">
                <a:solidFill>
                  <a:srgbClr val="000000"/>
                </a:solidFill>
              </a:rPr>
              <a:t> </a:t>
            </a:r>
            <a:r>
              <a:rPr lang="ca-ES-valencia" sz="1200" spc="-1" err="1">
                <a:solidFill>
                  <a:srgbClr val="000000"/>
                </a:solidFill>
              </a:rPr>
              <a:t>is</a:t>
            </a:r>
            <a:r>
              <a:rPr lang="ca-ES-valencia" sz="1200" spc="-1">
                <a:solidFill>
                  <a:srgbClr val="000000"/>
                </a:solidFill>
              </a:rPr>
              <a:t> </a:t>
            </a:r>
            <a:r>
              <a:rPr lang="ca-ES-valencia" sz="1200" spc="-1" err="1">
                <a:solidFill>
                  <a:srgbClr val="000000"/>
                </a:solidFill>
              </a:rPr>
              <a:t>closest</a:t>
            </a:r>
            <a:r>
              <a:rPr lang="ca-ES-valencia" sz="1200" spc="-1">
                <a:solidFill>
                  <a:srgbClr val="000000"/>
                </a:solidFill>
              </a:rPr>
              <a:t> </a:t>
            </a:r>
            <a:r>
              <a:rPr lang="ca-ES-valencia" sz="1200" spc="-1" err="1">
                <a:solidFill>
                  <a:srgbClr val="000000"/>
                </a:solidFill>
              </a:rPr>
              <a:t>to</a:t>
            </a:r>
            <a:r>
              <a:rPr lang="ca-ES-valencia" sz="1200" spc="-1">
                <a:solidFill>
                  <a:srgbClr val="000000"/>
                </a:solidFill>
              </a:rPr>
              <a:t> </a:t>
            </a:r>
            <a:r>
              <a:rPr lang="ca-ES-valencia" sz="1200" spc="-1" err="1">
                <a:solidFill>
                  <a:srgbClr val="000000"/>
                </a:solidFill>
              </a:rPr>
              <a:t>the</a:t>
            </a:r>
            <a:r>
              <a:rPr lang="ca-ES-valencia" sz="1200" spc="-1">
                <a:solidFill>
                  <a:srgbClr val="000000"/>
                </a:solidFill>
              </a:rPr>
              <a:t> </a:t>
            </a:r>
            <a:r>
              <a:rPr lang="ca-ES-valencia" sz="1200" spc="-1" err="1">
                <a:solidFill>
                  <a:srgbClr val="000000"/>
                </a:solidFill>
              </a:rPr>
              <a:t>n_core</a:t>
            </a:r>
            <a:r>
              <a:rPr lang="ca-ES-valencia" sz="1200" spc="-1">
                <a:solidFill>
                  <a:srgbClr val="000000"/>
                </a:solidFill>
              </a:rPr>
              <a:t> </a:t>
            </a:r>
            <a:r>
              <a:rPr lang="ca-ES-valencia" sz="1200" spc="-1" err="1">
                <a:solidFill>
                  <a:srgbClr val="000000"/>
                </a:solidFill>
              </a:rPr>
              <a:t>than</a:t>
            </a:r>
            <a:r>
              <a:rPr lang="ca-ES-valencia" sz="1200" spc="-1">
                <a:solidFill>
                  <a:srgbClr val="000000"/>
                </a:solidFill>
              </a:rPr>
              <a:t> </a:t>
            </a:r>
            <a:r>
              <a:rPr lang="ca-ES-valencia" sz="1200" spc="-1" err="1">
                <a:solidFill>
                  <a:srgbClr val="000000"/>
                </a:solidFill>
              </a:rPr>
              <a:t>the</a:t>
            </a:r>
            <a:r>
              <a:rPr lang="ca-ES-valencia" sz="1200" spc="-1">
                <a:solidFill>
                  <a:srgbClr val="000000"/>
                </a:solidFill>
              </a:rPr>
              <a:t> </a:t>
            </a:r>
            <a:r>
              <a:rPr lang="ca-ES-valencia" sz="1200" spc="-1" err="1">
                <a:solidFill>
                  <a:srgbClr val="000000"/>
                </a:solidFill>
              </a:rPr>
              <a:t>second</a:t>
            </a:r>
            <a:r>
              <a:rPr lang="ca-ES-valencia" sz="1200" spc="-1">
                <a:solidFill>
                  <a:srgbClr val="000000"/>
                </a:solidFill>
              </a:rPr>
              <a:t> </a:t>
            </a:r>
            <a:r>
              <a:rPr lang="ca-ES-valencia" sz="1200" spc="-1" err="1">
                <a:solidFill>
                  <a:srgbClr val="000000"/>
                </a:solidFill>
              </a:rPr>
              <a:t>mode</a:t>
            </a:r>
            <a:r>
              <a:rPr lang="ca-ES-valencia" sz="1200" spc="-1">
                <a:solidFill>
                  <a:srgbClr val="000000"/>
                </a:solidFill>
              </a:rPr>
              <a:t>, </a:t>
            </a:r>
            <a:r>
              <a:rPr lang="ca-ES-valencia" sz="1200" spc="-1" err="1">
                <a:solidFill>
                  <a:srgbClr val="000000"/>
                </a:solidFill>
              </a:rPr>
              <a:t>the</a:t>
            </a:r>
            <a:r>
              <a:rPr lang="ca-ES-valencia" sz="1200" spc="-1">
                <a:solidFill>
                  <a:srgbClr val="000000"/>
                </a:solidFill>
              </a:rPr>
              <a:t> </a:t>
            </a:r>
            <a:r>
              <a:rPr lang="ca-ES-valencia" sz="1200" spc="-1" err="1">
                <a:solidFill>
                  <a:srgbClr val="000000"/>
                </a:solidFill>
              </a:rPr>
              <a:t>deduction</a:t>
            </a:r>
            <a:r>
              <a:rPr lang="ca-ES-valencia" sz="1200" spc="-1">
                <a:solidFill>
                  <a:srgbClr val="000000"/>
                </a:solidFill>
              </a:rPr>
              <a:t> </a:t>
            </a:r>
            <a:r>
              <a:rPr lang="ca-ES-valencia" sz="1200" spc="-1" err="1">
                <a:solidFill>
                  <a:srgbClr val="000000"/>
                </a:solidFill>
              </a:rPr>
              <a:t>is</a:t>
            </a:r>
            <a:r>
              <a:rPr lang="ca-ES-valencia" sz="1200" spc="-1">
                <a:solidFill>
                  <a:srgbClr val="000000"/>
                </a:solidFill>
              </a:rPr>
              <a:t> </a:t>
            </a:r>
            <a:r>
              <a:rPr lang="ca-ES-valencia" sz="1200" spc="-1" err="1">
                <a:solidFill>
                  <a:srgbClr val="000000"/>
                </a:solidFill>
              </a:rPr>
              <a:t>that</a:t>
            </a:r>
            <a:r>
              <a:rPr lang="ca-ES-valencia" sz="1200" spc="-1">
                <a:solidFill>
                  <a:srgbClr val="000000"/>
                </a:solidFill>
              </a:rPr>
              <a:t> </a:t>
            </a:r>
            <a:r>
              <a:rPr lang="ca-ES-valencia" sz="1200" spc="-1" err="1">
                <a:solidFill>
                  <a:srgbClr val="000000"/>
                </a:solidFill>
              </a:rPr>
              <a:t>this</a:t>
            </a:r>
            <a:r>
              <a:rPr lang="ca-ES-valencia" sz="1200" spc="-1">
                <a:solidFill>
                  <a:srgbClr val="000000"/>
                </a:solidFill>
              </a:rPr>
              <a:t> </a:t>
            </a:r>
            <a:r>
              <a:rPr lang="ca-ES-valencia" sz="1200" spc="-1" err="1">
                <a:solidFill>
                  <a:srgbClr val="000000"/>
                </a:solidFill>
              </a:rPr>
              <a:t>first</a:t>
            </a:r>
            <a:r>
              <a:rPr lang="ca-ES-valencia" sz="1200" spc="-1">
                <a:solidFill>
                  <a:srgbClr val="000000"/>
                </a:solidFill>
              </a:rPr>
              <a:t> </a:t>
            </a:r>
            <a:r>
              <a:rPr lang="ca-ES-valencia" sz="1200" spc="-1" err="1">
                <a:solidFill>
                  <a:srgbClr val="000000"/>
                </a:solidFill>
              </a:rPr>
              <a:t>mode</a:t>
            </a:r>
            <a:r>
              <a:rPr lang="ca-ES-valencia" sz="1200" spc="-1">
                <a:solidFill>
                  <a:srgbClr val="000000"/>
                </a:solidFill>
              </a:rPr>
              <a:t> </a:t>
            </a:r>
            <a:r>
              <a:rPr lang="ca-ES-valencia" sz="1200" spc="-1" err="1">
                <a:solidFill>
                  <a:srgbClr val="000000"/>
                </a:solidFill>
              </a:rPr>
              <a:t>will</a:t>
            </a:r>
            <a:r>
              <a:rPr lang="ca-ES-valencia" sz="1200" spc="-1">
                <a:solidFill>
                  <a:srgbClr val="000000"/>
                </a:solidFill>
              </a:rPr>
              <a:t> be more </a:t>
            </a:r>
            <a:r>
              <a:rPr lang="ca-ES-valencia" sz="1200" spc="-1" err="1">
                <a:solidFill>
                  <a:srgbClr val="000000"/>
                </a:solidFill>
              </a:rPr>
              <a:t>confined</a:t>
            </a:r>
            <a:r>
              <a:rPr lang="ca-ES-valencia" sz="1200" spc="-1">
                <a:solidFill>
                  <a:srgbClr val="000000"/>
                </a:solidFill>
              </a:rPr>
              <a:t> in </a:t>
            </a:r>
            <a:r>
              <a:rPr lang="ca-ES-valencia" sz="1200" spc="-1" err="1">
                <a:solidFill>
                  <a:srgbClr val="000000"/>
                </a:solidFill>
              </a:rPr>
              <a:t>the</a:t>
            </a:r>
            <a:r>
              <a:rPr lang="ca-ES-valencia" sz="1200" spc="-1">
                <a:solidFill>
                  <a:srgbClr val="000000"/>
                </a:solidFill>
              </a:rPr>
              <a:t> </a:t>
            </a:r>
            <a:r>
              <a:rPr lang="ca-ES-valencia" sz="1200" spc="-1" err="1">
                <a:solidFill>
                  <a:srgbClr val="000000"/>
                </a:solidFill>
              </a:rPr>
              <a:t>core</a:t>
            </a:r>
            <a:r>
              <a:rPr lang="ca-ES-valencia" sz="1200" spc="-1">
                <a:solidFill>
                  <a:srgbClr val="000000"/>
                </a:solidFill>
              </a:rPr>
              <a:t> </a:t>
            </a:r>
            <a:r>
              <a:rPr lang="ca-ES-valencia" sz="1200" spc="-1" err="1">
                <a:solidFill>
                  <a:srgbClr val="000000"/>
                </a:solidFill>
              </a:rPr>
              <a:t>than</a:t>
            </a:r>
            <a:r>
              <a:rPr lang="ca-ES-valencia" sz="1200" spc="-1">
                <a:solidFill>
                  <a:srgbClr val="000000"/>
                </a:solidFill>
              </a:rPr>
              <a:t> </a:t>
            </a:r>
            <a:r>
              <a:rPr lang="ca-ES-valencia" sz="1200" spc="-1" err="1">
                <a:solidFill>
                  <a:srgbClr val="000000"/>
                </a:solidFill>
              </a:rPr>
              <a:t>the</a:t>
            </a:r>
            <a:r>
              <a:rPr lang="ca-ES-valencia" sz="1200" spc="-1">
                <a:solidFill>
                  <a:srgbClr val="000000"/>
                </a:solidFill>
              </a:rPr>
              <a:t> </a:t>
            </a:r>
            <a:r>
              <a:rPr lang="ca-ES-valencia" sz="1200" spc="-1" err="1">
                <a:solidFill>
                  <a:srgbClr val="000000"/>
                </a:solidFill>
              </a:rPr>
              <a:t>second</a:t>
            </a:r>
            <a:r>
              <a:rPr lang="ca-ES-valencia" sz="1200" spc="-1">
                <a:solidFill>
                  <a:srgbClr val="000000"/>
                </a:solidFill>
              </a:rPr>
              <a:t> </a:t>
            </a:r>
            <a:r>
              <a:rPr lang="ca-ES-valencia" sz="1200" spc="-1" err="1">
                <a:solidFill>
                  <a:srgbClr val="000000"/>
                </a:solidFill>
              </a:rPr>
              <a:t>mode</a:t>
            </a:r>
            <a:r>
              <a:rPr lang="ca-ES-valencia" sz="1200" spc="-1">
                <a:solidFill>
                  <a:srgbClr val="000000"/>
                </a:solidFill>
              </a:rPr>
              <a:t>, </a:t>
            </a:r>
            <a:r>
              <a:rPr lang="ca-ES-valencia" sz="1200" spc="-1" err="1">
                <a:solidFill>
                  <a:srgbClr val="000000"/>
                </a:solidFill>
              </a:rPr>
              <a:t>confined</a:t>
            </a:r>
            <a:r>
              <a:rPr lang="ca-ES-valencia" sz="1200" spc="-1">
                <a:solidFill>
                  <a:srgbClr val="000000"/>
                </a:solidFill>
              </a:rPr>
              <a:t> </a:t>
            </a:r>
            <a:r>
              <a:rPr lang="ca-ES-valencia" sz="1200" spc="-1" err="1">
                <a:solidFill>
                  <a:srgbClr val="000000"/>
                </a:solidFill>
              </a:rPr>
              <a:t>mostly</a:t>
            </a:r>
            <a:r>
              <a:rPr lang="ca-ES-valencia" sz="1200" spc="-1">
                <a:solidFill>
                  <a:srgbClr val="000000"/>
                </a:solidFill>
              </a:rPr>
              <a:t> in </a:t>
            </a:r>
            <a:r>
              <a:rPr lang="ca-ES-valencia" sz="1200" spc="-1" err="1">
                <a:solidFill>
                  <a:srgbClr val="000000"/>
                </a:solidFill>
              </a:rPr>
              <a:t>the</a:t>
            </a:r>
            <a:r>
              <a:rPr lang="ca-ES-valencia" sz="1200" spc="-1">
                <a:solidFill>
                  <a:srgbClr val="000000"/>
                </a:solidFill>
              </a:rPr>
              <a:t> </a:t>
            </a:r>
            <a:r>
              <a:rPr lang="ca-ES-valencia" sz="1200" spc="-1" err="1">
                <a:solidFill>
                  <a:srgbClr val="000000"/>
                </a:solidFill>
              </a:rPr>
              <a:t>cladding</a:t>
            </a:r>
            <a:r>
              <a:rPr lang="ca-ES-valencia" sz="1200" spc="-1">
                <a:solidFill>
                  <a:srgbClr val="000000"/>
                </a:solidFill>
              </a:rPr>
              <a:t>. </a:t>
            </a:r>
          </a:p>
          <a:p>
            <a:pPr algn="just"/>
            <a:endParaRPr lang="ca-ES-valencia" sz="1200" spc="-1" noProof="0">
              <a:solidFill>
                <a:srgbClr val="000000"/>
              </a:solidFill>
              <a:latin typeface="Arial"/>
            </a:endParaRPr>
          </a:p>
          <a:p>
            <a:pPr algn="just"/>
            <a:r>
              <a:rPr lang="ca-ES-valencia" sz="1200" spc="-1" noProof="0" err="1">
                <a:solidFill>
                  <a:srgbClr val="000000"/>
                </a:solidFill>
                <a:latin typeface="Arial"/>
              </a:rPr>
              <a:t>The</a:t>
            </a:r>
            <a:r>
              <a:rPr lang="ca-ES-valencia" sz="1200" spc="-1" noProof="0">
                <a:solidFill>
                  <a:srgbClr val="000000"/>
                </a:solidFill>
                <a:latin typeface="Arial"/>
              </a:rPr>
              <a:t> </a:t>
            </a:r>
            <a:r>
              <a:rPr lang="ca-ES-valencia" sz="1200" spc="-1" noProof="0" err="1">
                <a:solidFill>
                  <a:srgbClr val="000000"/>
                </a:solidFill>
                <a:latin typeface="Arial"/>
              </a:rPr>
              <a:t>imaginary</a:t>
            </a:r>
            <a:r>
              <a:rPr lang="ca-ES-valencia" sz="1200" spc="-1" noProof="0">
                <a:solidFill>
                  <a:srgbClr val="000000"/>
                </a:solidFill>
                <a:latin typeface="Arial"/>
              </a:rPr>
              <a:t> </a:t>
            </a:r>
            <a:r>
              <a:rPr lang="ca-ES-valencia" sz="1200" spc="-1" noProof="0" err="1">
                <a:solidFill>
                  <a:srgbClr val="000000"/>
                </a:solidFill>
                <a:latin typeface="Arial"/>
              </a:rPr>
              <a:t>part</a:t>
            </a:r>
            <a:r>
              <a:rPr lang="ca-ES-valencia" sz="1200" spc="-1" noProof="0">
                <a:solidFill>
                  <a:srgbClr val="000000"/>
                </a:solidFill>
                <a:latin typeface="Arial"/>
              </a:rPr>
              <a:t> </a:t>
            </a:r>
            <a:r>
              <a:rPr lang="ca-ES-valencia" sz="1200" spc="-1" noProof="0" err="1">
                <a:solidFill>
                  <a:srgbClr val="000000"/>
                </a:solidFill>
                <a:latin typeface="Arial"/>
              </a:rPr>
              <a:t>represents</a:t>
            </a:r>
            <a:r>
              <a:rPr lang="ca-ES-valencia" sz="1200" spc="-1" noProof="0">
                <a:solidFill>
                  <a:srgbClr val="000000"/>
                </a:solidFill>
                <a:latin typeface="Arial"/>
              </a:rPr>
              <a:t> </a:t>
            </a:r>
            <a:r>
              <a:rPr lang="ca-ES-valencia" sz="1200" spc="-1" noProof="0" err="1">
                <a:solidFill>
                  <a:srgbClr val="000000"/>
                </a:solidFill>
                <a:latin typeface="Arial"/>
              </a:rPr>
              <a:t>the</a:t>
            </a:r>
            <a:r>
              <a:rPr lang="ca-ES-valencia" sz="1200" spc="-1" noProof="0">
                <a:solidFill>
                  <a:srgbClr val="000000"/>
                </a:solidFill>
                <a:latin typeface="Arial"/>
              </a:rPr>
              <a:t> </a:t>
            </a:r>
            <a:r>
              <a:rPr lang="ca-ES-valencia" sz="1200" spc="-1" noProof="0" err="1">
                <a:solidFill>
                  <a:srgbClr val="000000"/>
                </a:solidFill>
                <a:latin typeface="Arial"/>
              </a:rPr>
              <a:t>losses</a:t>
            </a:r>
            <a:r>
              <a:rPr lang="ca-ES-valencia" sz="1200" spc="-1" noProof="0">
                <a:solidFill>
                  <a:srgbClr val="000000"/>
                </a:solidFill>
                <a:latin typeface="Arial"/>
              </a:rPr>
              <a:t> </a:t>
            </a:r>
            <a:r>
              <a:rPr lang="ca-ES-valencia" sz="1200" spc="-1" noProof="0" err="1">
                <a:solidFill>
                  <a:srgbClr val="000000"/>
                </a:solidFill>
                <a:latin typeface="Arial"/>
              </a:rPr>
              <a:t>of</a:t>
            </a:r>
            <a:r>
              <a:rPr lang="ca-ES-valencia" sz="1200" spc="-1" noProof="0">
                <a:solidFill>
                  <a:srgbClr val="000000"/>
                </a:solidFill>
                <a:latin typeface="Arial"/>
              </a:rPr>
              <a:t> </a:t>
            </a:r>
            <a:r>
              <a:rPr lang="ca-ES-valencia" sz="1200" spc="-1" noProof="0" err="1">
                <a:solidFill>
                  <a:srgbClr val="000000"/>
                </a:solidFill>
                <a:latin typeface="Arial"/>
              </a:rPr>
              <a:t>each</a:t>
            </a:r>
            <a:r>
              <a:rPr lang="ca-ES-valencia" sz="1200" spc="-1" noProof="0">
                <a:solidFill>
                  <a:srgbClr val="000000"/>
                </a:solidFill>
                <a:latin typeface="Arial"/>
              </a:rPr>
              <a:t> </a:t>
            </a:r>
            <a:r>
              <a:rPr lang="ca-ES-valencia" sz="1200" spc="-1" noProof="0" err="1">
                <a:solidFill>
                  <a:srgbClr val="000000"/>
                </a:solidFill>
                <a:latin typeface="Arial"/>
              </a:rPr>
              <a:t>mode</a:t>
            </a:r>
            <a:r>
              <a:rPr lang="ca-ES-valencia" sz="1200" spc="-1" noProof="0">
                <a:solidFill>
                  <a:srgbClr val="000000"/>
                </a:solidFill>
                <a:latin typeface="Arial"/>
              </a:rPr>
              <a:t>, in </a:t>
            </a:r>
            <a:r>
              <a:rPr lang="ca-ES-valencia" sz="1200" spc="-1" noProof="0" err="1">
                <a:solidFill>
                  <a:srgbClr val="000000"/>
                </a:solidFill>
                <a:latin typeface="Arial"/>
              </a:rPr>
              <a:t>this</a:t>
            </a:r>
            <a:r>
              <a:rPr lang="ca-ES-valencia" sz="1200" spc="-1" noProof="0">
                <a:solidFill>
                  <a:srgbClr val="000000"/>
                </a:solidFill>
                <a:latin typeface="Arial"/>
              </a:rPr>
              <a:t> case, in </a:t>
            </a:r>
            <a:r>
              <a:rPr lang="ca-ES-valencia" sz="1200" spc="-1" noProof="0" err="1">
                <a:solidFill>
                  <a:srgbClr val="000000"/>
                </a:solidFill>
                <a:latin typeface="Arial"/>
              </a:rPr>
              <a:t>every</a:t>
            </a:r>
            <a:r>
              <a:rPr lang="ca-ES-valencia" sz="1200" spc="-1" noProof="0">
                <a:solidFill>
                  <a:srgbClr val="000000"/>
                </a:solidFill>
                <a:latin typeface="Arial"/>
              </a:rPr>
              <a:t> </a:t>
            </a:r>
            <a:r>
              <a:rPr lang="ca-ES-valencia" sz="1200" spc="-1" noProof="0" err="1">
                <a:solidFill>
                  <a:srgbClr val="000000"/>
                </a:solidFill>
                <a:latin typeface="Arial"/>
              </a:rPr>
              <a:t>mode</a:t>
            </a:r>
            <a:r>
              <a:rPr lang="ca-ES-valencia" sz="1200" spc="-1" noProof="0">
                <a:solidFill>
                  <a:srgbClr val="000000"/>
                </a:solidFill>
                <a:latin typeface="Arial"/>
              </a:rPr>
              <a:t> </a:t>
            </a:r>
            <a:r>
              <a:rPr lang="ca-ES-valencia" sz="1200" spc="-1" noProof="0" err="1">
                <a:solidFill>
                  <a:srgbClr val="000000"/>
                </a:solidFill>
                <a:latin typeface="Arial"/>
              </a:rPr>
              <a:t>it’s</a:t>
            </a:r>
            <a:r>
              <a:rPr lang="ca-ES-valencia" sz="1200" spc="-1" noProof="0">
                <a:solidFill>
                  <a:srgbClr val="000000"/>
                </a:solidFill>
                <a:latin typeface="Arial"/>
              </a:rPr>
              <a:t> </a:t>
            </a:r>
            <a:r>
              <a:rPr lang="ca-ES-valencia" sz="1200" spc="-1" noProof="0" err="1">
                <a:solidFill>
                  <a:srgbClr val="000000"/>
                </a:solidFill>
                <a:latin typeface="Arial"/>
              </a:rPr>
              <a:t>almost</a:t>
            </a:r>
            <a:r>
              <a:rPr lang="ca-ES-valencia" sz="1200" spc="-1" noProof="0">
                <a:solidFill>
                  <a:srgbClr val="000000"/>
                </a:solidFill>
                <a:latin typeface="Arial"/>
              </a:rPr>
              <a:t> 0, </a:t>
            </a:r>
            <a:r>
              <a:rPr lang="ca-ES-valencia" sz="1200" spc="-1" noProof="0" err="1">
                <a:solidFill>
                  <a:srgbClr val="000000"/>
                </a:solidFill>
                <a:latin typeface="Arial"/>
              </a:rPr>
              <a:t>which</a:t>
            </a:r>
            <a:r>
              <a:rPr lang="ca-ES-valencia" sz="1200" spc="-1" noProof="0">
                <a:solidFill>
                  <a:srgbClr val="000000"/>
                </a:solidFill>
                <a:latin typeface="Arial"/>
              </a:rPr>
              <a:t> </a:t>
            </a:r>
            <a:r>
              <a:rPr lang="ca-ES-valencia" sz="1200" spc="-1" noProof="0" err="1">
                <a:solidFill>
                  <a:srgbClr val="000000"/>
                </a:solidFill>
                <a:latin typeface="Arial"/>
              </a:rPr>
              <a:t>means</a:t>
            </a:r>
            <a:r>
              <a:rPr lang="ca-ES-valencia" sz="1200" spc="-1" noProof="0">
                <a:solidFill>
                  <a:srgbClr val="000000"/>
                </a:solidFill>
                <a:latin typeface="Arial"/>
              </a:rPr>
              <a:t> </a:t>
            </a:r>
            <a:r>
              <a:rPr lang="ca-ES-valencia" sz="1200" spc="-1" noProof="0" err="1">
                <a:solidFill>
                  <a:srgbClr val="000000"/>
                </a:solidFill>
                <a:latin typeface="Arial"/>
              </a:rPr>
              <a:t>that</a:t>
            </a:r>
            <a:r>
              <a:rPr lang="ca-ES-valencia" sz="1200" spc="-1" noProof="0">
                <a:solidFill>
                  <a:srgbClr val="000000"/>
                </a:solidFill>
                <a:latin typeface="Arial"/>
              </a:rPr>
              <a:t> </a:t>
            </a:r>
            <a:r>
              <a:rPr lang="ca-ES-valencia" sz="1200" spc="-1" noProof="0" err="1">
                <a:solidFill>
                  <a:srgbClr val="000000"/>
                </a:solidFill>
                <a:latin typeface="Arial"/>
              </a:rPr>
              <a:t>there</a:t>
            </a:r>
            <a:r>
              <a:rPr lang="ca-ES-valencia" sz="1200" spc="-1" noProof="0">
                <a:solidFill>
                  <a:srgbClr val="000000"/>
                </a:solidFill>
                <a:latin typeface="Arial"/>
              </a:rPr>
              <a:t> are no </a:t>
            </a:r>
            <a:r>
              <a:rPr lang="ca-ES-valencia" sz="1200" spc="-1" noProof="0" err="1">
                <a:solidFill>
                  <a:srgbClr val="000000"/>
                </a:solidFill>
                <a:latin typeface="Arial"/>
              </a:rPr>
              <a:t>significant</a:t>
            </a:r>
            <a:r>
              <a:rPr lang="ca-ES-valencia" sz="1200" spc="-1" noProof="0">
                <a:solidFill>
                  <a:srgbClr val="000000"/>
                </a:solidFill>
                <a:latin typeface="Arial"/>
              </a:rPr>
              <a:t> </a:t>
            </a:r>
            <a:r>
              <a:rPr lang="ca-ES-valencia" sz="1200" spc="-1" noProof="0" err="1">
                <a:solidFill>
                  <a:srgbClr val="000000"/>
                </a:solidFill>
                <a:latin typeface="Arial"/>
              </a:rPr>
              <a:t>losses</a:t>
            </a:r>
            <a:r>
              <a:rPr lang="ca-ES-valencia" sz="1200" spc="-1" noProof="0">
                <a:solidFill>
                  <a:srgbClr val="000000"/>
                </a:solidFill>
                <a:latin typeface="Arial"/>
              </a:rPr>
              <a:t> in </a:t>
            </a:r>
            <a:r>
              <a:rPr lang="ca-ES-valencia" sz="1200" spc="-1" noProof="0" err="1">
                <a:solidFill>
                  <a:srgbClr val="000000"/>
                </a:solidFill>
                <a:latin typeface="Arial"/>
              </a:rPr>
              <a:t>th</a:t>
            </a:r>
            <a:r>
              <a:rPr lang="ca-ES-valencia" sz="1200" spc="-1" noProof="0">
                <a:solidFill>
                  <a:srgbClr val="000000"/>
                </a:solidFill>
                <a:latin typeface="Arial"/>
              </a:rPr>
              <a:t> </a:t>
            </a:r>
            <a:r>
              <a:rPr lang="ca-ES-valencia" sz="1200" spc="-1" noProof="0" err="1">
                <a:solidFill>
                  <a:srgbClr val="000000"/>
                </a:solidFill>
                <a:latin typeface="Arial"/>
              </a:rPr>
              <a:t>waveguide</a:t>
            </a:r>
            <a:r>
              <a:rPr lang="ca-ES-valencia" sz="1200" spc="-1">
                <a:solidFill>
                  <a:srgbClr val="000000"/>
                </a:solidFill>
                <a:latin typeface="Arial"/>
              </a:rPr>
              <a:t>.</a:t>
            </a:r>
            <a:r>
              <a:rPr lang="ca-ES-valencia" sz="1200" spc="-1" noProof="0">
                <a:solidFill>
                  <a:srgbClr val="000000"/>
                </a:solidFill>
                <a:latin typeface="Arial"/>
              </a:rPr>
              <a:t> </a:t>
            </a:r>
          </a:p>
          <a:p>
            <a:pPr algn="just"/>
            <a:endParaRPr lang="ca-ES-valencia" sz="1200" spc="-1" noProof="0">
              <a:solidFill>
                <a:srgbClr val="000000"/>
              </a:solidFill>
              <a:latin typeface="Arial"/>
            </a:endParaRPr>
          </a:p>
          <a:p>
            <a:pPr algn="just" defTabSz="914400">
              <a:lnSpc>
                <a:spcPct val="100000"/>
              </a:lnSpc>
            </a:pPr>
            <a:r>
              <a:rPr lang="ca-ES-valencia" sz="1200" b="0" strike="noStrike" spc="-1" err="1">
                <a:solidFill>
                  <a:srgbClr val="000000"/>
                </a:solidFill>
                <a:latin typeface="Arial"/>
              </a:rPr>
              <a:t>By</a:t>
            </a:r>
            <a:r>
              <a:rPr lang="ca-ES-valencia" sz="1200" b="0" strike="noStrike" spc="-1">
                <a:solidFill>
                  <a:srgbClr val="000000"/>
                </a:solidFill>
                <a:latin typeface="Arial"/>
              </a:rPr>
              <a:t> </a:t>
            </a:r>
            <a:r>
              <a:rPr lang="ca-ES-valencia" sz="1200" b="0" strike="noStrike" spc="-1" err="1">
                <a:solidFill>
                  <a:srgbClr val="000000"/>
                </a:solidFill>
                <a:latin typeface="Arial"/>
              </a:rPr>
              <a:t>representing</a:t>
            </a:r>
            <a:r>
              <a:rPr lang="ca-ES-valencia" sz="1200" b="0" strike="noStrike" spc="-1">
                <a:solidFill>
                  <a:srgbClr val="000000"/>
                </a:solidFill>
                <a:latin typeface="Arial"/>
              </a:rPr>
              <a:t> </a:t>
            </a:r>
            <a:r>
              <a:rPr lang="ca-ES-valencia" sz="1200" b="0" strike="noStrike" spc="-1" err="1">
                <a:solidFill>
                  <a:srgbClr val="000000"/>
                </a:solidFill>
                <a:latin typeface="Arial"/>
              </a:rPr>
              <a:t>the</a:t>
            </a:r>
            <a:r>
              <a:rPr lang="ca-ES-valencia" sz="1200" b="0" strike="noStrike" spc="-1">
                <a:solidFill>
                  <a:srgbClr val="000000"/>
                </a:solidFill>
                <a:latin typeface="Arial"/>
              </a:rPr>
              <a:t> </a:t>
            </a:r>
            <a:r>
              <a:rPr lang="ca-ES-valencia" sz="1200" b="0" strike="noStrike" spc="-1" err="1">
                <a:solidFill>
                  <a:srgbClr val="000000"/>
                </a:solidFill>
                <a:latin typeface="Arial"/>
              </a:rPr>
              <a:t>fraction_te</a:t>
            </a:r>
            <a:r>
              <a:rPr lang="ca-ES-valencia" sz="1200" b="0" strike="noStrike" spc="-1">
                <a:solidFill>
                  <a:srgbClr val="000000"/>
                </a:solidFill>
                <a:latin typeface="Arial"/>
              </a:rPr>
              <a:t> and </a:t>
            </a:r>
            <a:r>
              <a:rPr lang="ca-ES-valencia" sz="1200" b="0" strike="noStrike" spc="-1" err="1">
                <a:solidFill>
                  <a:srgbClr val="000000"/>
                </a:solidFill>
                <a:latin typeface="Arial"/>
              </a:rPr>
              <a:t>fraction_tm</a:t>
            </a:r>
            <a:r>
              <a:rPr lang="ca-ES-valencia" sz="1200" b="0" strike="noStrike" spc="-1">
                <a:solidFill>
                  <a:srgbClr val="000000"/>
                </a:solidFill>
                <a:latin typeface="Arial"/>
              </a:rPr>
              <a:t>, </a:t>
            </a:r>
            <a:r>
              <a:rPr lang="ca-ES-valencia" sz="1200" b="0" strike="noStrike" spc="-1" err="1">
                <a:solidFill>
                  <a:srgbClr val="000000"/>
                </a:solidFill>
                <a:latin typeface="Arial"/>
              </a:rPr>
              <a:t>we</a:t>
            </a:r>
            <a:r>
              <a:rPr lang="ca-ES-valencia" sz="1200" b="0" strike="noStrike" spc="-1">
                <a:solidFill>
                  <a:srgbClr val="000000"/>
                </a:solidFill>
                <a:latin typeface="Arial"/>
              </a:rPr>
              <a:t> can </a:t>
            </a:r>
            <a:r>
              <a:rPr lang="ca-ES-valencia" sz="1200" b="0" strike="noStrike" spc="-1" err="1">
                <a:solidFill>
                  <a:srgbClr val="000000"/>
                </a:solidFill>
                <a:latin typeface="Arial"/>
              </a:rPr>
              <a:t>see</a:t>
            </a:r>
            <a:r>
              <a:rPr lang="ca-ES-valencia" sz="1200" b="0" strike="noStrike" spc="-1">
                <a:solidFill>
                  <a:srgbClr val="000000"/>
                </a:solidFill>
                <a:latin typeface="Arial"/>
              </a:rPr>
              <a:t> </a:t>
            </a:r>
            <a:r>
              <a:rPr lang="ca-ES-valencia" sz="1200" b="0" strike="noStrike" spc="-1" err="1">
                <a:solidFill>
                  <a:srgbClr val="000000"/>
                </a:solidFill>
                <a:latin typeface="Arial"/>
              </a:rPr>
              <a:t>how</a:t>
            </a:r>
            <a:r>
              <a:rPr lang="ca-ES-valencia" sz="1200" b="0" strike="noStrike" spc="-1">
                <a:solidFill>
                  <a:srgbClr val="000000"/>
                </a:solidFill>
                <a:latin typeface="Arial"/>
              </a:rPr>
              <a:t> </a:t>
            </a:r>
            <a:r>
              <a:rPr lang="ca-ES-valencia" sz="1200" b="0" strike="noStrike" spc="-1" err="1">
                <a:solidFill>
                  <a:srgbClr val="000000"/>
                </a:solidFill>
                <a:latin typeface="Arial"/>
              </a:rPr>
              <a:t>the</a:t>
            </a:r>
            <a:r>
              <a:rPr lang="ca-ES-valencia" sz="1200" b="0" strike="noStrike" spc="-1">
                <a:solidFill>
                  <a:srgbClr val="000000"/>
                </a:solidFill>
                <a:latin typeface="Arial"/>
              </a:rPr>
              <a:t> </a:t>
            </a:r>
            <a:r>
              <a:rPr lang="ca-ES-valencia" sz="1200" b="0" strike="noStrike" spc="-1" err="1">
                <a:solidFill>
                  <a:srgbClr val="000000"/>
                </a:solidFill>
                <a:latin typeface="Arial"/>
              </a:rPr>
              <a:t>electric</a:t>
            </a:r>
            <a:r>
              <a:rPr lang="ca-ES-valencia" sz="1200" b="0" strike="noStrike" spc="-1">
                <a:solidFill>
                  <a:srgbClr val="000000"/>
                </a:solidFill>
                <a:latin typeface="Arial"/>
              </a:rPr>
              <a:t>/</a:t>
            </a:r>
            <a:r>
              <a:rPr lang="ca-ES-valencia" sz="1200" b="0" strike="noStrike" spc="-1" err="1">
                <a:solidFill>
                  <a:srgbClr val="000000"/>
                </a:solidFill>
                <a:latin typeface="Arial"/>
              </a:rPr>
              <a:t>magnetic</a:t>
            </a:r>
            <a:r>
              <a:rPr lang="ca-ES-valencia" sz="1200" b="0" strike="noStrike" spc="-1">
                <a:solidFill>
                  <a:srgbClr val="000000"/>
                </a:solidFill>
                <a:latin typeface="Arial"/>
              </a:rPr>
              <a:t> </a:t>
            </a:r>
            <a:r>
              <a:rPr lang="ca-ES-valencia" sz="1200" b="0" strike="noStrike" spc="-1" err="1">
                <a:solidFill>
                  <a:srgbClr val="000000"/>
                </a:solidFill>
                <a:latin typeface="Arial"/>
              </a:rPr>
              <a:t>fields</a:t>
            </a:r>
            <a:r>
              <a:rPr lang="ca-ES-valencia" sz="1200" b="0" strike="noStrike" spc="-1">
                <a:solidFill>
                  <a:srgbClr val="000000"/>
                </a:solidFill>
                <a:latin typeface="Arial"/>
              </a:rPr>
              <a:t> are </a:t>
            </a:r>
            <a:r>
              <a:rPr lang="ca-ES-valencia" sz="1200" b="0" strike="noStrike" spc="-1" err="1">
                <a:solidFill>
                  <a:srgbClr val="000000"/>
                </a:solidFill>
                <a:latin typeface="Arial"/>
              </a:rPr>
              <a:t>distributed</a:t>
            </a:r>
            <a:r>
              <a:rPr lang="ca-ES-valencia" sz="1200" b="0" strike="noStrike" spc="-1">
                <a:solidFill>
                  <a:srgbClr val="000000"/>
                </a:solidFill>
                <a:latin typeface="Arial"/>
              </a:rPr>
              <a:t> in </a:t>
            </a:r>
            <a:r>
              <a:rPr lang="ca-ES-valencia" sz="1200" b="0" strike="noStrike" spc="-1" err="1">
                <a:solidFill>
                  <a:srgbClr val="000000"/>
                </a:solidFill>
                <a:latin typeface="Arial"/>
              </a:rPr>
              <a:t>the</a:t>
            </a:r>
            <a:r>
              <a:rPr lang="ca-ES-valencia" sz="1200" b="0" strike="noStrike" spc="-1">
                <a:solidFill>
                  <a:srgbClr val="000000"/>
                </a:solidFill>
                <a:latin typeface="Arial"/>
              </a:rPr>
              <a:t> </a:t>
            </a:r>
            <a:r>
              <a:rPr lang="ca-ES-valencia" sz="1200" b="0" strike="noStrike" spc="-1" err="1">
                <a:solidFill>
                  <a:srgbClr val="000000"/>
                </a:solidFill>
                <a:latin typeface="Arial"/>
              </a:rPr>
              <a:t>waveguide</a:t>
            </a:r>
            <a:r>
              <a:rPr lang="ca-ES-valencia" sz="1200" b="0" strike="noStrike" spc="-1">
                <a:solidFill>
                  <a:srgbClr val="000000"/>
                </a:solidFill>
                <a:latin typeface="Arial"/>
              </a:rPr>
              <a:t>. As </a:t>
            </a:r>
            <a:r>
              <a:rPr lang="ca-ES-valencia" sz="1200" b="0" strike="noStrike" spc="-1" err="1">
                <a:solidFill>
                  <a:srgbClr val="000000"/>
                </a:solidFill>
                <a:latin typeface="Arial"/>
              </a:rPr>
              <a:t>we</a:t>
            </a:r>
            <a:r>
              <a:rPr lang="ca-ES-valencia" sz="1200" b="0" strike="noStrike" spc="-1">
                <a:solidFill>
                  <a:srgbClr val="000000"/>
                </a:solidFill>
                <a:latin typeface="Arial"/>
              </a:rPr>
              <a:t> can </a:t>
            </a:r>
            <a:r>
              <a:rPr lang="ca-ES-valencia" sz="1200" b="0" strike="noStrike" spc="-1" err="1">
                <a:solidFill>
                  <a:srgbClr val="000000"/>
                </a:solidFill>
                <a:latin typeface="Arial"/>
              </a:rPr>
              <a:t>see</a:t>
            </a:r>
            <a:r>
              <a:rPr lang="ca-ES-valencia" sz="1200" b="0" strike="noStrike" spc="-1">
                <a:solidFill>
                  <a:srgbClr val="000000"/>
                </a:solidFill>
                <a:latin typeface="Arial"/>
              </a:rPr>
              <a:t>, </a:t>
            </a:r>
            <a:r>
              <a:rPr lang="ca-ES-valencia" sz="1200" b="0" strike="noStrike" spc="-1" err="1">
                <a:solidFill>
                  <a:srgbClr val="000000"/>
                </a:solidFill>
                <a:latin typeface="Arial"/>
              </a:rPr>
              <a:t>for</a:t>
            </a:r>
            <a:r>
              <a:rPr lang="ca-ES-valencia" sz="1200" b="0" strike="noStrike" spc="-1">
                <a:solidFill>
                  <a:srgbClr val="000000"/>
                </a:solidFill>
                <a:latin typeface="Arial"/>
              </a:rPr>
              <a:t> </a:t>
            </a:r>
            <a:r>
              <a:rPr lang="ca-ES-valencia" sz="1200" b="0" strike="noStrike" spc="-1" err="1">
                <a:solidFill>
                  <a:srgbClr val="000000"/>
                </a:solidFill>
                <a:latin typeface="Arial"/>
              </a:rPr>
              <a:t>the</a:t>
            </a:r>
            <a:r>
              <a:rPr lang="ca-ES-valencia" sz="1200" b="0" strike="noStrike" spc="-1">
                <a:solidFill>
                  <a:srgbClr val="000000"/>
                </a:solidFill>
                <a:latin typeface="Arial"/>
              </a:rPr>
              <a:t> </a:t>
            </a:r>
            <a:r>
              <a:rPr lang="ca-ES-valencia" sz="1200" b="0" strike="noStrike" spc="-1" err="1">
                <a:solidFill>
                  <a:srgbClr val="000000"/>
                </a:solidFill>
                <a:latin typeface="Arial"/>
              </a:rPr>
              <a:t>first</a:t>
            </a:r>
            <a:r>
              <a:rPr lang="ca-ES-valencia" sz="1200" b="0" strike="noStrike" spc="-1">
                <a:solidFill>
                  <a:srgbClr val="000000"/>
                </a:solidFill>
                <a:latin typeface="Arial"/>
              </a:rPr>
              <a:t> </a:t>
            </a:r>
            <a:r>
              <a:rPr lang="ca-ES-valencia" sz="1200" b="0" strike="noStrike" spc="-1" err="1">
                <a:solidFill>
                  <a:srgbClr val="000000"/>
                </a:solidFill>
                <a:latin typeface="Arial"/>
              </a:rPr>
              <a:t>mode</a:t>
            </a:r>
            <a:r>
              <a:rPr lang="ca-ES-valencia" sz="1200" b="0" strike="noStrike" spc="-1">
                <a:solidFill>
                  <a:srgbClr val="000000"/>
                </a:solidFill>
                <a:latin typeface="Arial"/>
              </a:rPr>
              <a:t>, </a:t>
            </a:r>
            <a:r>
              <a:rPr lang="ca-ES-valencia" sz="1200" b="0" strike="noStrike" spc="-1" err="1">
                <a:solidFill>
                  <a:srgbClr val="000000"/>
                </a:solidFill>
                <a:latin typeface="Arial"/>
              </a:rPr>
              <a:t>fraction_te</a:t>
            </a:r>
            <a:r>
              <a:rPr lang="ca-ES-valencia" sz="1200" b="0" strike="noStrike" spc="-1">
                <a:solidFill>
                  <a:srgbClr val="000000"/>
                </a:solidFill>
                <a:latin typeface="Arial"/>
              </a:rPr>
              <a:t> </a:t>
            </a:r>
            <a:r>
              <a:rPr lang="ca-ES-valencia" sz="1200" b="0" strike="noStrike" spc="-1" err="1">
                <a:solidFill>
                  <a:srgbClr val="000000"/>
                </a:solidFill>
                <a:latin typeface="Arial"/>
              </a:rPr>
              <a:t>is</a:t>
            </a:r>
            <a:r>
              <a:rPr lang="ca-ES-valencia" sz="1200" b="0" strike="noStrike" spc="-1">
                <a:solidFill>
                  <a:srgbClr val="000000"/>
                </a:solidFill>
                <a:latin typeface="Arial"/>
              </a:rPr>
              <a:t> </a:t>
            </a:r>
            <a:r>
              <a:rPr lang="ca-ES-valencia" sz="1200" b="0" strike="noStrike" spc="-1" err="1">
                <a:solidFill>
                  <a:srgbClr val="000000"/>
                </a:solidFill>
                <a:latin typeface="Arial"/>
              </a:rPr>
              <a:t>almost</a:t>
            </a:r>
            <a:r>
              <a:rPr lang="ca-ES-valencia" sz="1200" b="0" strike="noStrike" spc="-1">
                <a:solidFill>
                  <a:srgbClr val="000000"/>
                </a:solidFill>
                <a:latin typeface="Arial"/>
              </a:rPr>
              <a:t> 1, </a:t>
            </a:r>
            <a:r>
              <a:rPr lang="ca-ES-valencia" sz="1200" b="0" strike="noStrike" spc="-1" err="1">
                <a:solidFill>
                  <a:srgbClr val="000000"/>
                </a:solidFill>
                <a:latin typeface="Arial"/>
              </a:rPr>
              <a:t>while</a:t>
            </a:r>
            <a:r>
              <a:rPr lang="ca-ES-valencia" sz="1200" b="0" strike="noStrike" spc="-1">
                <a:solidFill>
                  <a:srgbClr val="000000"/>
                </a:solidFill>
                <a:latin typeface="Arial"/>
              </a:rPr>
              <a:t> </a:t>
            </a:r>
            <a:r>
              <a:rPr lang="ca-ES-valencia" sz="1200" b="0" strike="noStrike" spc="-1" err="1">
                <a:solidFill>
                  <a:srgbClr val="000000"/>
                </a:solidFill>
                <a:latin typeface="Arial"/>
              </a:rPr>
              <a:t>fraction_tm</a:t>
            </a:r>
            <a:r>
              <a:rPr lang="ca-ES-valencia" sz="1200" b="0" strike="noStrike" spc="-1">
                <a:solidFill>
                  <a:srgbClr val="000000"/>
                </a:solidFill>
                <a:latin typeface="Arial"/>
              </a:rPr>
              <a:t> </a:t>
            </a:r>
            <a:r>
              <a:rPr lang="ca-ES-valencia" sz="1200" b="0" strike="noStrike" spc="-1" err="1">
                <a:solidFill>
                  <a:srgbClr val="000000"/>
                </a:solidFill>
                <a:latin typeface="Arial"/>
              </a:rPr>
              <a:t>is</a:t>
            </a:r>
            <a:r>
              <a:rPr lang="ca-ES-valencia" sz="1200" b="0" strike="noStrike" spc="-1">
                <a:solidFill>
                  <a:srgbClr val="000000"/>
                </a:solidFill>
                <a:latin typeface="Arial"/>
              </a:rPr>
              <a:t> </a:t>
            </a:r>
            <a:r>
              <a:rPr lang="ca-ES-valencia" sz="1200" b="0" strike="noStrike" spc="-1" err="1">
                <a:solidFill>
                  <a:srgbClr val="000000"/>
                </a:solidFill>
                <a:latin typeface="Arial"/>
              </a:rPr>
              <a:t>almost</a:t>
            </a:r>
            <a:r>
              <a:rPr lang="ca-ES-valencia" sz="1200" b="0" strike="noStrike" spc="-1">
                <a:solidFill>
                  <a:srgbClr val="000000"/>
                </a:solidFill>
                <a:latin typeface="Arial"/>
              </a:rPr>
              <a:t> 0, </a:t>
            </a:r>
            <a:r>
              <a:rPr lang="ca-ES-valencia" sz="1200" b="0" strike="noStrike" spc="-1" err="1">
                <a:solidFill>
                  <a:srgbClr val="000000"/>
                </a:solidFill>
                <a:latin typeface="Arial"/>
              </a:rPr>
              <a:t>representing</a:t>
            </a:r>
            <a:r>
              <a:rPr lang="ca-ES-valencia" sz="1200" b="0" strike="noStrike" spc="-1">
                <a:solidFill>
                  <a:srgbClr val="000000"/>
                </a:solidFill>
                <a:latin typeface="Arial"/>
              </a:rPr>
              <a:t> a </a:t>
            </a:r>
            <a:r>
              <a:rPr lang="ca-ES-valencia" sz="1200" b="0" strike="noStrike" spc="-1" err="1">
                <a:solidFill>
                  <a:srgbClr val="000000"/>
                </a:solidFill>
                <a:latin typeface="Arial"/>
              </a:rPr>
              <a:t>clear</a:t>
            </a:r>
            <a:r>
              <a:rPr lang="ca-ES-valencia" sz="1200" b="0" strike="noStrike" spc="-1">
                <a:solidFill>
                  <a:srgbClr val="000000"/>
                </a:solidFill>
                <a:latin typeface="Arial"/>
              </a:rPr>
              <a:t> TE0 </a:t>
            </a:r>
            <a:r>
              <a:rPr lang="ca-ES-valencia" sz="1200" b="0" strike="noStrike" spc="-1" err="1">
                <a:solidFill>
                  <a:srgbClr val="000000"/>
                </a:solidFill>
                <a:latin typeface="Arial"/>
              </a:rPr>
              <a:t>mode</a:t>
            </a:r>
            <a:r>
              <a:rPr lang="ca-ES-valencia" sz="1200" b="0" strike="noStrike" spc="-1">
                <a:solidFill>
                  <a:srgbClr val="000000"/>
                </a:solidFill>
                <a:latin typeface="Arial"/>
              </a:rPr>
              <a:t>. </a:t>
            </a:r>
            <a:r>
              <a:rPr lang="ca-ES-valencia" sz="1200" b="0" strike="noStrike" spc="-1" err="1">
                <a:solidFill>
                  <a:srgbClr val="000000"/>
                </a:solidFill>
                <a:latin typeface="Arial"/>
              </a:rPr>
              <a:t>Analogously</a:t>
            </a:r>
            <a:r>
              <a:rPr lang="ca-ES-valencia" sz="1200" b="0" strike="noStrike" spc="-1">
                <a:solidFill>
                  <a:srgbClr val="000000"/>
                </a:solidFill>
                <a:latin typeface="Arial"/>
              </a:rPr>
              <a:t>, </a:t>
            </a:r>
            <a:r>
              <a:rPr lang="ca-ES-valencia" sz="1200" b="0" strike="noStrike" spc="-1" err="1">
                <a:solidFill>
                  <a:srgbClr val="000000"/>
                </a:solidFill>
                <a:latin typeface="Arial"/>
              </a:rPr>
              <a:t>for</a:t>
            </a:r>
            <a:r>
              <a:rPr lang="ca-ES-valencia" sz="1200" b="0" strike="noStrike" spc="-1">
                <a:solidFill>
                  <a:srgbClr val="000000"/>
                </a:solidFill>
                <a:latin typeface="Arial"/>
              </a:rPr>
              <a:t> </a:t>
            </a:r>
            <a:r>
              <a:rPr lang="ca-ES-valencia" sz="1200" b="0" strike="noStrike" spc="-1" err="1">
                <a:solidFill>
                  <a:srgbClr val="000000"/>
                </a:solidFill>
                <a:latin typeface="Arial"/>
              </a:rPr>
              <a:t>the</a:t>
            </a:r>
            <a:r>
              <a:rPr lang="ca-ES-valencia" sz="1200" b="0" strike="noStrike" spc="-1">
                <a:solidFill>
                  <a:srgbClr val="000000"/>
                </a:solidFill>
                <a:latin typeface="Arial"/>
              </a:rPr>
              <a:t> </a:t>
            </a:r>
            <a:r>
              <a:rPr lang="ca-ES-valencia" sz="1200" b="0" strike="noStrike" spc="-1" err="1">
                <a:solidFill>
                  <a:srgbClr val="000000"/>
                </a:solidFill>
                <a:latin typeface="Arial"/>
              </a:rPr>
              <a:t>second</a:t>
            </a:r>
            <a:r>
              <a:rPr lang="ca-ES-valencia" sz="1200" b="0" strike="noStrike" spc="-1">
                <a:solidFill>
                  <a:srgbClr val="000000"/>
                </a:solidFill>
                <a:latin typeface="Arial"/>
              </a:rPr>
              <a:t> </a:t>
            </a:r>
            <a:r>
              <a:rPr lang="ca-ES-valencia" sz="1200" b="0" strike="noStrike" spc="-1" err="1">
                <a:solidFill>
                  <a:srgbClr val="000000"/>
                </a:solidFill>
                <a:latin typeface="Arial"/>
              </a:rPr>
              <a:t>mode</a:t>
            </a:r>
            <a:r>
              <a:rPr lang="ca-ES-valencia" sz="1200" b="0" strike="noStrike" spc="-1">
                <a:solidFill>
                  <a:srgbClr val="000000"/>
                </a:solidFill>
                <a:latin typeface="Arial"/>
              </a:rPr>
              <a:t>, </a:t>
            </a:r>
            <a:r>
              <a:rPr lang="ca-ES-valencia" sz="1200" b="0" strike="noStrike" spc="-1" err="1">
                <a:solidFill>
                  <a:srgbClr val="000000"/>
                </a:solidFill>
                <a:latin typeface="Arial"/>
              </a:rPr>
              <a:t>fraction_te</a:t>
            </a:r>
            <a:r>
              <a:rPr lang="ca-ES-valencia" sz="1200" b="0" strike="noStrike" spc="-1">
                <a:solidFill>
                  <a:srgbClr val="000000"/>
                </a:solidFill>
                <a:latin typeface="Arial"/>
              </a:rPr>
              <a:t> </a:t>
            </a:r>
            <a:r>
              <a:rPr lang="ca-ES-valencia" sz="1200" b="0" strike="noStrike" spc="-1" err="1">
                <a:solidFill>
                  <a:srgbClr val="000000"/>
                </a:solidFill>
                <a:latin typeface="Arial"/>
              </a:rPr>
              <a:t>is</a:t>
            </a:r>
            <a:r>
              <a:rPr lang="ca-ES-valencia" sz="1200" b="0" strike="noStrike" spc="-1">
                <a:solidFill>
                  <a:srgbClr val="000000"/>
                </a:solidFill>
                <a:latin typeface="Arial"/>
              </a:rPr>
              <a:t> </a:t>
            </a:r>
            <a:r>
              <a:rPr lang="ca-ES-valencia" sz="1200" b="0" strike="noStrike" spc="-1" err="1">
                <a:solidFill>
                  <a:srgbClr val="000000"/>
                </a:solidFill>
                <a:latin typeface="Arial"/>
              </a:rPr>
              <a:t>almost</a:t>
            </a:r>
            <a:r>
              <a:rPr lang="ca-ES-valencia" sz="1200" b="0" strike="noStrike" spc="-1">
                <a:solidFill>
                  <a:srgbClr val="000000"/>
                </a:solidFill>
                <a:latin typeface="Arial"/>
              </a:rPr>
              <a:t> 0 and </a:t>
            </a:r>
            <a:r>
              <a:rPr lang="ca-ES-valencia" sz="1200" b="0" strike="noStrike" spc="-1" err="1">
                <a:solidFill>
                  <a:srgbClr val="000000"/>
                </a:solidFill>
                <a:latin typeface="Arial"/>
              </a:rPr>
              <a:t>fraction_tm</a:t>
            </a:r>
            <a:r>
              <a:rPr lang="ca-ES-valencia" sz="1200" b="0" strike="noStrike" spc="-1">
                <a:solidFill>
                  <a:srgbClr val="000000"/>
                </a:solidFill>
                <a:latin typeface="Arial"/>
              </a:rPr>
              <a:t> </a:t>
            </a:r>
            <a:r>
              <a:rPr lang="ca-ES-valencia" sz="1200" b="0" strike="noStrike" spc="-1" err="1">
                <a:solidFill>
                  <a:srgbClr val="000000"/>
                </a:solidFill>
                <a:latin typeface="Arial"/>
              </a:rPr>
              <a:t>is</a:t>
            </a:r>
            <a:r>
              <a:rPr lang="ca-ES-valencia" sz="1200" b="0" strike="noStrike" spc="-1">
                <a:solidFill>
                  <a:srgbClr val="000000"/>
                </a:solidFill>
                <a:latin typeface="Arial"/>
              </a:rPr>
              <a:t> </a:t>
            </a:r>
            <a:r>
              <a:rPr lang="ca-ES-valencia" sz="1200" b="0" strike="noStrike" spc="-1" err="1">
                <a:solidFill>
                  <a:srgbClr val="000000"/>
                </a:solidFill>
                <a:latin typeface="Arial"/>
              </a:rPr>
              <a:t>almost</a:t>
            </a:r>
            <a:r>
              <a:rPr lang="ca-ES-valencia" sz="1200" b="0" strike="noStrike" spc="-1">
                <a:solidFill>
                  <a:srgbClr val="000000"/>
                </a:solidFill>
                <a:latin typeface="Arial"/>
              </a:rPr>
              <a:t> 1, </a:t>
            </a:r>
            <a:r>
              <a:rPr lang="ca-ES-valencia" sz="1200" b="0" strike="noStrike" spc="-1" err="1">
                <a:solidFill>
                  <a:srgbClr val="000000"/>
                </a:solidFill>
                <a:latin typeface="Arial"/>
              </a:rPr>
              <a:t>representing</a:t>
            </a:r>
            <a:r>
              <a:rPr lang="ca-ES-valencia" sz="1200" b="0" strike="noStrike" spc="-1">
                <a:solidFill>
                  <a:srgbClr val="000000"/>
                </a:solidFill>
                <a:latin typeface="Arial"/>
              </a:rPr>
              <a:t> </a:t>
            </a:r>
            <a:r>
              <a:rPr lang="ca-ES-valencia" sz="1200" b="0" strike="noStrike" spc="-1" err="1">
                <a:solidFill>
                  <a:srgbClr val="000000"/>
                </a:solidFill>
                <a:latin typeface="Arial"/>
              </a:rPr>
              <a:t>the</a:t>
            </a:r>
            <a:r>
              <a:rPr lang="ca-ES-valencia" sz="1200" b="0" strike="noStrike" spc="-1">
                <a:solidFill>
                  <a:srgbClr val="000000"/>
                </a:solidFill>
                <a:latin typeface="Arial"/>
              </a:rPr>
              <a:t> TM0 </a:t>
            </a:r>
            <a:r>
              <a:rPr lang="ca-ES-valencia" sz="1200" b="0" strike="noStrike" spc="-1" err="1">
                <a:solidFill>
                  <a:srgbClr val="000000"/>
                </a:solidFill>
                <a:latin typeface="Arial"/>
              </a:rPr>
              <a:t>mode</a:t>
            </a:r>
            <a:r>
              <a:rPr lang="ca-ES-valencia" sz="1200" b="0" strike="noStrike" spc="-1">
                <a:solidFill>
                  <a:srgbClr val="000000"/>
                </a:solidFill>
                <a:latin typeface="Arial"/>
              </a:rPr>
              <a:t>.</a:t>
            </a:r>
            <a:endParaRPr lang="es-ES" sz="1200" b="0" strike="noStrike" spc="-1">
              <a:solidFill>
                <a:srgbClr val="000000"/>
              </a:solidFill>
              <a:latin typeface="Arial"/>
            </a:endParaRPr>
          </a:p>
        </p:txBody>
      </p:sp>
      <p:sp>
        <p:nvSpPr>
          <p:cNvPr id="4" name="PlaceHolder 3">
            <a:extLst>
              <a:ext uri="{FF2B5EF4-FFF2-40B4-BE49-F238E27FC236}">
                <a16:creationId xmlns:a16="http://schemas.microsoft.com/office/drawing/2014/main" id="{CE4D227F-1562-0DD8-C737-7C6A350917C6}"/>
              </a:ext>
            </a:extLst>
          </p:cNvPr>
          <p:cNvSpPr>
            <a:spLocks noGrp="1"/>
          </p:cNvSpPr>
          <p:nvPr>
            <p:ph type="sldNum" idx="5"/>
          </p:nvPr>
        </p:nvSpPr>
        <p:spPr/>
        <p:txBody>
          <a:bodyPr/>
          <a:lstStyle/>
          <a:p>
            <a:fld id="{23AA0A5E-593B-4736-9FB8-836C9D80AF65}" type="slidenum">
              <a:rPr/>
              <a:t>4</a:t>
            </a:fld>
            <a:endParaRPr/>
          </a:p>
        </p:txBody>
      </p:sp>
      <p:grpSp>
        <p:nvGrpSpPr>
          <p:cNvPr id="19" name="Grupo 18">
            <a:extLst>
              <a:ext uri="{FF2B5EF4-FFF2-40B4-BE49-F238E27FC236}">
                <a16:creationId xmlns:a16="http://schemas.microsoft.com/office/drawing/2014/main" id="{97331C1E-AA89-8DF4-F827-4A56316CA3F4}"/>
              </a:ext>
            </a:extLst>
          </p:cNvPr>
          <p:cNvGrpSpPr/>
          <p:nvPr/>
        </p:nvGrpSpPr>
        <p:grpSpPr>
          <a:xfrm>
            <a:off x="5880000" y="1249134"/>
            <a:ext cx="5928360" cy="677652"/>
            <a:chOff x="5880000" y="1249134"/>
            <a:chExt cx="5928360" cy="677652"/>
          </a:xfrm>
        </p:grpSpPr>
        <p:pic>
          <p:nvPicPr>
            <p:cNvPr id="7" name="Imagen 6">
              <a:extLst>
                <a:ext uri="{FF2B5EF4-FFF2-40B4-BE49-F238E27FC236}">
                  <a16:creationId xmlns:a16="http://schemas.microsoft.com/office/drawing/2014/main" id="{094ECE2B-7477-B344-BC80-C83035D317F8}"/>
                </a:ext>
              </a:extLst>
            </p:cNvPr>
            <p:cNvPicPr>
              <a:picLocks noChangeAspect="1"/>
            </p:cNvPicPr>
            <p:nvPr/>
          </p:nvPicPr>
          <p:blipFill>
            <a:blip r:embed="rId4"/>
            <a:stretch>
              <a:fillRect/>
            </a:stretch>
          </p:blipFill>
          <p:spPr>
            <a:xfrm>
              <a:off x="5880000" y="1249134"/>
              <a:ext cx="5928360" cy="677652"/>
            </a:xfrm>
            <a:prstGeom prst="rect">
              <a:avLst/>
            </a:prstGeom>
          </p:spPr>
        </p:pic>
        <p:sp>
          <p:nvSpPr>
            <p:cNvPr id="13" name="Elipse 12">
              <a:extLst>
                <a:ext uri="{FF2B5EF4-FFF2-40B4-BE49-F238E27FC236}">
                  <a16:creationId xmlns:a16="http://schemas.microsoft.com/office/drawing/2014/main" id="{71885677-0CF5-B707-FC98-1A4FAB4AE8BC}"/>
                </a:ext>
              </a:extLst>
            </p:cNvPr>
            <p:cNvSpPr/>
            <p:nvPr/>
          </p:nvSpPr>
          <p:spPr>
            <a:xfrm>
              <a:off x="6387385" y="1307407"/>
              <a:ext cx="1147271" cy="255995"/>
            </a:xfrm>
            <a:prstGeom prst="ellipse">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18" name="Grupo 17">
            <a:extLst>
              <a:ext uri="{FF2B5EF4-FFF2-40B4-BE49-F238E27FC236}">
                <a16:creationId xmlns:a16="http://schemas.microsoft.com/office/drawing/2014/main" id="{94420ED9-BDB3-54EC-17D9-00E0E44E79E0}"/>
              </a:ext>
            </a:extLst>
          </p:cNvPr>
          <p:cNvGrpSpPr/>
          <p:nvPr/>
        </p:nvGrpSpPr>
        <p:grpSpPr>
          <a:xfrm>
            <a:off x="609480" y="1481219"/>
            <a:ext cx="5195137" cy="1384774"/>
            <a:chOff x="609480" y="1481219"/>
            <a:chExt cx="5195137" cy="1384774"/>
          </a:xfrm>
        </p:grpSpPr>
        <p:pic>
          <p:nvPicPr>
            <p:cNvPr id="3" name="Imagen 2">
              <a:extLst>
                <a:ext uri="{FF2B5EF4-FFF2-40B4-BE49-F238E27FC236}">
                  <a16:creationId xmlns:a16="http://schemas.microsoft.com/office/drawing/2014/main" id="{E65184B1-502F-D3E8-A9DF-DCB6274FC5ED}"/>
                </a:ext>
              </a:extLst>
            </p:cNvPr>
            <p:cNvPicPr>
              <a:picLocks noChangeAspect="1"/>
            </p:cNvPicPr>
            <p:nvPr/>
          </p:nvPicPr>
          <p:blipFill>
            <a:blip r:embed="rId5"/>
            <a:stretch>
              <a:fillRect/>
            </a:stretch>
          </p:blipFill>
          <p:spPr>
            <a:xfrm>
              <a:off x="609480" y="1481219"/>
              <a:ext cx="5195137" cy="1384774"/>
            </a:xfrm>
            <a:prstGeom prst="rect">
              <a:avLst/>
            </a:prstGeom>
          </p:spPr>
        </p:pic>
        <p:sp>
          <p:nvSpPr>
            <p:cNvPr id="12" name="Elipse 11">
              <a:extLst>
                <a:ext uri="{FF2B5EF4-FFF2-40B4-BE49-F238E27FC236}">
                  <a16:creationId xmlns:a16="http://schemas.microsoft.com/office/drawing/2014/main" id="{1E59AF32-0BDC-FAD3-5DB0-1DDEC200BDF6}"/>
                </a:ext>
              </a:extLst>
            </p:cNvPr>
            <p:cNvSpPr/>
            <p:nvPr/>
          </p:nvSpPr>
          <p:spPr>
            <a:xfrm>
              <a:off x="1251408" y="1566000"/>
              <a:ext cx="2100192" cy="255995"/>
            </a:xfrm>
            <a:prstGeom prst="ellipse">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Elipse 13">
              <a:extLst>
                <a:ext uri="{FF2B5EF4-FFF2-40B4-BE49-F238E27FC236}">
                  <a16:creationId xmlns:a16="http://schemas.microsoft.com/office/drawing/2014/main" id="{3A3A3722-8A80-E4FF-08E6-A348841022CC}"/>
                </a:ext>
              </a:extLst>
            </p:cNvPr>
            <p:cNvSpPr/>
            <p:nvPr/>
          </p:nvSpPr>
          <p:spPr>
            <a:xfrm>
              <a:off x="3330816" y="1563402"/>
              <a:ext cx="2100192" cy="255995"/>
            </a:xfrm>
            <a:prstGeom prst="ellipse">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20" name="Grupo 19">
            <a:extLst>
              <a:ext uri="{FF2B5EF4-FFF2-40B4-BE49-F238E27FC236}">
                <a16:creationId xmlns:a16="http://schemas.microsoft.com/office/drawing/2014/main" id="{9BB95BAB-787F-DCAC-BF1D-BA422452D69E}"/>
              </a:ext>
            </a:extLst>
          </p:cNvPr>
          <p:cNvGrpSpPr/>
          <p:nvPr/>
        </p:nvGrpSpPr>
        <p:grpSpPr>
          <a:xfrm>
            <a:off x="5880000" y="2322283"/>
            <a:ext cx="5928360" cy="743627"/>
            <a:chOff x="5880000" y="2322283"/>
            <a:chExt cx="5928360" cy="743627"/>
          </a:xfrm>
        </p:grpSpPr>
        <p:pic>
          <p:nvPicPr>
            <p:cNvPr id="10" name="Imagen 9">
              <a:extLst>
                <a:ext uri="{FF2B5EF4-FFF2-40B4-BE49-F238E27FC236}">
                  <a16:creationId xmlns:a16="http://schemas.microsoft.com/office/drawing/2014/main" id="{2A3BE299-1F73-90D1-046D-7C90E9B14D92}"/>
                </a:ext>
              </a:extLst>
            </p:cNvPr>
            <p:cNvPicPr>
              <a:picLocks noChangeAspect="1"/>
            </p:cNvPicPr>
            <p:nvPr/>
          </p:nvPicPr>
          <p:blipFill>
            <a:blip r:embed="rId6"/>
            <a:stretch>
              <a:fillRect/>
            </a:stretch>
          </p:blipFill>
          <p:spPr>
            <a:xfrm>
              <a:off x="5880000" y="2322283"/>
              <a:ext cx="5928360" cy="743627"/>
            </a:xfrm>
            <a:prstGeom prst="rect">
              <a:avLst/>
            </a:prstGeom>
          </p:spPr>
        </p:pic>
        <p:sp>
          <p:nvSpPr>
            <p:cNvPr id="15" name="Elipse 14">
              <a:extLst>
                <a:ext uri="{FF2B5EF4-FFF2-40B4-BE49-F238E27FC236}">
                  <a16:creationId xmlns:a16="http://schemas.microsoft.com/office/drawing/2014/main" id="{76095083-6ED8-8B30-2668-D70C54F095C7}"/>
                </a:ext>
              </a:extLst>
            </p:cNvPr>
            <p:cNvSpPr/>
            <p:nvPr/>
          </p:nvSpPr>
          <p:spPr>
            <a:xfrm>
              <a:off x="7707744" y="2336173"/>
              <a:ext cx="1353960" cy="255995"/>
            </a:xfrm>
            <a:prstGeom prst="ellipse">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7" name="CuadroTexto 1">
            <a:extLst>
              <a:ext uri="{FF2B5EF4-FFF2-40B4-BE49-F238E27FC236}">
                <a16:creationId xmlns:a16="http://schemas.microsoft.com/office/drawing/2014/main" id="{5D4E005C-6CE3-9E2A-EDE8-5AECAFFF869F}"/>
              </a:ext>
            </a:extLst>
          </p:cNvPr>
          <p:cNvSpPr/>
          <p:nvPr/>
        </p:nvSpPr>
        <p:spPr>
          <a:xfrm>
            <a:off x="2531160" y="1107621"/>
            <a:ext cx="1640880" cy="275545"/>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a:r>
              <a:rPr lang="ca-ES-valencia" sz="1200" spc="-1">
                <a:solidFill>
                  <a:srgbClr val="000000"/>
                </a:solidFill>
                <a:latin typeface="Arial"/>
              </a:rPr>
              <a:t>n_clad&lt;n_eff&lt;n_core</a:t>
            </a:r>
            <a:endParaRPr lang="es-ES" sz="1200" b="0" strike="noStrike" spc="-1">
              <a:solidFill>
                <a:srgbClr val="000000"/>
              </a:solidFill>
              <a:latin typeface="Arial"/>
            </a:endParaRPr>
          </a:p>
        </p:txBody>
      </p:sp>
      <p:sp>
        <p:nvSpPr>
          <p:cNvPr id="5" name="CuadroTexto 1">
            <a:extLst>
              <a:ext uri="{FF2B5EF4-FFF2-40B4-BE49-F238E27FC236}">
                <a16:creationId xmlns:a16="http://schemas.microsoft.com/office/drawing/2014/main" id="{8A51DB77-D2A8-7AE8-ACB3-D3ED3F8DDD51}"/>
              </a:ext>
            </a:extLst>
          </p:cNvPr>
          <p:cNvSpPr/>
          <p:nvPr/>
        </p:nvSpPr>
        <p:spPr>
          <a:xfrm>
            <a:off x="612648" y="1225224"/>
            <a:ext cx="638760" cy="275545"/>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a:r>
              <a:rPr lang="ca-ES-valencia" sz="1200" spc="-1">
                <a:solidFill>
                  <a:srgbClr val="000000"/>
                </a:solidFill>
                <a:latin typeface="Arial"/>
              </a:rPr>
              <a:t>n_eff:</a:t>
            </a:r>
            <a:endParaRPr lang="es-ES" sz="1200" b="0" strike="noStrike" spc="-1">
              <a:solidFill>
                <a:srgbClr val="000000"/>
              </a:solidFill>
              <a:latin typeface="Arial"/>
            </a:endParaRPr>
          </a:p>
        </p:txBody>
      </p:sp>
      <p:sp>
        <p:nvSpPr>
          <p:cNvPr id="8" name="CuadroTexto 1">
            <a:extLst>
              <a:ext uri="{FF2B5EF4-FFF2-40B4-BE49-F238E27FC236}">
                <a16:creationId xmlns:a16="http://schemas.microsoft.com/office/drawing/2014/main" id="{4FDBC4D6-DDC0-90FE-2D83-FCC9B0B133B0}"/>
              </a:ext>
            </a:extLst>
          </p:cNvPr>
          <p:cNvSpPr/>
          <p:nvPr/>
        </p:nvSpPr>
        <p:spPr>
          <a:xfrm>
            <a:off x="5863080" y="987479"/>
            <a:ext cx="1004064" cy="275545"/>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a:r>
              <a:rPr lang="ca-ES-valencia" sz="1200" spc="-1">
                <a:solidFill>
                  <a:srgbClr val="000000"/>
                </a:solidFill>
                <a:latin typeface="Arial"/>
              </a:rPr>
              <a:t>fraction_te:</a:t>
            </a:r>
            <a:endParaRPr lang="es-ES" sz="1200" b="0" strike="noStrike" spc="-1">
              <a:solidFill>
                <a:srgbClr val="000000"/>
              </a:solidFill>
              <a:latin typeface="Arial"/>
            </a:endParaRPr>
          </a:p>
        </p:txBody>
      </p:sp>
      <p:sp>
        <p:nvSpPr>
          <p:cNvPr id="11" name="CuadroTexto 1">
            <a:extLst>
              <a:ext uri="{FF2B5EF4-FFF2-40B4-BE49-F238E27FC236}">
                <a16:creationId xmlns:a16="http://schemas.microsoft.com/office/drawing/2014/main" id="{0F275844-7E20-9EE2-6C7E-DBDACC00A6EA}"/>
              </a:ext>
            </a:extLst>
          </p:cNvPr>
          <p:cNvSpPr/>
          <p:nvPr/>
        </p:nvSpPr>
        <p:spPr>
          <a:xfrm>
            <a:off x="5885353" y="2067162"/>
            <a:ext cx="1004064" cy="275545"/>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a:r>
              <a:rPr lang="ca-ES-valencia" sz="1200" spc="-1">
                <a:solidFill>
                  <a:srgbClr val="000000"/>
                </a:solidFill>
                <a:latin typeface="Arial"/>
              </a:rPr>
              <a:t>fraction_tm:</a:t>
            </a:r>
            <a:endParaRPr lang="es-ES" sz="1200" b="0" strike="noStrike" spc="-1">
              <a:solidFill>
                <a:srgbClr val="000000"/>
              </a:solidFill>
              <a:latin typeface="Arial"/>
            </a:endParaRPr>
          </a:p>
        </p:txBody>
      </p:sp>
    </p:spTree>
    <p:extLst>
      <p:ext uri="{BB962C8B-B14F-4D97-AF65-F5344CB8AC3E}">
        <p14:creationId xmlns:p14="http://schemas.microsoft.com/office/powerpoint/2010/main" val="50585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735CA-AA98-010F-019A-25F5819E84B8}"/>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E0BDABC8-4D13-3DC7-6B8C-E250AEEC30D6}"/>
              </a:ext>
            </a:extLst>
          </p:cNvPr>
          <p:cNvPicPr>
            <a:picLocks noChangeAspect="1"/>
          </p:cNvPicPr>
          <p:nvPr/>
        </p:nvPicPr>
        <p:blipFill>
          <a:blip r:embed="rId3"/>
          <a:stretch>
            <a:fillRect/>
          </a:stretch>
        </p:blipFill>
        <p:spPr>
          <a:xfrm>
            <a:off x="609480" y="1004364"/>
            <a:ext cx="5096637" cy="3430090"/>
          </a:xfrm>
          <a:prstGeom prst="rect">
            <a:avLst/>
          </a:prstGeom>
        </p:spPr>
      </p:pic>
      <p:pic>
        <p:nvPicPr>
          <p:cNvPr id="19" name="Imagen 18">
            <a:extLst>
              <a:ext uri="{FF2B5EF4-FFF2-40B4-BE49-F238E27FC236}">
                <a16:creationId xmlns:a16="http://schemas.microsoft.com/office/drawing/2014/main" id="{93579F90-9665-F5E9-1DF7-18695266C4FB}"/>
              </a:ext>
            </a:extLst>
          </p:cNvPr>
          <p:cNvPicPr>
            <a:picLocks noChangeAspect="1"/>
          </p:cNvPicPr>
          <p:nvPr/>
        </p:nvPicPr>
        <p:blipFill>
          <a:blip r:embed="rId4"/>
          <a:stretch>
            <a:fillRect/>
          </a:stretch>
        </p:blipFill>
        <p:spPr>
          <a:xfrm>
            <a:off x="6000750" y="823919"/>
            <a:ext cx="5505450" cy="3705225"/>
          </a:xfrm>
          <a:prstGeom prst="rect">
            <a:avLst/>
          </a:prstGeom>
        </p:spPr>
      </p:pic>
      <p:sp>
        <p:nvSpPr>
          <p:cNvPr id="74" name="PlaceHolder 1">
            <a:extLst>
              <a:ext uri="{FF2B5EF4-FFF2-40B4-BE49-F238E27FC236}">
                <a16:creationId xmlns:a16="http://schemas.microsoft.com/office/drawing/2014/main" id="{C7738244-D99C-6771-51FA-649D3F218037}"/>
              </a:ext>
            </a:extLst>
          </p:cNvPr>
          <p:cNvSpPr>
            <a:spLocks noGrp="1"/>
          </p:cNvSpPr>
          <p:nvPr>
            <p:ph type="title"/>
          </p:nvPr>
        </p:nvSpPr>
        <p:spPr>
          <a:xfrm>
            <a:off x="685800" y="408960"/>
            <a:ext cx="10993320" cy="1157040"/>
          </a:xfrm>
          <a:prstGeom prst="rect">
            <a:avLst/>
          </a:prstGeom>
          <a:noFill/>
          <a:ln w="0">
            <a:noFill/>
          </a:ln>
        </p:spPr>
        <p:txBody>
          <a:bodyPr lIns="0" tIns="12600" rIns="0" bIns="0" anchor="t">
            <a:noAutofit/>
          </a:bodyPr>
          <a:lstStyle/>
          <a:p>
            <a:pPr marL="12600" indent="0">
              <a:lnSpc>
                <a:spcPct val="100000"/>
              </a:lnSpc>
              <a:spcBef>
                <a:spcPts val="99"/>
              </a:spcBef>
              <a:buNone/>
              <a:tabLst>
                <a:tab pos="0" algn="l"/>
              </a:tabLst>
            </a:pPr>
            <a:r>
              <a:rPr lang="en-US" sz="2500" b="1" strike="noStrike" spc="-1">
                <a:solidFill>
                  <a:schemeClr val="dk1"/>
                </a:solidFill>
                <a:latin typeface="Calibri"/>
              </a:rPr>
              <a:t>Learning outcome #1 – Effective index of a waveguide</a:t>
            </a:r>
            <a:br>
              <a:rPr sz="2500"/>
            </a:br>
            <a:endParaRPr lang="es-ES" sz="2500" b="0" strike="noStrike" spc="-1">
              <a:solidFill>
                <a:srgbClr val="000000"/>
              </a:solidFill>
              <a:latin typeface="Arial"/>
            </a:endParaRPr>
          </a:p>
        </p:txBody>
      </p:sp>
      <p:pic>
        <p:nvPicPr>
          <p:cNvPr id="75" name="Gráfico 82">
            <a:extLst>
              <a:ext uri="{FF2B5EF4-FFF2-40B4-BE49-F238E27FC236}">
                <a16:creationId xmlns:a16="http://schemas.microsoft.com/office/drawing/2014/main" id="{A395AEA3-DEE4-A7E2-B473-836B7DF8BB98}"/>
              </a:ext>
            </a:extLst>
          </p:cNvPr>
          <p:cNvPicPr/>
          <p:nvPr/>
        </p:nvPicPr>
        <p:blipFill>
          <a:blip r:embed="rId5"/>
          <a:stretch/>
        </p:blipFill>
        <p:spPr>
          <a:xfrm>
            <a:off x="5045040" y="6356160"/>
            <a:ext cx="6408360" cy="362160"/>
          </a:xfrm>
          <a:prstGeom prst="rect">
            <a:avLst/>
          </a:prstGeom>
          <a:ln w="0">
            <a:noFill/>
          </a:ln>
        </p:spPr>
      </p:pic>
      <p:sp>
        <p:nvSpPr>
          <p:cNvPr id="76" name="PlaceHolder 2">
            <a:extLst>
              <a:ext uri="{FF2B5EF4-FFF2-40B4-BE49-F238E27FC236}">
                <a16:creationId xmlns:a16="http://schemas.microsoft.com/office/drawing/2014/main" id="{24D1261E-FD8E-115B-A398-E72EB487DD8A}"/>
              </a:ext>
            </a:extLst>
          </p:cNvPr>
          <p:cNvSpPr>
            <a:spLocks noGrp="1"/>
          </p:cNvSpPr>
          <p:nvPr>
            <p:ph type="ftr" idx="17"/>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78" name="CuadroTexto 1">
            <a:extLst>
              <a:ext uri="{FF2B5EF4-FFF2-40B4-BE49-F238E27FC236}">
                <a16:creationId xmlns:a16="http://schemas.microsoft.com/office/drawing/2014/main" id="{85F47DF7-DCFA-28F3-EAAF-33B404C42F90}"/>
              </a:ext>
            </a:extLst>
          </p:cNvPr>
          <p:cNvSpPr/>
          <p:nvPr/>
        </p:nvSpPr>
        <p:spPr>
          <a:xfrm>
            <a:off x="609480" y="4568096"/>
            <a:ext cx="4950072" cy="1014209"/>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marL="171450" indent="-171450" algn="just" defTabSz="914400">
              <a:lnSpc>
                <a:spcPct val="100000"/>
              </a:lnSpc>
              <a:buFont typeface="Arial" panose="020B0604020202020204" pitchFamily="34" charset="0"/>
              <a:buChar char="•"/>
            </a:pPr>
            <a:r>
              <a:rPr lang="ca-ES-valencia" sz="1200" spc="-1" noProof="0">
                <a:solidFill>
                  <a:srgbClr val="000000"/>
                </a:solidFill>
                <a:latin typeface="Arial"/>
              </a:rPr>
              <a:t>In TE0 mode, </a:t>
            </a:r>
            <a:r>
              <a:rPr lang="en-US" sz="1200" spc="-1">
                <a:solidFill>
                  <a:srgbClr val="000000"/>
                </a:solidFill>
                <a:latin typeface="Arial"/>
              </a:rPr>
              <a:t>w</a:t>
            </a:r>
            <a:r>
              <a:rPr lang="en-US" sz="1200" spc="-1" noProof="0">
                <a:solidFill>
                  <a:srgbClr val="000000"/>
                </a:solidFill>
                <a:latin typeface="Arial"/>
              </a:rPr>
              <a:t>e observe discontinuities at the walls along the x-axis, corresponding to the side walls, this leads to a conclusion that in TE mode, the construction of this side walls is critic, if we want to avoid field leakage.</a:t>
            </a:r>
          </a:p>
          <a:p>
            <a:pPr marL="171450" indent="-171450" algn="just" defTabSz="914400">
              <a:lnSpc>
                <a:spcPct val="100000"/>
              </a:lnSpc>
              <a:buFont typeface="Arial" panose="020B0604020202020204" pitchFamily="34" charset="0"/>
              <a:buChar char="•"/>
            </a:pPr>
            <a:r>
              <a:rPr lang="en-US" sz="1200" spc="-1" noProof="0">
                <a:solidFill>
                  <a:srgbClr val="000000"/>
                </a:solidFill>
                <a:latin typeface="Arial"/>
              </a:rPr>
              <a:t>We see that the field is confined within the core, as predicted.</a:t>
            </a:r>
          </a:p>
        </p:txBody>
      </p:sp>
      <p:sp>
        <p:nvSpPr>
          <p:cNvPr id="4" name="PlaceHolder 3">
            <a:extLst>
              <a:ext uri="{FF2B5EF4-FFF2-40B4-BE49-F238E27FC236}">
                <a16:creationId xmlns:a16="http://schemas.microsoft.com/office/drawing/2014/main" id="{5ED48F95-D82C-9227-B69B-7E60CDF9627F}"/>
              </a:ext>
            </a:extLst>
          </p:cNvPr>
          <p:cNvSpPr>
            <a:spLocks noGrp="1"/>
          </p:cNvSpPr>
          <p:nvPr>
            <p:ph type="sldNum" idx="5"/>
          </p:nvPr>
        </p:nvSpPr>
        <p:spPr/>
        <p:txBody>
          <a:bodyPr/>
          <a:lstStyle/>
          <a:p>
            <a:fld id="{23AA0A5E-593B-4736-9FB8-836C9D80AF65}" type="slidenum">
              <a:rPr/>
              <a:t>5</a:t>
            </a:fld>
            <a:endParaRPr/>
          </a:p>
        </p:txBody>
      </p:sp>
      <p:sp>
        <p:nvSpPr>
          <p:cNvPr id="20" name="CuadroTexto 1">
            <a:extLst>
              <a:ext uri="{FF2B5EF4-FFF2-40B4-BE49-F238E27FC236}">
                <a16:creationId xmlns:a16="http://schemas.microsoft.com/office/drawing/2014/main" id="{77C7B2E8-93C1-EA7E-DC01-B2E8EEDFA14D}"/>
              </a:ext>
            </a:extLst>
          </p:cNvPr>
          <p:cNvSpPr/>
          <p:nvPr/>
        </p:nvSpPr>
        <p:spPr>
          <a:xfrm>
            <a:off x="6182460" y="4568095"/>
            <a:ext cx="4950072" cy="1568206"/>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marL="171450" indent="-171450" algn="just">
              <a:buFont typeface="Arial" panose="020B0604020202020204" pitchFamily="34" charset="0"/>
              <a:buChar char="•"/>
            </a:pPr>
            <a:r>
              <a:rPr lang="ca-ES-valencia" sz="1200" spc="-1">
                <a:solidFill>
                  <a:srgbClr val="000000"/>
                </a:solidFill>
              </a:rPr>
              <a:t>In TM0 </a:t>
            </a:r>
            <a:r>
              <a:rPr lang="ca-ES-valencia" sz="1200" spc="-1" err="1">
                <a:solidFill>
                  <a:srgbClr val="000000"/>
                </a:solidFill>
              </a:rPr>
              <a:t>mode</a:t>
            </a:r>
            <a:r>
              <a:rPr lang="ca-ES-valencia" sz="1200" spc="-1">
                <a:solidFill>
                  <a:srgbClr val="000000"/>
                </a:solidFill>
              </a:rPr>
              <a:t>, </a:t>
            </a:r>
            <a:r>
              <a:rPr lang="en-US" sz="1200" spc="-1">
                <a:solidFill>
                  <a:srgbClr val="000000"/>
                </a:solidFill>
              </a:rPr>
              <a:t>we observe discontinuities at the walls along the y-axis, corresponding to the top-low walls, this leads to a conclusion that in TM mode, the construction of these walls is critic, if we want to avoid field leakage.</a:t>
            </a:r>
          </a:p>
          <a:p>
            <a:pPr marL="171450" indent="-171450" algn="just">
              <a:buFont typeface="Arial" panose="020B0604020202020204" pitchFamily="34" charset="0"/>
              <a:buChar char="•"/>
            </a:pPr>
            <a:r>
              <a:rPr lang="en-US" sz="1200" i="1" spc="-1">
                <a:solidFill>
                  <a:srgbClr val="000000"/>
                </a:solidFill>
                <a:cs typeface="Arial"/>
              </a:rPr>
              <a:t>We see that TM0</a:t>
            </a:r>
            <a:r>
              <a:rPr lang="en-US" sz="1200" i="1" spc="-1">
                <a:solidFill>
                  <a:srgbClr val="000000"/>
                </a:solidFill>
                <a:ea typeface="+mn-lt"/>
                <a:cs typeface="+mn-lt"/>
              </a:rPr>
              <a:t> mode is guided, but less confined than TE0 — its field extends further into the cladding due to the boundary conditions imposed by its perpendicular electric field orientation, resulting in a lower effective index.</a:t>
            </a:r>
          </a:p>
        </p:txBody>
      </p:sp>
    </p:spTree>
    <p:extLst>
      <p:ext uri="{BB962C8B-B14F-4D97-AF65-F5344CB8AC3E}">
        <p14:creationId xmlns:p14="http://schemas.microsoft.com/office/powerpoint/2010/main" val="1032359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4A746-9580-A5F4-0DF2-1010DF1BA202}"/>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24A3E27A-E7FC-BD05-FAA4-878598F9BBA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480" y="1169285"/>
            <a:ext cx="5096637" cy="3429432"/>
          </a:xfrm>
          <a:prstGeom prst="rect">
            <a:avLst/>
          </a:prstGeom>
        </p:spPr>
      </p:pic>
      <p:pic>
        <p:nvPicPr>
          <p:cNvPr id="19" name="Imagen 18">
            <a:extLst>
              <a:ext uri="{FF2B5EF4-FFF2-40B4-BE49-F238E27FC236}">
                <a16:creationId xmlns:a16="http://schemas.microsoft.com/office/drawing/2014/main" id="{CD6C7624-5126-E89A-E80C-8EE489EC969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00750" y="1026191"/>
            <a:ext cx="5505450" cy="3629864"/>
          </a:xfrm>
          <a:prstGeom prst="rect">
            <a:avLst/>
          </a:prstGeom>
        </p:spPr>
      </p:pic>
      <p:sp>
        <p:nvSpPr>
          <p:cNvPr id="74" name="PlaceHolder 1">
            <a:extLst>
              <a:ext uri="{FF2B5EF4-FFF2-40B4-BE49-F238E27FC236}">
                <a16:creationId xmlns:a16="http://schemas.microsoft.com/office/drawing/2014/main" id="{79B18134-7C7C-0A51-B277-702678E3C520}"/>
              </a:ext>
            </a:extLst>
          </p:cNvPr>
          <p:cNvSpPr>
            <a:spLocks noGrp="1"/>
          </p:cNvSpPr>
          <p:nvPr>
            <p:ph type="title"/>
          </p:nvPr>
        </p:nvSpPr>
        <p:spPr>
          <a:xfrm>
            <a:off x="685800" y="408960"/>
            <a:ext cx="10993320" cy="1157040"/>
          </a:xfrm>
          <a:prstGeom prst="rect">
            <a:avLst/>
          </a:prstGeom>
          <a:noFill/>
          <a:ln w="0">
            <a:noFill/>
          </a:ln>
        </p:spPr>
        <p:txBody>
          <a:bodyPr lIns="0" tIns="12600" rIns="0" bIns="0" anchor="t">
            <a:noAutofit/>
          </a:bodyPr>
          <a:lstStyle/>
          <a:p>
            <a:pPr marL="12600" indent="0">
              <a:lnSpc>
                <a:spcPct val="100000"/>
              </a:lnSpc>
              <a:spcBef>
                <a:spcPts val="99"/>
              </a:spcBef>
              <a:buNone/>
              <a:tabLst>
                <a:tab pos="0" algn="l"/>
              </a:tabLst>
            </a:pPr>
            <a:r>
              <a:rPr lang="en-US" sz="2500" b="1" strike="noStrike" spc="-1">
                <a:solidFill>
                  <a:schemeClr val="dk1"/>
                </a:solidFill>
                <a:latin typeface="Calibri"/>
              </a:rPr>
              <a:t>Learning outcome #1 – Effective index of a waveguide</a:t>
            </a:r>
            <a:br>
              <a:rPr sz="2500"/>
            </a:br>
            <a:endParaRPr lang="es-ES" sz="2500" b="0" strike="noStrike" spc="-1">
              <a:solidFill>
                <a:srgbClr val="000000"/>
              </a:solidFill>
              <a:latin typeface="Arial"/>
            </a:endParaRPr>
          </a:p>
        </p:txBody>
      </p:sp>
      <p:pic>
        <p:nvPicPr>
          <p:cNvPr id="75" name="Gráfico 82">
            <a:extLst>
              <a:ext uri="{FF2B5EF4-FFF2-40B4-BE49-F238E27FC236}">
                <a16:creationId xmlns:a16="http://schemas.microsoft.com/office/drawing/2014/main" id="{72740EA8-B4EB-36AD-AA4D-94D9A6647711}"/>
              </a:ext>
            </a:extLst>
          </p:cNvPr>
          <p:cNvPicPr/>
          <p:nvPr/>
        </p:nvPicPr>
        <p:blipFill>
          <a:blip r:embed="rId5"/>
          <a:stretch/>
        </p:blipFill>
        <p:spPr>
          <a:xfrm>
            <a:off x="5045040" y="6356160"/>
            <a:ext cx="6408360" cy="362160"/>
          </a:xfrm>
          <a:prstGeom prst="rect">
            <a:avLst/>
          </a:prstGeom>
          <a:ln w="0">
            <a:noFill/>
          </a:ln>
        </p:spPr>
      </p:pic>
      <p:sp>
        <p:nvSpPr>
          <p:cNvPr id="76" name="PlaceHolder 2">
            <a:extLst>
              <a:ext uri="{FF2B5EF4-FFF2-40B4-BE49-F238E27FC236}">
                <a16:creationId xmlns:a16="http://schemas.microsoft.com/office/drawing/2014/main" id="{BF0D7182-961F-CB19-7B22-64BF63F4C547}"/>
              </a:ext>
            </a:extLst>
          </p:cNvPr>
          <p:cNvSpPr>
            <a:spLocks noGrp="1"/>
          </p:cNvSpPr>
          <p:nvPr>
            <p:ph type="ftr" idx="17"/>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78" name="CuadroTexto 1">
            <a:extLst>
              <a:ext uri="{FF2B5EF4-FFF2-40B4-BE49-F238E27FC236}">
                <a16:creationId xmlns:a16="http://schemas.microsoft.com/office/drawing/2014/main" id="{23BE100E-85F0-D21C-E482-3927D30E953D}"/>
              </a:ext>
            </a:extLst>
          </p:cNvPr>
          <p:cNvSpPr/>
          <p:nvPr/>
        </p:nvSpPr>
        <p:spPr>
          <a:xfrm>
            <a:off x="609480" y="4776876"/>
            <a:ext cx="11198880" cy="1014209"/>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ca-ES-valencia" sz="1200" spc="-1" noProof="0">
                <a:solidFill>
                  <a:srgbClr val="000000"/>
                </a:solidFill>
                <a:latin typeface="Arial"/>
              </a:rPr>
              <a:t>These two modes were represented just for as to confirm that the mode isn’t guided for the modes 2 and above. They all represent licky modes, were the fields are not confined in the waveguide, nor the electric and neither the magnetic.</a:t>
            </a:r>
          </a:p>
          <a:p>
            <a:pPr algn="just" defTabSz="914400">
              <a:lnSpc>
                <a:spcPct val="100000"/>
              </a:lnSpc>
            </a:pPr>
            <a:endParaRPr lang="ca-ES-valencia" sz="1200" b="0" strike="noStrike" spc="-1">
              <a:solidFill>
                <a:srgbClr val="000000"/>
              </a:solidFill>
              <a:latin typeface="Arial"/>
            </a:endParaRPr>
          </a:p>
          <a:p>
            <a:pPr algn="just" defTabSz="914400">
              <a:lnSpc>
                <a:spcPct val="100000"/>
              </a:lnSpc>
            </a:pPr>
            <a:r>
              <a:rPr lang="en-US" sz="1200" b="0" strike="noStrike" spc="-1">
                <a:solidFill>
                  <a:srgbClr val="000000"/>
                </a:solidFill>
                <a:latin typeface="Arial"/>
              </a:rPr>
              <a:t>We see the difference in polarities, which gives a 0 in the field propagation at the center of the x-axis for licky mode TE and in the y-axis for licky mode TM, and we see that the field extends more outside the core, which is typical of higher-order modes.</a:t>
            </a:r>
            <a:endParaRPr lang="es-ES" sz="1200" b="0" strike="noStrike" spc="-1">
              <a:solidFill>
                <a:srgbClr val="000000"/>
              </a:solidFill>
              <a:latin typeface="Arial"/>
            </a:endParaRPr>
          </a:p>
        </p:txBody>
      </p:sp>
      <p:sp>
        <p:nvSpPr>
          <p:cNvPr id="4" name="PlaceHolder 3">
            <a:extLst>
              <a:ext uri="{FF2B5EF4-FFF2-40B4-BE49-F238E27FC236}">
                <a16:creationId xmlns:a16="http://schemas.microsoft.com/office/drawing/2014/main" id="{180164D9-CA35-FF18-84FD-F4DBB0616932}"/>
              </a:ext>
            </a:extLst>
          </p:cNvPr>
          <p:cNvSpPr>
            <a:spLocks noGrp="1"/>
          </p:cNvSpPr>
          <p:nvPr>
            <p:ph type="sldNum" idx="5"/>
          </p:nvPr>
        </p:nvSpPr>
        <p:spPr/>
        <p:txBody>
          <a:bodyPr/>
          <a:lstStyle/>
          <a:p>
            <a:fld id="{23AA0A5E-593B-4736-9FB8-836C9D80AF65}" type="slidenum">
              <a:rPr/>
              <a:t>6</a:t>
            </a:fld>
            <a:endParaRPr/>
          </a:p>
        </p:txBody>
      </p:sp>
    </p:spTree>
    <p:extLst>
      <p:ext uri="{BB962C8B-B14F-4D97-AF65-F5344CB8AC3E}">
        <p14:creationId xmlns:p14="http://schemas.microsoft.com/office/powerpoint/2010/main" val="2070023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685800" y="408960"/>
            <a:ext cx="10993320" cy="1157040"/>
          </a:xfrm>
          <a:prstGeom prst="rect">
            <a:avLst/>
          </a:prstGeom>
          <a:noFill/>
          <a:ln w="0">
            <a:noFill/>
          </a:ln>
        </p:spPr>
        <p:txBody>
          <a:bodyPr lIns="0" tIns="12600" rIns="0" bIns="0" anchor="t">
            <a:noAutofit/>
          </a:bodyPr>
          <a:lstStyle/>
          <a:p>
            <a:pPr marL="12065">
              <a:lnSpc>
                <a:spcPct val="100000"/>
              </a:lnSpc>
              <a:spcBef>
                <a:spcPts val="99"/>
              </a:spcBef>
              <a:tabLst>
                <a:tab pos="0" algn="l"/>
              </a:tabLst>
            </a:pPr>
            <a:r>
              <a:rPr lang="en-US" sz="2500" b="1" strike="noStrike" spc="-1">
                <a:solidFill>
                  <a:schemeClr val="dk1"/>
                </a:solidFill>
                <a:latin typeface="Calibri"/>
              </a:rPr>
              <a:t>Learning outcome #2 – </a:t>
            </a:r>
            <a:r>
              <a:rPr lang="en-US" sz="2500" b="1" spc="-1">
                <a:solidFill>
                  <a:schemeClr val="dk1"/>
                </a:solidFill>
                <a:latin typeface="Calibri"/>
              </a:rPr>
              <a:t>Wavelength behavior</a:t>
            </a:r>
            <a:br>
              <a:rPr sz="2500"/>
            </a:br>
            <a:r>
              <a:rPr lang="en-US" sz="2000" b="0" strike="noStrike" spc="-1">
                <a:solidFill>
                  <a:schemeClr val="dk1"/>
                </a:solidFill>
                <a:latin typeface="Calibri"/>
              </a:rPr>
              <a:t>Wavelength 1.5-1.6 µm (step 0.01 µm) – width 1.2 µm</a:t>
            </a:r>
            <a:endParaRPr lang="es-ES" sz="2000" b="0" strike="noStrike" spc="-1">
              <a:solidFill>
                <a:schemeClr val="dk1"/>
              </a:solidFill>
              <a:latin typeface="Arial"/>
            </a:endParaRPr>
          </a:p>
        </p:txBody>
      </p:sp>
      <p:pic>
        <p:nvPicPr>
          <p:cNvPr id="80" name="Gráfico 82"/>
          <p:cNvPicPr/>
          <p:nvPr/>
        </p:nvPicPr>
        <p:blipFill>
          <a:blip r:embed="rId3"/>
          <a:stretch/>
        </p:blipFill>
        <p:spPr>
          <a:xfrm>
            <a:off x="5045040" y="6356160"/>
            <a:ext cx="6408360" cy="362160"/>
          </a:xfrm>
          <a:prstGeom prst="rect">
            <a:avLst/>
          </a:prstGeom>
          <a:ln w="0">
            <a:noFill/>
          </a:ln>
        </p:spPr>
      </p:pic>
      <p:sp>
        <p:nvSpPr>
          <p:cNvPr id="81" name="PlaceHolder 2"/>
          <p:cNvSpPr>
            <a:spLocks noGrp="1"/>
          </p:cNvSpPr>
          <p:nvPr>
            <p:ph type="ftr" idx="18"/>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82" name="CuadroTexto 1"/>
          <p:cNvSpPr/>
          <p:nvPr/>
        </p:nvSpPr>
        <p:spPr>
          <a:xfrm>
            <a:off x="609480" y="4860360"/>
            <a:ext cx="11198880" cy="1383540"/>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r>
              <a:rPr lang="en-US" sz="1200" b="0" strike="noStrike" spc="-1">
                <a:solidFill>
                  <a:schemeClr val="dk1"/>
                </a:solidFill>
                <a:latin typeface="Arial"/>
              </a:rPr>
              <a:t>Comment results (</a:t>
            </a:r>
            <a:r>
              <a:rPr lang="en-US" sz="1200" b="0" strike="noStrike" spc="-1" err="1">
                <a:solidFill>
                  <a:schemeClr val="dk1"/>
                </a:solidFill>
                <a:latin typeface="Arial"/>
              </a:rPr>
              <a:t>neff</a:t>
            </a:r>
            <a:r>
              <a:rPr lang="en-US" sz="1200" b="0" strike="noStrike" spc="-1">
                <a:solidFill>
                  <a:schemeClr val="dk1"/>
                </a:solidFill>
                <a:latin typeface="Arial"/>
              </a:rPr>
              <a:t> changes this way with wavelength, comparison between different waveguide cross-sections …</a:t>
            </a:r>
            <a:r>
              <a:rPr lang="en-US" sz="1200" b="0" strike="noStrike" spc="-1" err="1">
                <a:solidFill>
                  <a:schemeClr val="dk1"/>
                </a:solidFill>
                <a:latin typeface="Arial"/>
              </a:rPr>
              <a:t>etc</a:t>
            </a:r>
            <a:r>
              <a:rPr lang="en-US" sz="1200" b="0" strike="noStrike" spc="-1">
                <a:solidFill>
                  <a:schemeClr val="dk1"/>
                </a:solidFill>
                <a:latin typeface="Arial"/>
              </a:rPr>
              <a:t>)</a:t>
            </a:r>
            <a:endParaRPr lang="es-ES" err="1">
              <a:solidFill>
                <a:schemeClr val="dk1"/>
              </a:solidFill>
              <a:ea typeface="+mn-lt"/>
              <a:cs typeface="+mn-lt"/>
            </a:endParaRPr>
          </a:p>
          <a:p>
            <a:pPr algn="just" defTabSz="914400">
              <a:lnSpc>
                <a:spcPct val="100000"/>
              </a:lnSpc>
            </a:pPr>
            <a:r>
              <a:rPr lang="en-US" sz="1200" spc="-1">
                <a:solidFill>
                  <a:schemeClr val="dk1"/>
                </a:solidFill>
                <a:ea typeface="+mn-lt"/>
                <a:cs typeface="+mn-lt"/>
              </a:rPr>
              <a:t>The graphs show how the effective refractive index (</a:t>
            </a:r>
            <a:r>
              <a:rPr lang="en-US" sz="1200" spc="-1" err="1">
                <a:solidFill>
                  <a:schemeClr val="dk1"/>
                </a:solidFill>
                <a:ea typeface="+mn-lt"/>
                <a:cs typeface="+mn-lt"/>
              </a:rPr>
              <a:t>neff</a:t>
            </a:r>
            <a:r>
              <a:rPr lang="en-US" sz="1200" spc="-1">
                <a:solidFill>
                  <a:schemeClr val="dk1"/>
                </a:solidFill>
                <a:ea typeface="+mn-lt"/>
                <a:cs typeface="+mn-lt"/>
              </a:rPr>
              <a:t>) of optical waveguides varies with wavelength over the 1.5–1.6 µm range for a fixed width of 1.2 µm. </a:t>
            </a:r>
            <a:r>
              <a:rPr lang="en-US" sz="1200" b="0" strike="noStrike" spc="-1">
                <a:solidFill>
                  <a:schemeClr val="dk1"/>
                </a:solidFill>
                <a:ea typeface="+mn-lt"/>
                <a:cs typeface="+mn-lt"/>
              </a:rPr>
              <a:t>In both </a:t>
            </a:r>
            <a:r>
              <a:rPr lang="en-US" sz="1200" spc="-1">
                <a:solidFill>
                  <a:schemeClr val="dk1"/>
                </a:solidFill>
                <a:ea typeface="+mn-lt"/>
                <a:cs typeface="+mn-lt"/>
              </a:rPr>
              <a:t>structures</a:t>
            </a:r>
            <a:r>
              <a:rPr lang="en-US" sz="1200" b="0" strike="noStrike" spc="-1">
                <a:solidFill>
                  <a:schemeClr val="dk1"/>
                </a:solidFill>
                <a:ea typeface="+mn-lt"/>
                <a:cs typeface="+mn-lt"/>
              </a:rPr>
              <a:t>, </a:t>
            </a:r>
            <a:r>
              <a:rPr lang="en-US" sz="1200" strike="noStrike" spc="-1" err="1">
                <a:solidFill>
                  <a:schemeClr val="dk1"/>
                </a:solidFill>
                <a:ea typeface="+mn-lt"/>
                <a:cs typeface="+mn-lt"/>
              </a:rPr>
              <a:t>neff</a:t>
            </a:r>
            <a:r>
              <a:rPr lang="en-US" sz="1200" spc="-1">
                <a:solidFill>
                  <a:schemeClr val="dk1"/>
                </a:solidFill>
                <a:ea typeface="+mn-lt"/>
                <a:cs typeface="+mn-lt"/>
              </a:rPr>
              <a:t> </a:t>
            </a:r>
            <a:r>
              <a:rPr lang="en-US" sz="1200" strike="noStrike" spc="-1">
                <a:solidFill>
                  <a:schemeClr val="dk1"/>
                </a:solidFill>
                <a:ea typeface="+mn-lt"/>
                <a:cs typeface="+mn-lt"/>
              </a:rPr>
              <a:t>decreases monotonically with wavelength</a:t>
            </a:r>
            <a:r>
              <a:rPr lang="en-US" sz="1200" spc="-1">
                <a:solidFill>
                  <a:schemeClr val="dk1"/>
                </a:solidFill>
                <a:ea typeface="+mn-lt"/>
                <a:cs typeface="+mn-lt"/>
              </a:rPr>
              <a:t>, consistent with</a:t>
            </a:r>
            <a:r>
              <a:rPr lang="en-US" sz="1200" b="0" strike="noStrike" spc="-1">
                <a:solidFill>
                  <a:schemeClr val="dk1"/>
                </a:solidFill>
                <a:ea typeface="+mn-lt"/>
                <a:cs typeface="+mn-lt"/>
              </a:rPr>
              <a:t> normal dispersion</a:t>
            </a:r>
            <a:r>
              <a:rPr lang="en-US" sz="1200" spc="-1">
                <a:solidFill>
                  <a:schemeClr val="dk1"/>
                </a:solidFill>
                <a:ea typeface="+mn-lt"/>
                <a:cs typeface="+mn-lt"/>
              </a:rPr>
              <a:t>: as wavelength increases</a:t>
            </a:r>
            <a:r>
              <a:rPr lang="en-US" sz="1200" b="0" strike="noStrike" spc="-1">
                <a:solidFill>
                  <a:schemeClr val="dk1"/>
                </a:solidFill>
                <a:ea typeface="+mn-lt"/>
                <a:cs typeface="+mn-lt"/>
              </a:rPr>
              <a:t>, the </a:t>
            </a:r>
            <a:r>
              <a:rPr lang="en-US" sz="1200" spc="-1">
                <a:solidFill>
                  <a:schemeClr val="dk1"/>
                </a:solidFill>
                <a:ea typeface="+mn-lt"/>
                <a:cs typeface="+mn-lt"/>
              </a:rPr>
              <a:t>mode becomes less confined and interacts more with the lower-index </a:t>
            </a:r>
            <a:r>
              <a:rPr lang="en-US" sz="1200" spc="-1" err="1">
                <a:solidFill>
                  <a:schemeClr val="dk1"/>
                </a:solidFill>
                <a:ea typeface="+mn-lt"/>
                <a:cs typeface="+mn-lt"/>
              </a:rPr>
              <a:t>SiO</a:t>
            </a:r>
            <a:r>
              <a:rPr lang="en-US" sz="1200" spc="-1">
                <a:solidFill>
                  <a:schemeClr val="dk1"/>
                </a:solidFill>
                <a:ea typeface="+mn-lt"/>
                <a:cs typeface="+mn-lt"/>
              </a:rPr>
              <a:t>₂ cladding (n ≈ 1.457), reducing </a:t>
            </a:r>
            <a:r>
              <a:rPr lang="en-US" sz="1200" b="0" strike="noStrike" spc="-1">
                <a:solidFill>
                  <a:schemeClr val="dk1"/>
                </a:solidFill>
                <a:ea typeface="+mn-lt"/>
                <a:cs typeface="+mn-lt"/>
              </a:rPr>
              <a:t>the </a:t>
            </a:r>
            <a:r>
              <a:rPr lang="en-US" sz="1200" spc="-1">
                <a:solidFill>
                  <a:schemeClr val="dk1"/>
                </a:solidFill>
                <a:ea typeface="+mn-lt"/>
                <a:cs typeface="+mn-lt"/>
              </a:rPr>
              <a:t>effective index.</a:t>
            </a:r>
          </a:p>
          <a:p>
            <a:pPr algn="just"/>
            <a:r>
              <a:rPr lang="en-US" sz="1200" spc="-1">
                <a:solidFill>
                  <a:schemeClr val="dk1"/>
                </a:solidFill>
                <a:ea typeface="+mn-lt"/>
                <a:cs typeface="+mn-lt"/>
              </a:rPr>
              <a:t>The </a:t>
            </a:r>
            <a:r>
              <a:rPr lang="en-US" sz="1200" b="1" spc="-1">
                <a:solidFill>
                  <a:schemeClr val="dk1"/>
                </a:solidFill>
                <a:ea typeface="+mn-lt"/>
                <a:cs typeface="+mn-lt"/>
              </a:rPr>
              <a:t>shallow waveguide</a:t>
            </a:r>
            <a:r>
              <a:rPr lang="en-US" sz="1200" spc="-1">
                <a:solidFill>
                  <a:schemeClr val="dk1"/>
                </a:solidFill>
                <a:ea typeface="+mn-lt"/>
                <a:cs typeface="+mn-lt"/>
              </a:rPr>
              <a:t> maintains all four modes guided across because the slab provides additional lateral confinement, keeping the modes bound to the core even at longer wavelengths.</a:t>
            </a:r>
          </a:p>
          <a:p>
            <a:pPr algn="just"/>
            <a:r>
              <a:rPr lang="en-US" sz="1200" spc="-1">
                <a:solidFill>
                  <a:schemeClr val="dk1"/>
                </a:solidFill>
                <a:ea typeface="+mn-lt"/>
                <a:cs typeface="+mn-lt"/>
              </a:rPr>
              <a:t>The deep waveguide is more sensitive to wavelength, with fewer guided modes at longer wavelengths compared to the shallow structure</a:t>
            </a:r>
            <a:endParaRPr lang="en-US">
              <a:solidFill>
                <a:schemeClr val="dk1"/>
              </a:solidFill>
            </a:endParaRPr>
          </a:p>
        </p:txBody>
      </p:sp>
      <p:sp>
        <p:nvSpPr>
          <p:cNvPr id="83" name="Rectángulo 4"/>
          <p:cNvSpPr/>
          <p:nvPr/>
        </p:nvSpPr>
        <p:spPr>
          <a:xfrm>
            <a:off x="609480" y="1418400"/>
            <a:ext cx="5331600" cy="3304800"/>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chemeClr val="lt1"/>
              </a:solidFill>
              <a:latin typeface="Calibri"/>
            </a:endParaRPr>
          </a:p>
        </p:txBody>
      </p:sp>
      <p:sp>
        <p:nvSpPr>
          <p:cNvPr id="84" name="CuadroTexto 5"/>
          <p:cNvSpPr/>
          <p:nvPr/>
        </p:nvSpPr>
        <p:spPr>
          <a:xfrm>
            <a:off x="2138040" y="2671200"/>
            <a:ext cx="2275200" cy="913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1" strike="noStrike" spc="-1">
                <a:solidFill>
                  <a:schemeClr val="dk1"/>
                </a:solidFill>
                <a:latin typeface="Calibri"/>
              </a:rPr>
              <a:t>shallow</a:t>
            </a:r>
            <a:r>
              <a:rPr lang="en-US" sz="1800" b="0" strike="noStrike" spc="-1">
                <a:solidFill>
                  <a:schemeClr val="dk1"/>
                </a:solidFill>
                <a:latin typeface="Calibri"/>
              </a:rPr>
              <a:t> waveguide</a:t>
            </a:r>
            <a:endParaRPr lang="es-ES" sz="1800" b="0" strike="noStrike" spc="-1">
              <a:solidFill>
                <a:srgbClr val="000000"/>
              </a:solidFill>
              <a:latin typeface="Arial"/>
            </a:endParaRPr>
          </a:p>
          <a:p>
            <a:pPr algn="ctr" defTabSz="914400">
              <a:lnSpc>
                <a:spcPct val="100000"/>
              </a:lnSpc>
            </a:pPr>
            <a:endParaRPr lang="es-ES" sz="1800" b="0" strike="noStrike" spc="-1">
              <a:solidFill>
                <a:srgbClr val="000000"/>
              </a:solidFill>
              <a:latin typeface="Arial"/>
            </a:endParaRPr>
          </a:p>
          <a:p>
            <a:pPr algn="ctr" defTabSz="914400">
              <a:lnSpc>
                <a:spcPct val="100000"/>
              </a:lnSpc>
            </a:pPr>
            <a:r>
              <a:rPr lang="en-US" sz="1800" b="0" strike="noStrike" spc="-1">
                <a:solidFill>
                  <a:schemeClr val="dk1"/>
                </a:solidFill>
                <a:latin typeface="Calibri"/>
              </a:rPr>
              <a:t>Paste plot here</a:t>
            </a:r>
            <a:endParaRPr lang="es-ES" sz="1800" b="0" strike="noStrike" spc="-1">
              <a:solidFill>
                <a:srgbClr val="000000"/>
              </a:solidFill>
              <a:latin typeface="Arial"/>
            </a:endParaRPr>
          </a:p>
        </p:txBody>
      </p:sp>
      <p:sp>
        <p:nvSpPr>
          <p:cNvPr id="85" name="Rectángulo 6"/>
          <p:cNvSpPr/>
          <p:nvPr/>
        </p:nvSpPr>
        <p:spPr>
          <a:xfrm>
            <a:off x="6476760" y="1418400"/>
            <a:ext cx="5331600" cy="3304800"/>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chemeClr val="lt1"/>
              </a:solidFill>
              <a:latin typeface="Calibri"/>
            </a:endParaRPr>
          </a:p>
        </p:txBody>
      </p:sp>
      <p:sp>
        <p:nvSpPr>
          <p:cNvPr id="86" name="CuadroTexto 7"/>
          <p:cNvSpPr/>
          <p:nvPr/>
        </p:nvSpPr>
        <p:spPr>
          <a:xfrm>
            <a:off x="8162640" y="2671200"/>
            <a:ext cx="1961280" cy="913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1" strike="noStrike" spc="-1">
                <a:solidFill>
                  <a:schemeClr val="dk1"/>
                </a:solidFill>
                <a:latin typeface="Calibri"/>
              </a:rPr>
              <a:t>deep</a:t>
            </a:r>
            <a:r>
              <a:rPr lang="en-US" sz="1800" b="0" strike="noStrike" spc="-1">
                <a:solidFill>
                  <a:schemeClr val="dk1"/>
                </a:solidFill>
                <a:latin typeface="Calibri"/>
              </a:rPr>
              <a:t> waveguide</a:t>
            </a:r>
            <a:endParaRPr lang="es-ES" sz="1800" b="0" strike="noStrike" spc="-1">
              <a:solidFill>
                <a:srgbClr val="000000"/>
              </a:solidFill>
              <a:latin typeface="Arial"/>
            </a:endParaRPr>
          </a:p>
          <a:p>
            <a:pPr algn="ctr" defTabSz="914400">
              <a:lnSpc>
                <a:spcPct val="100000"/>
              </a:lnSpc>
            </a:pPr>
            <a:endParaRPr lang="es-ES" sz="1800" b="0" strike="noStrike" spc="-1">
              <a:solidFill>
                <a:srgbClr val="000000"/>
              </a:solidFill>
              <a:latin typeface="Arial"/>
            </a:endParaRPr>
          </a:p>
          <a:p>
            <a:pPr algn="ctr" defTabSz="914400">
              <a:lnSpc>
                <a:spcPct val="100000"/>
              </a:lnSpc>
            </a:pPr>
            <a:r>
              <a:rPr lang="en-US" sz="1800" b="0" strike="noStrike" spc="-1">
                <a:solidFill>
                  <a:schemeClr val="dk1"/>
                </a:solidFill>
                <a:latin typeface="Calibri"/>
              </a:rPr>
              <a:t>Paste plot here</a:t>
            </a:r>
            <a:endParaRPr lang="es-ES" sz="1800" b="0" strike="noStrike" spc="-1">
              <a:solidFill>
                <a:srgbClr val="000000"/>
              </a:solidFill>
              <a:latin typeface="Arial"/>
            </a:endParaRPr>
          </a:p>
        </p:txBody>
      </p:sp>
      <p:sp>
        <p:nvSpPr>
          <p:cNvPr id="87" name="CuadroTexto 8"/>
          <p:cNvSpPr/>
          <p:nvPr/>
        </p:nvSpPr>
        <p:spPr>
          <a:xfrm>
            <a:off x="642960" y="4402800"/>
            <a:ext cx="226872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dk1"/>
                </a:solidFill>
                <a:latin typeface="Calibri"/>
              </a:rPr>
              <a:t>slab = 150nm</a:t>
            </a:r>
            <a:endParaRPr lang="es-ES" sz="1800" b="0" strike="noStrike" spc="-1">
              <a:solidFill>
                <a:srgbClr val="000000"/>
              </a:solidFill>
              <a:latin typeface="Arial"/>
            </a:endParaRPr>
          </a:p>
        </p:txBody>
      </p:sp>
      <p:pic>
        <p:nvPicPr>
          <p:cNvPr id="88" name="Imagen 87"/>
          <p:cNvPicPr/>
          <p:nvPr/>
        </p:nvPicPr>
        <p:blipFill>
          <a:blip r:embed="rId4"/>
          <a:stretch/>
        </p:blipFill>
        <p:spPr>
          <a:xfrm>
            <a:off x="6476760" y="1440000"/>
            <a:ext cx="5297760" cy="3080880"/>
          </a:xfrm>
          <a:prstGeom prst="rect">
            <a:avLst/>
          </a:prstGeom>
          <a:ln w="0">
            <a:noFill/>
          </a:ln>
        </p:spPr>
      </p:pic>
      <p:pic>
        <p:nvPicPr>
          <p:cNvPr id="89" name="Imagen 88"/>
          <p:cNvPicPr/>
          <p:nvPr/>
        </p:nvPicPr>
        <p:blipFill>
          <a:blip r:embed="rId5"/>
          <a:stretch/>
        </p:blipFill>
        <p:spPr>
          <a:xfrm>
            <a:off x="632226" y="1417254"/>
            <a:ext cx="5308773" cy="3080880"/>
          </a:xfrm>
          <a:prstGeom prst="rect">
            <a:avLst/>
          </a:prstGeom>
          <a:ln w="0">
            <a:noFill/>
          </a:ln>
        </p:spPr>
      </p:pic>
      <p:sp>
        <p:nvSpPr>
          <p:cNvPr id="4" name="PlaceHolder 3"/>
          <p:cNvSpPr>
            <a:spLocks noGrp="1"/>
          </p:cNvSpPr>
          <p:nvPr>
            <p:ph type="sldNum" idx="5"/>
          </p:nvPr>
        </p:nvSpPr>
        <p:spPr/>
        <p:txBody>
          <a:bodyPr/>
          <a:lstStyle/>
          <a:p>
            <a:fld id="{5E484D5F-19C6-4149-8C80-F43D1CBE2FCA}" type="slidenum">
              <a:r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BC295-E5BD-AA3F-1437-038D11F1E202}"/>
            </a:ext>
          </a:extLst>
        </p:cNvPr>
        <p:cNvGrpSpPr/>
        <p:nvPr/>
      </p:nvGrpSpPr>
      <p:grpSpPr>
        <a:xfrm>
          <a:off x="0" y="0"/>
          <a:ext cx="0" cy="0"/>
          <a:chOff x="0" y="0"/>
          <a:chExt cx="0" cy="0"/>
        </a:xfrm>
      </p:grpSpPr>
      <p:sp>
        <p:nvSpPr>
          <p:cNvPr id="79" name="PlaceHolder 1">
            <a:extLst>
              <a:ext uri="{FF2B5EF4-FFF2-40B4-BE49-F238E27FC236}">
                <a16:creationId xmlns:a16="http://schemas.microsoft.com/office/drawing/2014/main" id="{408E8A5F-37E4-2358-5832-7241FAFEF4E2}"/>
              </a:ext>
            </a:extLst>
          </p:cNvPr>
          <p:cNvSpPr>
            <a:spLocks noGrp="1"/>
          </p:cNvSpPr>
          <p:nvPr>
            <p:ph type="title"/>
          </p:nvPr>
        </p:nvSpPr>
        <p:spPr>
          <a:xfrm>
            <a:off x="685800" y="408960"/>
            <a:ext cx="10993320" cy="1157040"/>
          </a:xfrm>
          <a:prstGeom prst="rect">
            <a:avLst/>
          </a:prstGeom>
          <a:noFill/>
          <a:ln w="0">
            <a:noFill/>
          </a:ln>
        </p:spPr>
        <p:txBody>
          <a:bodyPr lIns="0" tIns="12600" rIns="0" bIns="0" anchor="t">
            <a:noAutofit/>
          </a:bodyPr>
          <a:lstStyle/>
          <a:p>
            <a:pPr marL="12065">
              <a:lnSpc>
                <a:spcPct val="100000"/>
              </a:lnSpc>
              <a:spcBef>
                <a:spcPts val="99"/>
              </a:spcBef>
              <a:tabLst>
                <a:tab pos="0" algn="l"/>
              </a:tabLst>
            </a:pPr>
            <a:r>
              <a:rPr lang="en-US" sz="2500" b="1" strike="noStrike" spc="-1">
                <a:solidFill>
                  <a:schemeClr val="dk1"/>
                </a:solidFill>
                <a:latin typeface="Calibri"/>
              </a:rPr>
              <a:t>Learning outcome #2 </a:t>
            </a:r>
            <a:r>
              <a:rPr lang="en-US" sz="2500" b="1" spc="-1">
                <a:solidFill>
                  <a:schemeClr val="dk1"/>
                </a:solidFill>
                <a:latin typeface="Calibri"/>
              </a:rPr>
              <a:t>bis</a:t>
            </a:r>
            <a:r>
              <a:rPr lang="en-US" sz="2500" b="1" strike="noStrike" spc="-1">
                <a:solidFill>
                  <a:schemeClr val="dk1"/>
                </a:solidFill>
                <a:latin typeface="Calibri"/>
              </a:rPr>
              <a:t>– </a:t>
            </a:r>
            <a:r>
              <a:rPr lang="en-US" sz="2500" b="1" spc="-1">
                <a:solidFill>
                  <a:schemeClr val="dk1"/>
                </a:solidFill>
                <a:latin typeface="Calibri"/>
              </a:rPr>
              <a:t>Effect of slab section</a:t>
            </a:r>
            <a:br>
              <a:rPr sz="2500"/>
            </a:br>
            <a:r>
              <a:rPr lang="en-US" sz="2000" spc="-1">
                <a:solidFill>
                  <a:schemeClr val="dk1"/>
                </a:solidFill>
                <a:latin typeface="Calibri"/>
              </a:rPr>
              <a:t> Cross section Wavelength</a:t>
            </a:r>
            <a:r>
              <a:rPr lang="en-US" sz="2000" b="0" strike="noStrike" spc="-1">
                <a:solidFill>
                  <a:schemeClr val="dk1"/>
                </a:solidFill>
                <a:latin typeface="Calibri"/>
              </a:rPr>
              <a:t> </a:t>
            </a:r>
            <a:r>
              <a:rPr lang="en-US" sz="2000" spc="-1">
                <a:solidFill>
                  <a:schemeClr val="dk1"/>
                </a:solidFill>
                <a:latin typeface="Calibri"/>
              </a:rPr>
              <a:t>1.550</a:t>
            </a:r>
            <a:r>
              <a:rPr lang="en-US" sz="2000" b="0" strike="noStrike" spc="-1">
                <a:solidFill>
                  <a:schemeClr val="dk1"/>
                </a:solidFill>
                <a:latin typeface="Calibri"/>
              </a:rPr>
              <a:t> µm – width 1.2 µm</a:t>
            </a:r>
            <a:endParaRPr lang="es-ES" sz="2000" b="0" strike="noStrike" spc="-1">
              <a:solidFill>
                <a:schemeClr val="dk1"/>
              </a:solidFill>
              <a:latin typeface="Arial"/>
            </a:endParaRPr>
          </a:p>
        </p:txBody>
      </p:sp>
      <p:pic>
        <p:nvPicPr>
          <p:cNvPr id="80" name="Gráfico 82">
            <a:extLst>
              <a:ext uri="{FF2B5EF4-FFF2-40B4-BE49-F238E27FC236}">
                <a16:creationId xmlns:a16="http://schemas.microsoft.com/office/drawing/2014/main" id="{45FC061B-E62E-ACA9-5657-BD71D975E0B5}"/>
              </a:ext>
            </a:extLst>
          </p:cNvPr>
          <p:cNvPicPr/>
          <p:nvPr/>
        </p:nvPicPr>
        <p:blipFill>
          <a:blip r:embed="rId3"/>
          <a:stretch/>
        </p:blipFill>
        <p:spPr>
          <a:xfrm>
            <a:off x="5045040" y="6356160"/>
            <a:ext cx="6408360" cy="362160"/>
          </a:xfrm>
          <a:prstGeom prst="rect">
            <a:avLst/>
          </a:prstGeom>
          <a:ln w="0">
            <a:noFill/>
          </a:ln>
        </p:spPr>
      </p:pic>
      <p:sp>
        <p:nvSpPr>
          <p:cNvPr id="81" name="PlaceHolder 2">
            <a:extLst>
              <a:ext uri="{FF2B5EF4-FFF2-40B4-BE49-F238E27FC236}">
                <a16:creationId xmlns:a16="http://schemas.microsoft.com/office/drawing/2014/main" id="{87D31A4E-53B0-AD2A-88B7-1C912E0B2270}"/>
              </a:ext>
            </a:extLst>
          </p:cNvPr>
          <p:cNvSpPr>
            <a:spLocks noGrp="1"/>
          </p:cNvSpPr>
          <p:nvPr>
            <p:ph type="ftr" idx="18"/>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82" name="CuadroTexto 1">
            <a:extLst>
              <a:ext uri="{FF2B5EF4-FFF2-40B4-BE49-F238E27FC236}">
                <a16:creationId xmlns:a16="http://schemas.microsoft.com/office/drawing/2014/main" id="{018CC9DC-802F-686A-F752-C23DF22AF7B1}"/>
              </a:ext>
            </a:extLst>
          </p:cNvPr>
          <p:cNvSpPr/>
          <p:nvPr/>
        </p:nvSpPr>
        <p:spPr>
          <a:xfrm>
            <a:off x="609480" y="4860360"/>
            <a:ext cx="11198880" cy="1014209"/>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r>
              <a:rPr lang="en-US" sz="1200" spc="-1">
                <a:solidFill>
                  <a:schemeClr val="dk1"/>
                </a:solidFill>
                <a:ea typeface="+mn-lt"/>
                <a:cs typeface="+mn-lt"/>
              </a:rPr>
              <a:t>The cross-sections reveal the fundamental structural difference: the shallow waveguide (slab = 150 nm) presents a wider effective guiding region than the isolated rectangular core of the deep waveguide, giving higher-order modes more material to propagate in.</a:t>
            </a:r>
          </a:p>
          <a:p>
            <a:pPr algn="just"/>
            <a:r>
              <a:rPr lang="en-US" sz="1200" spc="-1">
                <a:solidFill>
                  <a:schemeClr val="dk1"/>
                </a:solidFill>
                <a:ea typeface="+mn-lt"/>
                <a:cs typeface="+mn-lt"/>
              </a:rPr>
              <a:t>At λ = 1550 nm this translates </a:t>
            </a:r>
            <a:r>
              <a:rPr lang="en-US" sz="1200" spc="-1">
                <a:solidFill>
                  <a:schemeClr val="dk1"/>
                </a:solidFill>
                <a:cs typeface="Arial"/>
              </a:rPr>
              <a:t>into </a:t>
            </a:r>
            <a:r>
              <a:rPr lang="en-US" sz="1200" spc="-1">
                <a:solidFill>
                  <a:schemeClr val="dk1"/>
                </a:solidFill>
                <a:ea typeface="+mn-lt"/>
                <a:cs typeface="+mn-lt"/>
              </a:rPr>
              <a:t>higher </a:t>
            </a:r>
            <a:r>
              <a:rPr lang="en-US" sz="1200" spc="-1" err="1">
                <a:solidFill>
                  <a:schemeClr val="dk1"/>
                </a:solidFill>
                <a:ea typeface="+mn-lt"/>
                <a:cs typeface="+mn-lt"/>
              </a:rPr>
              <a:t>neff</a:t>
            </a:r>
            <a:r>
              <a:rPr lang="en-US" sz="1200" spc="-1">
                <a:solidFill>
                  <a:schemeClr val="dk1"/>
                </a:solidFill>
                <a:ea typeface="+mn-lt"/>
                <a:cs typeface="+mn-lt"/>
              </a:rPr>
              <a:t> values for all modes in the shallow </a:t>
            </a:r>
            <a:r>
              <a:rPr lang="en-US" sz="1200" spc="-1" err="1">
                <a:solidFill>
                  <a:schemeClr val="dk1"/>
                </a:solidFill>
                <a:ea typeface="+mn-lt"/>
                <a:cs typeface="+mn-lt"/>
              </a:rPr>
              <a:t>structure.</a:t>
            </a:r>
            <a:r>
              <a:rPr lang="en-US" sz="1200" spc="-1" err="1">
                <a:solidFill>
                  <a:schemeClr val="dk1"/>
                </a:solidFill>
                <a:cs typeface="Arial"/>
              </a:rPr>
              <a:t>Mode</a:t>
            </a:r>
            <a:r>
              <a:rPr lang="en-US" sz="1200" spc="-1">
                <a:solidFill>
                  <a:schemeClr val="dk1"/>
                </a:solidFill>
                <a:cs typeface="Arial"/>
              </a:rPr>
              <a:t> 3 at </a:t>
            </a:r>
            <a:r>
              <a:rPr lang="en-US" sz="1200" spc="-1">
                <a:solidFill>
                  <a:schemeClr val="dk1"/>
                </a:solidFill>
                <a:ea typeface="+mn-lt"/>
                <a:cs typeface="+mn-lt"/>
              </a:rPr>
              <a:t>of the shallow waveguide shows a spatially extended but still bound field distribution with clear lateral lobes sustained by the slab, whereas the equivalent mode in the deep waveguide either disappears or presents a leaky, delocalized field with no defined confinement.</a:t>
            </a:r>
            <a:endParaRPr lang="en-US" sz="1200" spc="-1">
              <a:solidFill>
                <a:schemeClr val="dk1"/>
              </a:solidFill>
              <a:cs typeface="Arial"/>
            </a:endParaRPr>
          </a:p>
        </p:txBody>
      </p:sp>
      <p:sp>
        <p:nvSpPr>
          <p:cNvPr id="83" name="Rectángulo 4">
            <a:extLst>
              <a:ext uri="{FF2B5EF4-FFF2-40B4-BE49-F238E27FC236}">
                <a16:creationId xmlns:a16="http://schemas.microsoft.com/office/drawing/2014/main" id="{295A3370-CABD-39D2-27E0-71722B6E2CB9}"/>
              </a:ext>
            </a:extLst>
          </p:cNvPr>
          <p:cNvSpPr/>
          <p:nvPr/>
        </p:nvSpPr>
        <p:spPr>
          <a:xfrm>
            <a:off x="609480" y="1418400"/>
            <a:ext cx="5331600" cy="3304800"/>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chemeClr val="lt1"/>
              </a:solidFill>
              <a:latin typeface="Calibri"/>
            </a:endParaRPr>
          </a:p>
        </p:txBody>
      </p:sp>
      <p:sp>
        <p:nvSpPr>
          <p:cNvPr id="84" name="CuadroTexto 5">
            <a:extLst>
              <a:ext uri="{FF2B5EF4-FFF2-40B4-BE49-F238E27FC236}">
                <a16:creationId xmlns:a16="http://schemas.microsoft.com/office/drawing/2014/main" id="{C2C12E8D-8EA2-BDBF-BD51-4B154BAB4838}"/>
              </a:ext>
            </a:extLst>
          </p:cNvPr>
          <p:cNvSpPr/>
          <p:nvPr/>
        </p:nvSpPr>
        <p:spPr>
          <a:xfrm>
            <a:off x="2138040" y="2671200"/>
            <a:ext cx="2275200" cy="913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1" strike="noStrike" spc="-1">
                <a:solidFill>
                  <a:schemeClr val="dk1"/>
                </a:solidFill>
                <a:latin typeface="Calibri"/>
              </a:rPr>
              <a:t>shallow</a:t>
            </a:r>
            <a:r>
              <a:rPr lang="en-US" sz="1800" b="0" strike="noStrike" spc="-1">
                <a:solidFill>
                  <a:schemeClr val="dk1"/>
                </a:solidFill>
                <a:latin typeface="Calibri"/>
              </a:rPr>
              <a:t> waveguide</a:t>
            </a:r>
            <a:endParaRPr lang="es-ES" sz="1800" b="0" strike="noStrike" spc="-1">
              <a:solidFill>
                <a:srgbClr val="000000"/>
              </a:solidFill>
              <a:latin typeface="Arial"/>
            </a:endParaRPr>
          </a:p>
          <a:p>
            <a:pPr algn="ctr" defTabSz="914400">
              <a:lnSpc>
                <a:spcPct val="100000"/>
              </a:lnSpc>
            </a:pPr>
            <a:endParaRPr lang="es-ES" sz="1800" b="0" strike="noStrike" spc="-1">
              <a:solidFill>
                <a:srgbClr val="000000"/>
              </a:solidFill>
              <a:latin typeface="Arial"/>
            </a:endParaRPr>
          </a:p>
          <a:p>
            <a:pPr algn="ctr" defTabSz="914400">
              <a:lnSpc>
                <a:spcPct val="100000"/>
              </a:lnSpc>
            </a:pPr>
            <a:r>
              <a:rPr lang="en-US" sz="1800" b="0" strike="noStrike" spc="-1">
                <a:solidFill>
                  <a:schemeClr val="dk1"/>
                </a:solidFill>
                <a:latin typeface="Calibri"/>
              </a:rPr>
              <a:t>Paste plot here</a:t>
            </a:r>
            <a:endParaRPr lang="es-ES" sz="1800" b="0" strike="noStrike" spc="-1">
              <a:solidFill>
                <a:srgbClr val="000000"/>
              </a:solidFill>
              <a:latin typeface="Arial"/>
            </a:endParaRPr>
          </a:p>
        </p:txBody>
      </p:sp>
      <p:sp>
        <p:nvSpPr>
          <p:cNvPr id="85" name="Rectángulo 6">
            <a:extLst>
              <a:ext uri="{FF2B5EF4-FFF2-40B4-BE49-F238E27FC236}">
                <a16:creationId xmlns:a16="http://schemas.microsoft.com/office/drawing/2014/main" id="{9CEFBE6B-C639-73F4-1EF5-6C96C9681A6A}"/>
              </a:ext>
            </a:extLst>
          </p:cNvPr>
          <p:cNvSpPr/>
          <p:nvPr/>
        </p:nvSpPr>
        <p:spPr>
          <a:xfrm>
            <a:off x="6476760" y="1418400"/>
            <a:ext cx="5331600" cy="3304800"/>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chemeClr val="lt1"/>
              </a:solidFill>
              <a:latin typeface="Calibri"/>
            </a:endParaRPr>
          </a:p>
        </p:txBody>
      </p:sp>
      <p:sp>
        <p:nvSpPr>
          <p:cNvPr id="86" name="CuadroTexto 7">
            <a:extLst>
              <a:ext uri="{FF2B5EF4-FFF2-40B4-BE49-F238E27FC236}">
                <a16:creationId xmlns:a16="http://schemas.microsoft.com/office/drawing/2014/main" id="{3BE1432F-FD39-B84A-06AD-EE959F9DD437}"/>
              </a:ext>
            </a:extLst>
          </p:cNvPr>
          <p:cNvSpPr/>
          <p:nvPr/>
        </p:nvSpPr>
        <p:spPr>
          <a:xfrm>
            <a:off x="8162640" y="2671200"/>
            <a:ext cx="1961280" cy="913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1" strike="noStrike" spc="-1">
                <a:solidFill>
                  <a:schemeClr val="dk1"/>
                </a:solidFill>
                <a:latin typeface="Calibri"/>
              </a:rPr>
              <a:t>deep</a:t>
            </a:r>
            <a:r>
              <a:rPr lang="en-US" sz="1800" b="0" strike="noStrike" spc="-1">
                <a:solidFill>
                  <a:schemeClr val="dk1"/>
                </a:solidFill>
                <a:latin typeface="Calibri"/>
              </a:rPr>
              <a:t> waveguide</a:t>
            </a:r>
            <a:endParaRPr lang="es-ES" sz="1800" b="0" strike="noStrike" spc="-1">
              <a:solidFill>
                <a:srgbClr val="000000"/>
              </a:solidFill>
              <a:latin typeface="Arial"/>
            </a:endParaRPr>
          </a:p>
          <a:p>
            <a:pPr algn="ctr" defTabSz="914400">
              <a:lnSpc>
                <a:spcPct val="100000"/>
              </a:lnSpc>
            </a:pPr>
            <a:endParaRPr lang="es-ES" sz="1800" b="0" strike="noStrike" spc="-1">
              <a:solidFill>
                <a:srgbClr val="000000"/>
              </a:solidFill>
              <a:latin typeface="Arial"/>
            </a:endParaRPr>
          </a:p>
          <a:p>
            <a:pPr algn="ctr" defTabSz="914400">
              <a:lnSpc>
                <a:spcPct val="100000"/>
              </a:lnSpc>
            </a:pPr>
            <a:r>
              <a:rPr lang="en-US" sz="1800" b="0" strike="noStrike" spc="-1">
                <a:solidFill>
                  <a:schemeClr val="dk1"/>
                </a:solidFill>
                <a:latin typeface="Calibri"/>
              </a:rPr>
              <a:t>Paste plot here</a:t>
            </a:r>
            <a:endParaRPr lang="es-ES" sz="1800" b="0" strike="noStrike" spc="-1">
              <a:solidFill>
                <a:srgbClr val="000000"/>
              </a:solidFill>
              <a:latin typeface="Arial"/>
            </a:endParaRPr>
          </a:p>
        </p:txBody>
      </p:sp>
      <p:sp>
        <p:nvSpPr>
          <p:cNvPr id="87" name="CuadroTexto 8">
            <a:extLst>
              <a:ext uri="{FF2B5EF4-FFF2-40B4-BE49-F238E27FC236}">
                <a16:creationId xmlns:a16="http://schemas.microsoft.com/office/drawing/2014/main" id="{AEB6CD7A-30DD-EA80-0343-3A1D6EEE1A55}"/>
              </a:ext>
            </a:extLst>
          </p:cNvPr>
          <p:cNvSpPr/>
          <p:nvPr/>
        </p:nvSpPr>
        <p:spPr>
          <a:xfrm>
            <a:off x="642960" y="4402800"/>
            <a:ext cx="226872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dk1"/>
                </a:solidFill>
                <a:latin typeface="Calibri"/>
              </a:rPr>
              <a:t>slab = 150nm</a:t>
            </a:r>
            <a:endParaRPr lang="es-ES" sz="1800" b="0" strike="noStrike" spc="-1">
              <a:solidFill>
                <a:srgbClr val="000000"/>
              </a:solidFill>
              <a:latin typeface="Arial"/>
            </a:endParaRPr>
          </a:p>
        </p:txBody>
      </p:sp>
      <p:sp>
        <p:nvSpPr>
          <p:cNvPr id="4" name="PlaceHolder 3">
            <a:extLst>
              <a:ext uri="{FF2B5EF4-FFF2-40B4-BE49-F238E27FC236}">
                <a16:creationId xmlns:a16="http://schemas.microsoft.com/office/drawing/2014/main" id="{250C76C6-F8ED-C7D8-28A1-18C4DD7EDC9E}"/>
              </a:ext>
            </a:extLst>
          </p:cNvPr>
          <p:cNvSpPr>
            <a:spLocks noGrp="1"/>
          </p:cNvSpPr>
          <p:nvPr>
            <p:ph type="sldNum" idx="5"/>
          </p:nvPr>
        </p:nvSpPr>
        <p:spPr/>
        <p:txBody>
          <a:bodyPr/>
          <a:lstStyle/>
          <a:p>
            <a:fld id="{5E484D5F-19C6-4149-8C80-F43D1CBE2FCA}" type="slidenum">
              <a:rPr/>
              <a:t>8</a:t>
            </a:fld>
            <a:endParaRPr/>
          </a:p>
        </p:txBody>
      </p:sp>
      <p:pic>
        <p:nvPicPr>
          <p:cNvPr id="2" name="Imagen 1" descr="Gráfico, Histograma&#10;&#10;El contenido generado por IA puede ser incorrecto.">
            <a:extLst>
              <a:ext uri="{FF2B5EF4-FFF2-40B4-BE49-F238E27FC236}">
                <a16:creationId xmlns:a16="http://schemas.microsoft.com/office/drawing/2014/main" id="{D1442C37-FAEE-F777-44C1-4369C07A6355}"/>
              </a:ext>
            </a:extLst>
          </p:cNvPr>
          <p:cNvPicPr>
            <a:picLocks noChangeAspect="1"/>
          </p:cNvPicPr>
          <p:nvPr/>
        </p:nvPicPr>
        <p:blipFill>
          <a:blip r:embed="rId4"/>
          <a:srcRect l="1985" t="-1092" r="-248" b="-1657"/>
          <a:stretch>
            <a:fillRect/>
          </a:stretch>
        </p:blipFill>
        <p:spPr>
          <a:xfrm>
            <a:off x="665519" y="1500559"/>
            <a:ext cx="2624469" cy="2013240"/>
          </a:xfrm>
          <a:prstGeom prst="rect">
            <a:avLst/>
          </a:prstGeom>
        </p:spPr>
      </p:pic>
      <p:pic>
        <p:nvPicPr>
          <p:cNvPr id="5" name="Imagen 4" descr="Gráfico, Histograma&#10;&#10;El contenido generado por IA puede ser incorrecto.">
            <a:extLst>
              <a:ext uri="{FF2B5EF4-FFF2-40B4-BE49-F238E27FC236}">
                <a16:creationId xmlns:a16="http://schemas.microsoft.com/office/drawing/2014/main" id="{A3BE3EB6-DF4F-0813-85B2-FFC9B0EA3E9A}"/>
              </a:ext>
            </a:extLst>
          </p:cNvPr>
          <p:cNvPicPr>
            <a:picLocks noChangeAspect="1"/>
          </p:cNvPicPr>
          <p:nvPr/>
        </p:nvPicPr>
        <p:blipFill>
          <a:blip r:embed="rId5"/>
          <a:srcRect t="918" r="248" b="-425"/>
          <a:stretch>
            <a:fillRect/>
          </a:stretch>
        </p:blipFill>
        <p:spPr>
          <a:xfrm>
            <a:off x="6579599" y="1615210"/>
            <a:ext cx="2565191" cy="2001850"/>
          </a:xfrm>
          <a:prstGeom prst="rect">
            <a:avLst/>
          </a:prstGeom>
        </p:spPr>
      </p:pic>
      <p:pic>
        <p:nvPicPr>
          <p:cNvPr id="8" name="Imagen 7" descr="Gráfico, Histograma&#10;&#10;El contenido generado por IA puede ser incorrecto.">
            <a:extLst>
              <a:ext uri="{FF2B5EF4-FFF2-40B4-BE49-F238E27FC236}">
                <a16:creationId xmlns:a16="http://schemas.microsoft.com/office/drawing/2014/main" id="{D305B3E1-69FD-0DDC-6B21-CBA887F20979}"/>
              </a:ext>
            </a:extLst>
          </p:cNvPr>
          <p:cNvPicPr>
            <a:picLocks noChangeAspect="1"/>
          </p:cNvPicPr>
          <p:nvPr/>
        </p:nvPicPr>
        <p:blipFill>
          <a:blip r:embed="rId6"/>
          <a:stretch>
            <a:fillRect/>
          </a:stretch>
        </p:blipFill>
        <p:spPr>
          <a:xfrm>
            <a:off x="9146412" y="2718090"/>
            <a:ext cx="2647331" cy="1817666"/>
          </a:xfrm>
          <a:prstGeom prst="rect">
            <a:avLst/>
          </a:prstGeom>
        </p:spPr>
      </p:pic>
      <p:pic>
        <p:nvPicPr>
          <p:cNvPr id="9" name="Imagen 8" descr="Gráfico&#10;&#10;El contenido generado por IA puede ser incorrecto.">
            <a:extLst>
              <a:ext uri="{FF2B5EF4-FFF2-40B4-BE49-F238E27FC236}">
                <a16:creationId xmlns:a16="http://schemas.microsoft.com/office/drawing/2014/main" id="{FA002D59-9B7C-59A3-FF26-014CA3F4E9A5}"/>
              </a:ext>
            </a:extLst>
          </p:cNvPr>
          <p:cNvPicPr>
            <a:picLocks noChangeAspect="1"/>
          </p:cNvPicPr>
          <p:nvPr/>
        </p:nvPicPr>
        <p:blipFill>
          <a:blip r:embed="rId7"/>
          <a:srcRect t="3041" r="-190" b="1319"/>
          <a:stretch>
            <a:fillRect/>
          </a:stretch>
        </p:blipFill>
        <p:spPr>
          <a:xfrm>
            <a:off x="3127650" y="2718090"/>
            <a:ext cx="2814690" cy="1686837"/>
          </a:xfrm>
          <a:prstGeom prst="rect">
            <a:avLst/>
          </a:prstGeom>
        </p:spPr>
      </p:pic>
    </p:spTree>
    <p:extLst>
      <p:ext uri="{BB962C8B-B14F-4D97-AF65-F5344CB8AC3E}">
        <p14:creationId xmlns:p14="http://schemas.microsoft.com/office/powerpoint/2010/main" val="4010602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685800" y="408960"/>
            <a:ext cx="10993320" cy="1157040"/>
          </a:xfrm>
          <a:prstGeom prst="rect">
            <a:avLst/>
          </a:prstGeom>
          <a:noFill/>
          <a:ln w="0">
            <a:noFill/>
          </a:ln>
        </p:spPr>
        <p:txBody>
          <a:bodyPr lIns="0" tIns="12600" rIns="0" bIns="0" anchor="t">
            <a:noAutofit/>
          </a:bodyPr>
          <a:lstStyle/>
          <a:p>
            <a:pPr marL="12600" indent="0">
              <a:lnSpc>
                <a:spcPct val="100000"/>
              </a:lnSpc>
              <a:spcBef>
                <a:spcPts val="99"/>
              </a:spcBef>
              <a:buNone/>
              <a:tabLst>
                <a:tab pos="0" algn="l"/>
              </a:tabLst>
            </a:pPr>
            <a:r>
              <a:rPr lang="en-US" sz="2500" b="1" strike="noStrike" spc="-1">
                <a:solidFill>
                  <a:schemeClr val="dk1"/>
                </a:solidFill>
                <a:latin typeface="Calibri"/>
              </a:rPr>
              <a:t>Learning outcome #3 – Width dependence</a:t>
            </a:r>
            <a:br>
              <a:rPr sz="2500"/>
            </a:br>
            <a:r>
              <a:rPr lang="en-US" sz="2000" b="0" strike="noStrike" spc="-1">
                <a:solidFill>
                  <a:schemeClr val="dk1"/>
                </a:solidFill>
                <a:latin typeface="Calibri"/>
              </a:rPr>
              <a:t>Width 0.6 - 1.6 µm (step 0.1 µm) – Wavelength 1.55 µm </a:t>
            </a:r>
            <a:endParaRPr lang="es-ES" sz="2000" b="0" strike="noStrike" spc="-1">
              <a:solidFill>
                <a:srgbClr val="000000"/>
              </a:solidFill>
              <a:latin typeface="Arial"/>
            </a:endParaRPr>
          </a:p>
        </p:txBody>
      </p:sp>
      <p:pic>
        <p:nvPicPr>
          <p:cNvPr id="91" name="Gráfico 82"/>
          <p:cNvPicPr/>
          <p:nvPr/>
        </p:nvPicPr>
        <p:blipFill>
          <a:blip r:embed="rId3"/>
          <a:stretch/>
        </p:blipFill>
        <p:spPr>
          <a:xfrm>
            <a:off x="5045040" y="6356160"/>
            <a:ext cx="6408360" cy="362160"/>
          </a:xfrm>
          <a:prstGeom prst="rect">
            <a:avLst/>
          </a:prstGeom>
          <a:ln w="0">
            <a:noFill/>
          </a:ln>
        </p:spPr>
      </p:pic>
      <p:sp>
        <p:nvSpPr>
          <p:cNvPr id="92" name="PlaceHolder 2"/>
          <p:cNvSpPr>
            <a:spLocks noGrp="1"/>
          </p:cNvSpPr>
          <p:nvPr>
            <p:ph type="ftr" idx="19"/>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93" name="CuadroTexto 1"/>
          <p:cNvSpPr/>
          <p:nvPr/>
        </p:nvSpPr>
        <p:spPr>
          <a:xfrm>
            <a:off x="609480" y="4860360"/>
            <a:ext cx="11198880" cy="1250280"/>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200" b="0" strike="noStrike" spc="-1">
                <a:solidFill>
                  <a:schemeClr val="dk1"/>
                </a:solidFill>
                <a:latin typeface="Arial"/>
              </a:rPr>
              <a:t>Comment results (</a:t>
            </a:r>
            <a:r>
              <a:rPr lang="en-US" sz="1200" b="0" strike="noStrike" spc="-1" err="1">
                <a:solidFill>
                  <a:schemeClr val="dk1"/>
                </a:solidFill>
                <a:latin typeface="Arial"/>
              </a:rPr>
              <a:t>neff</a:t>
            </a:r>
            <a:r>
              <a:rPr lang="en-US" sz="1200" b="0" strike="noStrike" spc="-1">
                <a:solidFill>
                  <a:schemeClr val="dk1"/>
                </a:solidFill>
                <a:latin typeface="Arial"/>
              </a:rPr>
              <a:t> changes this way with width, polarization behavior, </a:t>
            </a:r>
            <a:r>
              <a:rPr lang="en-US" sz="1200" b="0" strike="noStrike" spc="-1" err="1">
                <a:solidFill>
                  <a:schemeClr val="dk1"/>
                </a:solidFill>
                <a:latin typeface="Arial"/>
              </a:rPr>
              <a:t>etc</a:t>
            </a:r>
            <a:r>
              <a:rPr lang="en-US" sz="1200" b="0" strike="noStrike" spc="-1">
                <a:solidFill>
                  <a:schemeClr val="dk1"/>
                </a:solidFill>
                <a:latin typeface="Arial"/>
              </a:rPr>
              <a:t>…) </a:t>
            </a:r>
            <a:endParaRPr lang="es-ES" sz="1200" b="0" strike="noStrike" spc="-1">
              <a:solidFill>
                <a:srgbClr val="000000"/>
              </a:solidFill>
              <a:latin typeface="Arial"/>
            </a:endParaRPr>
          </a:p>
          <a:p>
            <a:pPr marL="216000" indent="-216000" algn="just" defTabSz="914400">
              <a:lnSpc>
                <a:spcPct val="100000"/>
              </a:lnSpc>
              <a:spcBef>
                <a:spcPts val="1191"/>
              </a:spcBef>
              <a:spcAft>
                <a:spcPts val="992"/>
              </a:spcAft>
              <a:buClr>
                <a:srgbClr val="000000"/>
              </a:buClr>
              <a:buSzPct val="45000"/>
              <a:buFont typeface="Wingdings" charset="2"/>
              <a:buChar char=""/>
            </a:pPr>
            <a:r>
              <a:rPr lang="en-US" sz="1200" b="0" strike="noStrike" spc="-1">
                <a:solidFill>
                  <a:schemeClr val="dk1"/>
                </a:solidFill>
                <a:latin typeface="Arial"/>
              </a:rPr>
              <a:t>As the waveguide width increases, the effective index of each mode rises smoothly, indicating stronger confinement in the high‑index core.</a:t>
            </a:r>
            <a:endParaRPr lang="es-ES" sz="1200" b="0" strike="noStrike" spc="-1">
              <a:solidFill>
                <a:srgbClr val="000000"/>
              </a:solidFill>
              <a:latin typeface="Arial"/>
            </a:endParaRPr>
          </a:p>
          <a:p>
            <a:pPr marL="216000" indent="-216000" algn="just" defTabSz="914400">
              <a:lnSpc>
                <a:spcPct val="100000"/>
              </a:lnSpc>
              <a:spcBef>
                <a:spcPts val="1191"/>
              </a:spcBef>
              <a:spcAft>
                <a:spcPts val="992"/>
              </a:spcAft>
              <a:buClr>
                <a:srgbClr val="000000"/>
              </a:buClr>
              <a:buSzPct val="45000"/>
              <a:buFont typeface="Wingdings" charset="2"/>
              <a:buChar char=""/>
            </a:pPr>
            <a:r>
              <a:rPr lang="en-US" sz="1200" b="0" strike="noStrike" spc="-1" err="1">
                <a:solidFill>
                  <a:schemeClr val="dk1"/>
                </a:solidFill>
                <a:latin typeface="Arial"/>
              </a:rPr>
              <a:t>Polarization:We</a:t>
            </a:r>
            <a:r>
              <a:rPr lang="en-US" sz="1200" b="0" strike="noStrike" spc="-1">
                <a:solidFill>
                  <a:schemeClr val="dk1"/>
                </a:solidFill>
                <a:latin typeface="Arial"/>
              </a:rPr>
              <a:t> have pure TE0 and pure TM1, but modes 2 and 3 have not a polarized mode when they are unguided, but become more TE and TM polarized across the width range, which means a dependence between </a:t>
            </a:r>
            <a:r>
              <a:rPr lang="en-US" sz="1200" b="0" strike="noStrike" spc="-1" err="1">
                <a:solidFill>
                  <a:schemeClr val="dk1"/>
                </a:solidFill>
                <a:latin typeface="Arial"/>
              </a:rPr>
              <a:t>waveguude</a:t>
            </a:r>
            <a:r>
              <a:rPr lang="en-US" sz="1200" b="0" strike="noStrike" spc="-1">
                <a:solidFill>
                  <a:schemeClr val="dk1"/>
                </a:solidFill>
                <a:latin typeface="Arial"/>
              </a:rPr>
              <a:t> confine</a:t>
            </a:r>
            <a:endParaRPr lang="es-ES" sz="1200" b="0" strike="noStrike" spc="-1">
              <a:solidFill>
                <a:srgbClr val="000000"/>
              </a:solidFill>
              <a:latin typeface="Arial"/>
            </a:endParaRPr>
          </a:p>
        </p:txBody>
      </p:sp>
      <p:sp>
        <p:nvSpPr>
          <p:cNvPr id="94" name="Rectángulo 6"/>
          <p:cNvSpPr/>
          <p:nvPr/>
        </p:nvSpPr>
        <p:spPr>
          <a:xfrm>
            <a:off x="609480" y="1418400"/>
            <a:ext cx="11198880" cy="3304800"/>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chemeClr val="lt1"/>
              </a:solidFill>
              <a:latin typeface="Calibri"/>
            </a:endParaRPr>
          </a:p>
        </p:txBody>
      </p:sp>
      <p:sp>
        <p:nvSpPr>
          <p:cNvPr id="95" name="CuadroTexto 7"/>
          <p:cNvSpPr/>
          <p:nvPr/>
        </p:nvSpPr>
        <p:spPr>
          <a:xfrm>
            <a:off x="2286000" y="2671200"/>
            <a:ext cx="7717680" cy="91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800" b="1" strike="noStrike" spc="-1">
                <a:solidFill>
                  <a:schemeClr val="dk1"/>
                </a:solidFill>
                <a:latin typeface="Calibri"/>
              </a:rPr>
              <a:t>deep</a:t>
            </a:r>
            <a:r>
              <a:rPr lang="en-US" sz="1800" b="0" strike="noStrike" spc="-1">
                <a:solidFill>
                  <a:schemeClr val="dk1"/>
                </a:solidFill>
                <a:latin typeface="Calibri"/>
              </a:rPr>
              <a:t> waveguide</a:t>
            </a:r>
            <a:endParaRPr lang="es-ES" sz="1800" b="0" strike="noStrike" spc="-1">
              <a:solidFill>
                <a:srgbClr val="000000"/>
              </a:solidFill>
              <a:latin typeface="Arial"/>
            </a:endParaRPr>
          </a:p>
          <a:p>
            <a:pPr algn="ctr" defTabSz="914400">
              <a:lnSpc>
                <a:spcPct val="100000"/>
              </a:lnSpc>
            </a:pPr>
            <a:endParaRPr lang="es-ES" sz="1800" b="0" strike="noStrike" spc="-1">
              <a:solidFill>
                <a:srgbClr val="000000"/>
              </a:solidFill>
              <a:latin typeface="Arial"/>
            </a:endParaRPr>
          </a:p>
          <a:p>
            <a:pPr algn="ctr" defTabSz="914400">
              <a:lnSpc>
                <a:spcPct val="100000"/>
              </a:lnSpc>
            </a:pPr>
            <a:r>
              <a:rPr lang="en-US" sz="1800" b="0" strike="noStrike" spc="-1">
                <a:solidFill>
                  <a:schemeClr val="dk1"/>
                </a:solidFill>
                <a:latin typeface="Calibri"/>
              </a:rPr>
              <a:t>Paste plot here</a:t>
            </a:r>
            <a:endParaRPr lang="es-ES" sz="1800" b="0" strike="noStrike" spc="-1">
              <a:solidFill>
                <a:srgbClr val="000000"/>
              </a:solidFill>
              <a:latin typeface="Arial"/>
            </a:endParaRPr>
          </a:p>
        </p:txBody>
      </p:sp>
      <p:pic>
        <p:nvPicPr>
          <p:cNvPr id="96" name="Imagen 95"/>
          <p:cNvPicPr/>
          <p:nvPr/>
        </p:nvPicPr>
        <p:blipFill>
          <a:blip r:embed="rId4"/>
          <a:stretch/>
        </p:blipFill>
        <p:spPr>
          <a:xfrm rot="21591600">
            <a:off x="3422880" y="1424160"/>
            <a:ext cx="5395680" cy="3138120"/>
          </a:xfrm>
          <a:prstGeom prst="rect">
            <a:avLst/>
          </a:prstGeom>
          <a:ln w="0">
            <a:noFill/>
          </a:ln>
        </p:spPr>
      </p:pic>
      <p:sp>
        <p:nvSpPr>
          <p:cNvPr id="4" name="PlaceHolder 3"/>
          <p:cNvSpPr>
            <a:spLocks noGrp="1"/>
          </p:cNvSpPr>
          <p:nvPr>
            <p:ph type="sldNum" idx="5"/>
          </p:nvPr>
        </p:nvSpPr>
        <p:spPr/>
        <p:txBody>
          <a:bodyPr/>
          <a:lstStyle/>
          <a:p>
            <a:fld id="{AF8A4704-EB92-4B37-8760-873347D9802E}" type="slidenum">
              <a:r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685800" y="408960"/>
            <a:ext cx="10993320" cy="1688760"/>
          </a:xfrm>
          <a:prstGeom prst="rect">
            <a:avLst/>
          </a:prstGeom>
          <a:noFill/>
          <a:ln w="0">
            <a:noFill/>
          </a:ln>
        </p:spPr>
        <p:txBody>
          <a:bodyPr lIns="0" tIns="12600" rIns="0" bIns="0" anchor="t">
            <a:noAutofit/>
          </a:bodyPr>
          <a:lstStyle/>
          <a:p>
            <a:pPr marL="12600" indent="0">
              <a:lnSpc>
                <a:spcPct val="100000"/>
              </a:lnSpc>
              <a:spcBef>
                <a:spcPts val="99"/>
              </a:spcBef>
              <a:buNone/>
              <a:tabLst>
                <a:tab pos="0" algn="l"/>
              </a:tabLst>
            </a:pPr>
            <a:r>
              <a:rPr lang="en-US" sz="2500" b="1" strike="noStrike" spc="-1">
                <a:solidFill>
                  <a:schemeClr val="dk1"/>
                </a:solidFill>
                <a:latin typeface="Calibri"/>
              </a:rPr>
              <a:t>Learning outcome #4 – Waveguide compact model</a:t>
            </a:r>
            <a:br>
              <a:rPr sz="2500"/>
            </a:br>
            <a:r>
              <a:rPr lang="en-US" sz="2000" b="0" strike="noStrike" spc="-1">
                <a:solidFill>
                  <a:schemeClr val="dk1"/>
                </a:solidFill>
                <a:latin typeface="Calibri"/>
              </a:rPr>
              <a:t>- Find the compact models of the following waveguides: </a:t>
            </a:r>
            <a:br>
              <a:rPr sz="2000"/>
            </a:br>
            <a:r>
              <a:rPr lang="en-US" sz="2000" b="1" strike="noStrike" spc="-1">
                <a:solidFill>
                  <a:schemeClr val="dk1"/>
                </a:solidFill>
                <a:latin typeface="Calibri"/>
              </a:rPr>
              <a:t>Deep</a:t>
            </a:r>
            <a:r>
              <a:rPr lang="en-US" sz="2000" b="0" strike="noStrike" spc="-1">
                <a:solidFill>
                  <a:schemeClr val="dk1"/>
                </a:solidFill>
                <a:latin typeface="Calibri"/>
              </a:rPr>
              <a:t> waveguide, h=300nm, w=1.2um   - </a:t>
            </a:r>
            <a:r>
              <a:rPr lang="en-US" sz="2000" b="1" strike="noStrike" spc="-1">
                <a:solidFill>
                  <a:schemeClr val="dk1"/>
                </a:solidFill>
                <a:latin typeface="Calibri"/>
              </a:rPr>
              <a:t>Shallow</a:t>
            </a:r>
            <a:r>
              <a:rPr lang="en-US" sz="2000" b="0" strike="noStrike" spc="-1">
                <a:solidFill>
                  <a:schemeClr val="dk1"/>
                </a:solidFill>
                <a:latin typeface="Calibri"/>
              </a:rPr>
              <a:t> waveguide, core h=300nm, slab h=150 nm, w = 1.2um </a:t>
            </a:r>
            <a:br>
              <a:rPr sz="2000"/>
            </a:br>
            <a:endParaRPr lang="es-ES" sz="2000" b="0" strike="noStrike" spc="-1">
              <a:solidFill>
                <a:srgbClr val="000000"/>
              </a:solidFill>
              <a:latin typeface="Arial"/>
            </a:endParaRPr>
          </a:p>
        </p:txBody>
      </p:sp>
      <p:pic>
        <p:nvPicPr>
          <p:cNvPr id="98" name="Gráfico 82"/>
          <p:cNvPicPr/>
          <p:nvPr/>
        </p:nvPicPr>
        <p:blipFill>
          <a:blip r:embed="rId3"/>
          <a:stretch/>
        </p:blipFill>
        <p:spPr>
          <a:xfrm>
            <a:off x="5045040" y="6356160"/>
            <a:ext cx="6408360" cy="362160"/>
          </a:xfrm>
          <a:prstGeom prst="rect">
            <a:avLst/>
          </a:prstGeom>
          <a:ln w="0">
            <a:noFill/>
          </a:ln>
        </p:spPr>
      </p:pic>
      <p:sp>
        <p:nvSpPr>
          <p:cNvPr id="99" name="PlaceHolder 2"/>
          <p:cNvSpPr>
            <a:spLocks noGrp="1"/>
          </p:cNvSpPr>
          <p:nvPr>
            <p:ph type="ftr" idx="20"/>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100" name="CuadroTexto 1"/>
          <p:cNvSpPr/>
          <p:nvPr/>
        </p:nvSpPr>
        <p:spPr>
          <a:xfrm>
            <a:off x="677718" y="4860360"/>
            <a:ext cx="11129202" cy="1576889"/>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s-ES" sz="1800" b="0" strike="noStrike" spc="-1">
                <a:solidFill>
                  <a:srgbClr val="FFFFFF">
                    <a:alpha val="1000"/>
                  </a:srgbClr>
                </a:solidFill>
                <a:latin typeface="Calibri"/>
              </a:rPr>
              <a:t> </a:t>
            </a:r>
            <a:endParaRPr lang="es-ES" sz="1800" b="0" strike="noStrike" spc="-1">
              <a:solidFill>
                <a:srgbClr val="000000"/>
              </a:solidFill>
              <a:latin typeface="Arial"/>
            </a:endParaRPr>
          </a:p>
        </p:txBody>
      </p:sp>
      <p:sp>
        <p:nvSpPr>
          <p:cNvPr id="101" name="Rectángulo 4"/>
          <p:cNvSpPr/>
          <p:nvPr/>
        </p:nvSpPr>
        <p:spPr>
          <a:xfrm>
            <a:off x="609480" y="1447920"/>
            <a:ext cx="5485320" cy="3304800"/>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chemeClr val="lt1"/>
              </a:solidFill>
              <a:latin typeface="Calibri"/>
            </a:endParaRPr>
          </a:p>
        </p:txBody>
      </p:sp>
      <p:sp>
        <p:nvSpPr>
          <p:cNvPr id="102" name="Rectángulo 5"/>
          <p:cNvSpPr/>
          <p:nvPr/>
        </p:nvSpPr>
        <p:spPr>
          <a:xfrm>
            <a:off x="6321600" y="1447920"/>
            <a:ext cx="5485320" cy="3304800"/>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chemeClr val="lt1"/>
              </a:solidFill>
              <a:latin typeface="Calibri"/>
            </a:endParaRPr>
          </a:p>
        </p:txBody>
      </p:sp>
      <p:sp>
        <p:nvSpPr>
          <p:cNvPr id="103" name="CuadroTexto 8"/>
          <p:cNvSpPr/>
          <p:nvPr/>
        </p:nvSpPr>
        <p:spPr>
          <a:xfrm>
            <a:off x="609480" y="2709000"/>
            <a:ext cx="5485320" cy="119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s-ES" sz="1800" b="0" strike="noStrike" spc="-1">
                <a:solidFill>
                  <a:srgbClr val="FFFFFF">
                    <a:alpha val="1000"/>
                  </a:srgbClr>
                </a:solidFill>
                <a:latin typeface="Calibri"/>
              </a:rPr>
              <a:t> </a:t>
            </a:r>
            <a:endParaRPr lang="es-ES" sz="1800" b="0" strike="noStrike" spc="-1">
              <a:solidFill>
                <a:srgbClr val="000000"/>
              </a:solidFill>
              <a:latin typeface="Arial"/>
            </a:endParaRPr>
          </a:p>
        </p:txBody>
      </p:sp>
      <p:sp>
        <p:nvSpPr>
          <p:cNvPr id="104" name="CuadroTexto 9"/>
          <p:cNvSpPr/>
          <p:nvPr/>
        </p:nvSpPr>
        <p:spPr>
          <a:xfrm>
            <a:off x="6321600" y="2709000"/>
            <a:ext cx="5485320" cy="119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s-ES" sz="1800" b="0" strike="noStrike" spc="-1">
                <a:solidFill>
                  <a:srgbClr val="FFFFFF">
                    <a:alpha val="1000"/>
                  </a:srgbClr>
                </a:solidFill>
                <a:latin typeface="Calibri"/>
              </a:rPr>
              <a:t> </a:t>
            </a:r>
            <a:endParaRPr lang="es-ES" sz="1800" b="0" strike="noStrike" spc="-1">
              <a:solidFill>
                <a:srgbClr val="000000"/>
              </a:solidFill>
              <a:latin typeface="Arial"/>
            </a:endParaRPr>
          </a:p>
        </p:txBody>
      </p:sp>
      <p:sp>
        <p:nvSpPr>
          <p:cNvPr id="105" name="CuadroTexto 7"/>
          <p:cNvSpPr/>
          <p:nvPr/>
        </p:nvSpPr>
        <p:spPr>
          <a:xfrm>
            <a:off x="6347520" y="4498560"/>
            <a:ext cx="5485320" cy="27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1200" b="1" strike="noStrike" spc="-1">
                <a:solidFill>
                  <a:schemeClr val="dk1"/>
                </a:solidFill>
                <a:latin typeface="Arial"/>
              </a:rPr>
              <a:t>slab: 150nm</a:t>
            </a:r>
            <a:endParaRPr lang="es-ES" sz="1200" b="0" strike="noStrike" spc="-1">
              <a:solidFill>
                <a:srgbClr val="000000"/>
              </a:solidFill>
              <a:latin typeface="Arial"/>
            </a:endParaRPr>
          </a:p>
        </p:txBody>
      </p:sp>
      <p:sp>
        <p:nvSpPr>
          <p:cNvPr id="106" name="Rectángulo 105"/>
          <p:cNvSpPr/>
          <p:nvPr/>
        </p:nvSpPr>
        <p:spPr>
          <a:xfrm>
            <a:off x="1620000" y="5040000"/>
            <a:ext cx="4679280" cy="107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s-ES" sz="1800" b="0" strike="noStrike" spc="-1">
              <a:solidFill>
                <a:srgbClr val="000000"/>
              </a:solidFill>
              <a:latin typeface="Arial"/>
            </a:endParaRPr>
          </a:p>
        </p:txBody>
      </p:sp>
      <p:sp>
        <p:nvSpPr>
          <p:cNvPr id="107" name="Rectángulo 106"/>
          <p:cNvSpPr/>
          <p:nvPr/>
        </p:nvSpPr>
        <p:spPr>
          <a:xfrm>
            <a:off x="720000" y="4860360"/>
            <a:ext cx="11086920" cy="2049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s-ES" sz="1200" spc="-1" dirty="0">
                <a:solidFill>
                  <a:srgbClr val="000000"/>
                </a:solidFill>
                <a:latin typeface="Arial"/>
              </a:rPr>
              <a:t>Polynomial Coefficients:n1 represents the baseline </a:t>
            </a:r>
            <a:r>
              <a:rPr lang="es-ES" sz="1200" spc="-1" dirty="0" err="1">
                <a:solidFill>
                  <a:srgbClr val="000000"/>
                </a:solidFill>
                <a:latin typeface="Arial"/>
              </a:rPr>
              <a:t>effective</a:t>
            </a:r>
            <a:r>
              <a:rPr lang="es-ES" sz="1200" spc="-1" dirty="0">
                <a:solidFill>
                  <a:srgbClr val="000000"/>
                </a:solidFill>
                <a:latin typeface="Arial"/>
              </a:rPr>
              <a:t> refractive </a:t>
            </a:r>
            <a:r>
              <a:rPr lang="es-ES" sz="1200" spc="-1" dirty="0" err="1">
                <a:solidFill>
                  <a:srgbClr val="000000"/>
                </a:solidFill>
                <a:latin typeface="Arial"/>
              </a:rPr>
              <a:t>index</a:t>
            </a:r>
            <a:r>
              <a:rPr lang="es-ES" sz="1200" spc="-1" dirty="0">
                <a:solidFill>
                  <a:srgbClr val="000000"/>
                </a:solidFill>
                <a:latin typeface="Arial"/>
              </a:rPr>
              <a:t>, </a:t>
            </a:r>
            <a:r>
              <a:rPr lang="es-ES" sz="1200" spc="-1" dirty="0" err="1">
                <a:solidFill>
                  <a:srgbClr val="000000"/>
                </a:solidFill>
                <a:latin typeface="Arial"/>
                <a:cs typeface="Arial"/>
              </a:rPr>
              <a:t>neff</a:t>
            </a:r>
            <a:r>
              <a:rPr lang="es-ES" sz="1200" spc="-1" dirty="0">
                <a:solidFill>
                  <a:srgbClr val="000000"/>
                </a:solidFill>
                <a:latin typeface="Arial"/>
                <a:cs typeface="Arial"/>
              </a:rPr>
              <a:t>(λ0),</a:t>
            </a:r>
            <a:r>
              <a:rPr lang="es-ES" sz="1200" spc="-1" dirty="0">
                <a:solidFill>
                  <a:srgbClr val="000000"/>
                </a:solidFill>
                <a:latin typeface="Arial"/>
              </a:rPr>
              <a:t> n2 </a:t>
            </a:r>
            <a:r>
              <a:rPr lang="es-ES" sz="1200" spc="-1" dirty="0" err="1">
                <a:solidFill>
                  <a:srgbClr val="000000"/>
                </a:solidFill>
                <a:latin typeface="Arial"/>
              </a:rPr>
              <a:t>represents</a:t>
            </a:r>
            <a:r>
              <a:rPr lang="es-ES" sz="1200" spc="-1" dirty="0">
                <a:solidFill>
                  <a:srgbClr val="000000"/>
                </a:solidFill>
                <a:latin typeface="Arial"/>
              </a:rPr>
              <a:t> </a:t>
            </a:r>
            <a:r>
              <a:rPr lang="es-ES" sz="1200" spc="-1" dirty="0" err="1">
                <a:solidFill>
                  <a:srgbClr val="000000"/>
                </a:solidFill>
                <a:latin typeface="Arial"/>
              </a:rPr>
              <a:t>the</a:t>
            </a:r>
            <a:r>
              <a:rPr lang="es-ES" sz="1200" spc="-1" dirty="0">
                <a:solidFill>
                  <a:srgbClr val="000000"/>
                </a:solidFill>
                <a:latin typeface="Arial"/>
              </a:rPr>
              <a:t> </a:t>
            </a:r>
            <a:r>
              <a:rPr lang="es-ES" sz="1200" spc="-1" dirty="0" err="1">
                <a:solidFill>
                  <a:srgbClr val="000000"/>
                </a:solidFill>
                <a:latin typeface="Arial"/>
              </a:rPr>
              <a:t>slope</a:t>
            </a:r>
            <a:r>
              <a:rPr lang="es-ES" sz="1200" spc="-1" dirty="0">
                <a:solidFill>
                  <a:srgbClr val="000000"/>
                </a:solidFill>
                <a:latin typeface="Arial"/>
              </a:rPr>
              <a:t> </a:t>
            </a:r>
            <a:r>
              <a:rPr lang="es-ES" sz="1200" spc="-1" dirty="0" err="1">
                <a:solidFill>
                  <a:srgbClr val="000000"/>
                </a:solidFill>
                <a:latin typeface="Arial"/>
              </a:rPr>
              <a:t>of</a:t>
            </a:r>
            <a:r>
              <a:rPr lang="es-ES" sz="1200" spc="-1" dirty="0">
                <a:solidFill>
                  <a:srgbClr val="000000"/>
                </a:solidFill>
                <a:latin typeface="Arial"/>
              </a:rPr>
              <a:t> </a:t>
            </a:r>
            <a:r>
              <a:rPr lang="es-ES" sz="1200" spc="-1" dirty="0" err="1">
                <a:solidFill>
                  <a:srgbClr val="000000"/>
                </a:solidFill>
                <a:latin typeface="Arial"/>
              </a:rPr>
              <a:t>the</a:t>
            </a:r>
            <a:r>
              <a:rPr lang="es-ES" sz="1200" spc="-1" dirty="0">
                <a:solidFill>
                  <a:srgbClr val="000000"/>
                </a:solidFill>
                <a:latin typeface="Arial"/>
              </a:rPr>
              <a:t> curve, n3 </a:t>
            </a:r>
            <a:r>
              <a:rPr lang="es-ES" sz="1200" spc="-1" dirty="0" err="1">
                <a:solidFill>
                  <a:srgbClr val="000000"/>
                </a:solidFill>
                <a:latin typeface="Arial"/>
              </a:rPr>
              <a:t>represents</a:t>
            </a:r>
            <a:r>
              <a:rPr lang="es-ES" sz="1200" spc="-1" dirty="0">
                <a:solidFill>
                  <a:srgbClr val="000000"/>
                </a:solidFill>
                <a:latin typeface="Arial"/>
              </a:rPr>
              <a:t> </a:t>
            </a:r>
            <a:r>
              <a:rPr lang="es-ES" sz="1200" spc="-1" dirty="0" err="1">
                <a:solidFill>
                  <a:srgbClr val="000000"/>
                </a:solidFill>
                <a:latin typeface="Arial"/>
              </a:rPr>
              <a:t>the</a:t>
            </a:r>
            <a:r>
              <a:rPr lang="es-ES" sz="1200" spc="-1" dirty="0">
                <a:solidFill>
                  <a:srgbClr val="000000"/>
                </a:solidFill>
                <a:latin typeface="Arial"/>
              </a:rPr>
              <a:t> </a:t>
            </a:r>
            <a:r>
              <a:rPr lang="es-ES" sz="1200" spc="-1" dirty="0" err="1">
                <a:solidFill>
                  <a:srgbClr val="000000"/>
                </a:solidFill>
                <a:latin typeface="Arial"/>
              </a:rPr>
              <a:t>second</a:t>
            </a:r>
            <a:r>
              <a:rPr lang="es-ES" sz="1200" spc="-1" dirty="0">
                <a:solidFill>
                  <a:srgbClr val="000000"/>
                </a:solidFill>
                <a:latin typeface="Arial"/>
              </a:rPr>
              <a:t> derivative, </a:t>
            </a:r>
            <a:r>
              <a:rPr lang="es-ES" sz="1200" spc="-1" dirty="0" err="1">
                <a:solidFill>
                  <a:srgbClr val="000000"/>
                </a:solidFill>
                <a:latin typeface="Arial"/>
              </a:rPr>
              <a:t>the</a:t>
            </a:r>
            <a:r>
              <a:rPr lang="es-ES" sz="1200" spc="-1" dirty="0">
                <a:solidFill>
                  <a:srgbClr val="000000"/>
                </a:solidFill>
                <a:latin typeface="Arial"/>
              </a:rPr>
              <a:t> </a:t>
            </a:r>
            <a:r>
              <a:rPr lang="es-ES" sz="1200" spc="-1" dirty="0" err="1">
                <a:solidFill>
                  <a:srgbClr val="000000"/>
                </a:solidFill>
                <a:latin typeface="Arial"/>
              </a:rPr>
              <a:t>curvature</a:t>
            </a:r>
            <a:r>
              <a:rPr lang="es-ES" sz="1200" spc="-1" dirty="0">
                <a:solidFill>
                  <a:srgbClr val="000000"/>
                </a:solidFill>
                <a:latin typeface="Arial"/>
              </a:rPr>
              <a:t>.</a:t>
            </a:r>
            <a:endParaRPr lang="es-ES" dirty="0"/>
          </a:p>
          <a:p>
            <a:r>
              <a:rPr lang="es-ES" sz="1200" spc="-1" dirty="0">
                <a:solidFill>
                  <a:srgbClr val="000000"/>
                </a:solidFill>
                <a:latin typeface="Arial"/>
              </a:rPr>
              <a:t>Deep </a:t>
            </a:r>
            <a:r>
              <a:rPr lang="es-ES" sz="1200" spc="-1" dirty="0" err="1">
                <a:solidFill>
                  <a:srgbClr val="000000"/>
                </a:solidFill>
                <a:latin typeface="Arial"/>
              </a:rPr>
              <a:t>comparisson</a:t>
            </a:r>
            <a:r>
              <a:rPr lang="es-ES" sz="1200" spc="-1" dirty="0">
                <a:solidFill>
                  <a:srgbClr val="000000"/>
                </a:solidFill>
                <a:latin typeface="Arial"/>
              </a:rPr>
              <a:t>: </a:t>
            </a:r>
            <a:r>
              <a:rPr lang="es-ES" sz="1200" spc="-1" dirty="0" err="1">
                <a:solidFill>
                  <a:srgbClr val="000000"/>
                </a:solidFill>
                <a:ea typeface="+mn-lt"/>
                <a:cs typeface="+mn-lt"/>
              </a:rPr>
              <a:t>neff</a:t>
            </a:r>
            <a:r>
              <a:rPr lang="es-ES" sz="1200" spc="-1" dirty="0">
                <a:solidFill>
                  <a:srgbClr val="000000"/>
                </a:solidFill>
                <a:ea typeface="+mn-lt"/>
                <a:cs typeface="+mn-lt"/>
              </a:rPr>
              <a:t> </a:t>
            </a:r>
            <a:r>
              <a:rPr lang="es-ES" sz="1200" spc="-1" dirty="0" err="1">
                <a:solidFill>
                  <a:srgbClr val="000000"/>
                </a:solidFill>
                <a:ea typeface="+mn-lt"/>
                <a:cs typeface="+mn-lt"/>
              </a:rPr>
              <a:t>decreases</a:t>
            </a:r>
            <a:r>
              <a:rPr lang="es-ES" sz="1200" spc="-1" dirty="0">
                <a:solidFill>
                  <a:srgbClr val="000000"/>
                </a:solidFill>
                <a:ea typeface="+mn-lt"/>
                <a:cs typeface="+mn-lt"/>
              </a:rPr>
              <a:t> </a:t>
            </a:r>
            <a:r>
              <a:rPr lang="es-ES" sz="1200" spc="-1" dirty="0" err="1">
                <a:solidFill>
                  <a:srgbClr val="000000"/>
                </a:solidFill>
                <a:ea typeface="+mn-lt"/>
                <a:cs typeface="+mn-lt"/>
              </a:rPr>
              <a:t>monotonically</a:t>
            </a:r>
            <a:r>
              <a:rPr lang="es-ES" sz="1200" spc="-1" dirty="0">
                <a:solidFill>
                  <a:srgbClr val="000000"/>
                </a:solidFill>
                <a:ea typeface="+mn-lt"/>
                <a:cs typeface="+mn-lt"/>
              </a:rPr>
              <a:t> </a:t>
            </a:r>
            <a:r>
              <a:rPr lang="es-ES" sz="1200" spc="-1" dirty="0" err="1">
                <a:solidFill>
                  <a:srgbClr val="000000"/>
                </a:solidFill>
                <a:ea typeface="+mn-lt"/>
                <a:cs typeface="+mn-lt"/>
              </a:rPr>
              <a:t>with</a:t>
            </a:r>
            <a:r>
              <a:rPr lang="es-ES" sz="1200" spc="-1" dirty="0">
                <a:solidFill>
                  <a:srgbClr val="000000"/>
                </a:solidFill>
                <a:ea typeface="+mn-lt"/>
                <a:cs typeface="+mn-lt"/>
              </a:rPr>
              <a:t> </a:t>
            </a:r>
            <a:r>
              <a:rPr lang="es-ES" sz="1200" spc="-1" dirty="0" err="1">
                <a:solidFill>
                  <a:srgbClr val="000000"/>
                </a:solidFill>
                <a:ea typeface="+mn-lt"/>
                <a:cs typeface="+mn-lt"/>
              </a:rPr>
              <a:t>wavelength</a:t>
            </a:r>
            <a:r>
              <a:rPr lang="es-ES" sz="1200" spc="-1" dirty="0">
                <a:solidFill>
                  <a:srgbClr val="000000"/>
                </a:solidFill>
                <a:ea typeface="+mn-lt"/>
                <a:cs typeface="+mn-lt"/>
              </a:rPr>
              <a:t> </a:t>
            </a:r>
            <a:r>
              <a:rPr lang="es-ES" sz="1200" spc="-1" dirty="0" err="1">
                <a:solidFill>
                  <a:srgbClr val="000000"/>
                </a:solidFill>
                <a:ea typeface="+mn-lt"/>
                <a:cs typeface="+mn-lt"/>
              </a:rPr>
              <a:t>for</a:t>
            </a:r>
            <a:r>
              <a:rPr lang="es-ES" sz="1200" spc="-1" dirty="0">
                <a:solidFill>
                  <a:srgbClr val="000000"/>
                </a:solidFill>
                <a:ea typeface="+mn-lt"/>
                <a:cs typeface="+mn-lt"/>
              </a:rPr>
              <a:t> </a:t>
            </a:r>
            <a:r>
              <a:rPr lang="es-ES" sz="1200" spc="-1" dirty="0" err="1">
                <a:solidFill>
                  <a:srgbClr val="000000"/>
                </a:solidFill>
                <a:ea typeface="+mn-lt"/>
                <a:cs typeface="+mn-lt"/>
              </a:rPr>
              <a:t>all</a:t>
            </a:r>
            <a:r>
              <a:rPr lang="es-ES" sz="1200" spc="-1" dirty="0">
                <a:solidFill>
                  <a:srgbClr val="000000"/>
                </a:solidFill>
                <a:ea typeface="+mn-lt"/>
                <a:cs typeface="+mn-lt"/>
              </a:rPr>
              <a:t> </a:t>
            </a:r>
            <a:r>
              <a:rPr lang="es-ES" sz="1200" spc="-1" dirty="0" err="1">
                <a:solidFill>
                  <a:srgbClr val="000000"/>
                </a:solidFill>
                <a:ea typeface="+mn-lt"/>
                <a:cs typeface="+mn-lt"/>
              </a:rPr>
              <a:t>modes</a:t>
            </a:r>
            <a:r>
              <a:rPr lang="es-ES" sz="1200" spc="-1" dirty="0">
                <a:solidFill>
                  <a:srgbClr val="000000"/>
                </a:solidFill>
                <a:ea typeface="+mn-lt"/>
                <a:cs typeface="+mn-lt"/>
              </a:rPr>
              <a:t>. </a:t>
            </a:r>
            <a:r>
              <a:rPr lang="es-ES" sz="1200" spc="-1" dirty="0" err="1">
                <a:solidFill>
                  <a:srgbClr val="000000"/>
                </a:solidFill>
                <a:ea typeface="+mn-lt"/>
                <a:cs typeface="+mn-lt"/>
              </a:rPr>
              <a:t>This</a:t>
            </a:r>
            <a:r>
              <a:rPr lang="es-ES" sz="1200" spc="-1" dirty="0">
                <a:solidFill>
                  <a:srgbClr val="000000"/>
                </a:solidFill>
                <a:ea typeface="+mn-lt"/>
                <a:cs typeface="+mn-lt"/>
              </a:rPr>
              <a:t> </a:t>
            </a:r>
            <a:r>
              <a:rPr lang="es-ES" sz="1200" spc="-1" dirty="0" err="1">
                <a:solidFill>
                  <a:srgbClr val="000000"/>
                </a:solidFill>
                <a:ea typeface="+mn-lt"/>
                <a:cs typeface="+mn-lt"/>
              </a:rPr>
              <a:t>is</a:t>
            </a:r>
            <a:r>
              <a:rPr lang="es-ES" sz="1200" spc="-1" dirty="0">
                <a:solidFill>
                  <a:srgbClr val="000000"/>
                </a:solidFill>
                <a:ea typeface="+mn-lt"/>
                <a:cs typeface="+mn-lt"/>
              </a:rPr>
              <a:t> </a:t>
            </a:r>
            <a:r>
              <a:rPr lang="es-ES" sz="1200" spc="-1" dirty="0" err="1">
                <a:solidFill>
                  <a:srgbClr val="000000"/>
                </a:solidFill>
                <a:ea typeface="+mn-lt"/>
                <a:cs typeface="+mn-lt"/>
              </a:rPr>
              <a:t>the</a:t>
            </a:r>
            <a:r>
              <a:rPr lang="es-ES" sz="1200" spc="-1" dirty="0">
                <a:solidFill>
                  <a:srgbClr val="000000"/>
                </a:solidFill>
                <a:ea typeface="+mn-lt"/>
                <a:cs typeface="+mn-lt"/>
              </a:rPr>
              <a:t> </a:t>
            </a:r>
            <a:r>
              <a:rPr lang="es-ES" sz="1200" spc="-1" dirty="0" err="1">
                <a:solidFill>
                  <a:srgbClr val="000000"/>
                </a:solidFill>
                <a:ea typeface="+mn-lt"/>
                <a:cs typeface="+mn-lt"/>
              </a:rPr>
              <a:t>signature</a:t>
            </a:r>
            <a:r>
              <a:rPr lang="es-ES" sz="1200" spc="-1" dirty="0">
                <a:solidFill>
                  <a:srgbClr val="000000"/>
                </a:solidFill>
                <a:ea typeface="+mn-lt"/>
                <a:cs typeface="+mn-lt"/>
              </a:rPr>
              <a:t> </a:t>
            </a:r>
            <a:r>
              <a:rPr lang="es-ES" sz="1200" spc="-1" dirty="0" err="1">
                <a:solidFill>
                  <a:srgbClr val="000000"/>
                </a:solidFill>
                <a:ea typeface="+mn-lt"/>
                <a:cs typeface="+mn-lt"/>
              </a:rPr>
              <a:t>of</a:t>
            </a:r>
            <a:r>
              <a:rPr lang="es-ES" sz="1200" spc="-1" dirty="0">
                <a:solidFill>
                  <a:srgbClr val="000000"/>
                </a:solidFill>
                <a:ea typeface="+mn-lt"/>
                <a:cs typeface="+mn-lt"/>
              </a:rPr>
              <a:t> </a:t>
            </a:r>
            <a:r>
              <a:rPr lang="es-ES" sz="1200" spc="-1" dirty="0" err="1">
                <a:solidFill>
                  <a:srgbClr val="000000"/>
                </a:solidFill>
                <a:ea typeface="+mn-lt"/>
                <a:cs typeface="+mn-lt"/>
              </a:rPr>
              <a:t>waveguide</a:t>
            </a:r>
            <a:r>
              <a:rPr lang="es-ES" sz="1200" spc="-1" dirty="0">
                <a:solidFill>
                  <a:srgbClr val="000000"/>
                </a:solidFill>
                <a:ea typeface="+mn-lt"/>
                <a:cs typeface="+mn-lt"/>
              </a:rPr>
              <a:t> </a:t>
            </a:r>
            <a:r>
              <a:rPr lang="es-ES" sz="1200" spc="-1" dirty="0" err="1">
                <a:solidFill>
                  <a:srgbClr val="000000"/>
                </a:solidFill>
                <a:ea typeface="+mn-lt"/>
                <a:cs typeface="+mn-lt"/>
              </a:rPr>
              <a:t>dispersion</a:t>
            </a:r>
            <a:r>
              <a:rPr lang="es-ES" sz="1200" spc="-1" dirty="0">
                <a:solidFill>
                  <a:srgbClr val="000000"/>
                </a:solidFill>
                <a:ea typeface="+mn-lt"/>
                <a:cs typeface="+mn-lt"/>
              </a:rPr>
              <a:t>: as λ </a:t>
            </a:r>
            <a:r>
              <a:rPr lang="es-ES" sz="1200" spc="-1" dirty="0" err="1">
                <a:solidFill>
                  <a:srgbClr val="000000"/>
                </a:solidFill>
                <a:ea typeface="+mn-lt"/>
                <a:cs typeface="+mn-lt"/>
              </a:rPr>
              <a:t>increases</a:t>
            </a:r>
            <a:r>
              <a:rPr lang="es-ES" sz="1200" spc="-1" dirty="0">
                <a:solidFill>
                  <a:srgbClr val="000000"/>
                </a:solidFill>
                <a:ea typeface="+mn-lt"/>
                <a:cs typeface="+mn-lt"/>
              </a:rPr>
              <a:t>, </a:t>
            </a:r>
            <a:r>
              <a:rPr lang="es-ES" sz="1200" spc="-1" dirty="0" err="1">
                <a:solidFill>
                  <a:srgbClr val="000000"/>
                </a:solidFill>
                <a:ea typeface="+mn-lt"/>
                <a:cs typeface="+mn-lt"/>
              </a:rPr>
              <a:t>the</a:t>
            </a:r>
            <a:r>
              <a:rPr lang="es-ES" sz="1200" spc="-1" dirty="0">
                <a:solidFill>
                  <a:srgbClr val="000000"/>
                </a:solidFill>
                <a:ea typeface="+mn-lt"/>
                <a:cs typeface="+mn-lt"/>
              </a:rPr>
              <a:t> </a:t>
            </a:r>
            <a:r>
              <a:rPr lang="es-ES" sz="1200" spc="-1" dirty="0" err="1">
                <a:solidFill>
                  <a:srgbClr val="000000"/>
                </a:solidFill>
                <a:ea typeface="+mn-lt"/>
                <a:cs typeface="+mn-lt"/>
              </a:rPr>
              <a:t>mode</a:t>
            </a:r>
            <a:r>
              <a:rPr lang="es-ES" sz="1200" spc="-1" dirty="0">
                <a:solidFill>
                  <a:srgbClr val="000000"/>
                </a:solidFill>
                <a:ea typeface="+mn-lt"/>
                <a:cs typeface="+mn-lt"/>
              </a:rPr>
              <a:t> </a:t>
            </a:r>
            <a:r>
              <a:rPr lang="es-ES" sz="1200" spc="-1" dirty="0" err="1">
                <a:solidFill>
                  <a:srgbClr val="000000"/>
                </a:solidFill>
                <a:ea typeface="+mn-lt"/>
                <a:cs typeface="+mn-lt"/>
              </a:rPr>
              <a:t>becomes</a:t>
            </a:r>
            <a:r>
              <a:rPr lang="es-ES" sz="1200" spc="-1" dirty="0">
                <a:solidFill>
                  <a:srgbClr val="000000"/>
                </a:solidFill>
                <a:ea typeface="+mn-lt"/>
                <a:cs typeface="+mn-lt"/>
              </a:rPr>
              <a:t> </a:t>
            </a:r>
            <a:r>
              <a:rPr lang="es-ES" sz="1200" spc="-1" dirty="0" err="1">
                <a:solidFill>
                  <a:srgbClr val="000000"/>
                </a:solidFill>
                <a:ea typeface="+mn-lt"/>
                <a:cs typeface="+mn-lt"/>
              </a:rPr>
              <a:t>less</a:t>
            </a:r>
            <a:r>
              <a:rPr lang="es-ES" sz="1200" spc="-1" dirty="0">
                <a:solidFill>
                  <a:srgbClr val="000000"/>
                </a:solidFill>
                <a:ea typeface="+mn-lt"/>
                <a:cs typeface="+mn-lt"/>
              </a:rPr>
              <a:t> </a:t>
            </a:r>
            <a:r>
              <a:rPr lang="es-ES" sz="1200" spc="-1" dirty="0" err="1">
                <a:solidFill>
                  <a:srgbClr val="000000"/>
                </a:solidFill>
                <a:ea typeface="+mn-lt"/>
                <a:cs typeface="+mn-lt"/>
              </a:rPr>
              <a:t>confined</a:t>
            </a:r>
            <a:r>
              <a:rPr lang="es-ES" sz="1200" spc="-1" dirty="0">
                <a:solidFill>
                  <a:srgbClr val="000000"/>
                </a:solidFill>
                <a:ea typeface="+mn-lt"/>
                <a:cs typeface="+mn-lt"/>
              </a:rPr>
              <a:t> and "</a:t>
            </a:r>
            <a:r>
              <a:rPr lang="es-ES" sz="1200" spc="-1" dirty="0" err="1">
                <a:solidFill>
                  <a:srgbClr val="000000"/>
                </a:solidFill>
                <a:ea typeface="+mn-lt"/>
                <a:cs typeface="+mn-lt"/>
              </a:rPr>
              <a:t>sees</a:t>
            </a:r>
            <a:r>
              <a:rPr lang="es-ES" sz="1200" spc="-1" dirty="0">
                <a:solidFill>
                  <a:srgbClr val="000000"/>
                </a:solidFill>
                <a:ea typeface="+mn-lt"/>
                <a:cs typeface="+mn-lt"/>
              </a:rPr>
              <a:t>" more </a:t>
            </a:r>
            <a:r>
              <a:rPr lang="es-ES" sz="1200" spc="-1" dirty="0" err="1">
                <a:solidFill>
                  <a:srgbClr val="000000"/>
                </a:solidFill>
                <a:ea typeface="+mn-lt"/>
                <a:cs typeface="+mn-lt"/>
              </a:rPr>
              <a:t>of</a:t>
            </a:r>
            <a:r>
              <a:rPr lang="es-ES" sz="1200" spc="-1" dirty="0">
                <a:solidFill>
                  <a:srgbClr val="000000"/>
                </a:solidFill>
                <a:ea typeface="+mn-lt"/>
                <a:cs typeface="+mn-lt"/>
              </a:rPr>
              <a:t> </a:t>
            </a:r>
            <a:r>
              <a:rPr lang="es-ES" sz="1200" spc="-1" dirty="0" err="1">
                <a:solidFill>
                  <a:srgbClr val="000000"/>
                </a:solidFill>
                <a:ea typeface="+mn-lt"/>
                <a:cs typeface="+mn-lt"/>
              </a:rPr>
              <a:t>the</a:t>
            </a:r>
            <a:r>
              <a:rPr lang="es-ES" sz="1200" spc="-1" dirty="0">
                <a:solidFill>
                  <a:srgbClr val="000000"/>
                </a:solidFill>
                <a:ea typeface="+mn-lt"/>
                <a:cs typeface="+mn-lt"/>
              </a:rPr>
              <a:t> </a:t>
            </a:r>
            <a:r>
              <a:rPr lang="es-ES" sz="1200" spc="-1" dirty="0" err="1">
                <a:solidFill>
                  <a:srgbClr val="000000"/>
                </a:solidFill>
                <a:ea typeface="+mn-lt"/>
                <a:cs typeface="+mn-lt"/>
              </a:rPr>
              <a:t>lower-index</a:t>
            </a:r>
            <a:r>
              <a:rPr lang="es-ES" sz="1200" spc="-1" dirty="0">
                <a:solidFill>
                  <a:srgbClr val="000000"/>
                </a:solidFill>
                <a:ea typeface="+mn-lt"/>
                <a:cs typeface="+mn-lt"/>
              </a:rPr>
              <a:t> </a:t>
            </a:r>
            <a:r>
              <a:rPr lang="es-ES" sz="1200" spc="-1" dirty="0" err="1">
                <a:solidFill>
                  <a:srgbClr val="000000"/>
                </a:solidFill>
                <a:ea typeface="+mn-lt"/>
                <a:cs typeface="+mn-lt"/>
              </a:rPr>
              <a:t>cladding</a:t>
            </a:r>
            <a:r>
              <a:rPr lang="es-ES" sz="1200" spc="-1" dirty="0">
                <a:solidFill>
                  <a:srgbClr val="000000"/>
                </a:solidFill>
                <a:ea typeface="+mn-lt"/>
                <a:cs typeface="+mn-lt"/>
              </a:rPr>
              <a:t>, </a:t>
            </a:r>
            <a:r>
              <a:rPr lang="es-ES" sz="1200" spc="-1" dirty="0" err="1">
                <a:solidFill>
                  <a:srgbClr val="000000"/>
                </a:solidFill>
                <a:ea typeface="+mn-lt"/>
                <a:cs typeface="+mn-lt"/>
              </a:rPr>
              <a:t>reducing</a:t>
            </a:r>
            <a:r>
              <a:rPr lang="es-ES" sz="1200" spc="-1" dirty="0">
                <a:solidFill>
                  <a:srgbClr val="000000"/>
                </a:solidFill>
                <a:ea typeface="+mn-lt"/>
                <a:cs typeface="+mn-lt"/>
              </a:rPr>
              <a:t> </a:t>
            </a:r>
            <a:r>
              <a:rPr lang="es-ES" sz="1200" spc="-1" dirty="0" err="1">
                <a:solidFill>
                  <a:srgbClr val="000000"/>
                </a:solidFill>
                <a:ea typeface="+mn-lt"/>
                <a:cs typeface="+mn-lt"/>
              </a:rPr>
              <a:t>its</a:t>
            </a:r>
            <a:r>
              <a:rPr lang="es-ES" sz="1200" spc="-1" dirty="0">
                <a:solidFill>
                  <a:srgbClr val="000000"/>
                </a:solidFill>
                <a:ea typeface="+mn-lt"/>
                <a:cs typeface="+mn-lt"/>
              </a:rPr>
              <a:t> </a:t>
            </a:r>
            <a:r>
              <a:rPr lang="es-ES" sz="1200" spc="-1" dirty="0" err="1">
                <a:solidFill>
                  <a:srgbClr val="000000"/>
                </a:solidFill>
                <a:ea typeface="+mn-lt"/>
                <a:cs typeface="+mn-lt"/>
              </a:rPr>
              <a:t>effective</a:t>
            </a:r>
            <a:r>
              <a:rPr lang="es-ES" sz="1200" spc="-1" dirty="0">
                <a:solidFill>
                  <a:srgbClr val="000000"/>
                </a:solidFill>
                <a:ea typeface="+mn-lt"/>
                <a:cs typeface="+mn-lt"/>
              </a:rPr>
              <a:t> </a:t>
            </a:r>
            <a:r>
              <a:rPr lang="es-ES" sz="1200" spc="-1" dirty="0" err="1">
                <a:solidFill>
                  <a:srgbClr val="000000"/>
                </a:solidFill>
                <a:ea typeface="+mn-lt"/>
                <a:cs typeface="+mn-lt"/>
              </a:rPr>
              <a:t>index</a:t>
            </a:r>
            <a:r>
              <a:rPr lang="es-ES" sz="1200" spc="-1" dirty="0">
                <a:solidFill>
                  <a:srgbClr val="000000"/>
                </a:solidFill>
                <a:ea typeface="+mn-lt"/>
                <a:cs typeface="+mn-lt"/>
              </a:rPr>
              <a:t>.</a:t>
            </a:r>
            <a:endParaRPr lang="es-ES" sz="1200" spc="-1" dirty="0"/>
          </a:p>
          <a:p>
            <a:r>
              <a:rPr lang="es-ES" sz="1200" spc="-1" dirty="0" err="1">
                <a:solidFill>
                  <a:srgbClr val="000000"/>
                </a:solidFill>
                <a:ea typeface="+mn-lt"/>
                <a:cs typeface="+mn-lt"/>
              </a:rPr>
              <a:t>If</a:t>
            </a:r>
            <a:r>
              <a:rPr lang="es-ES" sz="1200" spc="-1" dirty="0">
                <a:solidFill>
                  <a:srgbClr val="000000"/>
                </a:solidFill>
                <a:ea typeface="+mn-lt"/>
                <a:cs typeface="+mn-lt"/>
              </a:rPr>
              <a:t> </a:t>
            </a:r>
            <a:r>
              <a:rPr lang="es-ES" sz="1200" spc="-1" dirty="0" err="1">
                <a:solidFill>
                  <a:srgbClr val="000000"/>
                </a:solidFill>
                <a:ea typeface="+mn-lt"/>
                <a:cs typeface="+mn-lt"/>
              </a:rPr>
              <a:t>we</a:t>
            </a:r>
            <a:r>
              <a:rPr lang="es-ES" sz="1200" spc="-1" dirty="0">
                <a:solidFill>
                  <a:srgbClr val="000000"/>
                </a:solidFill>
                <a:ea typeface="+mn-lt"/>
                <a:cs typeface="+mn-lt"/>
              </a:rPr>
              <a:t> </a:t>
            </a:r>
            <a:r>
              <a:rPr lang="es-ES" sz="1200" spc="-1" dirty="0" err="1">
                <a:solidFill>
                  <a:srgbClr val="000000"/>
                </a:solidFill>
                <a:ea typeface="+mn-lt"/>
                <a:cs typeface="+mn-lt"/>
              </a:rPr>
              <a:t>see</a:t>
            </a:r>
            <a:r>
              <a:rPr lang="es-ES" sz="1200" spc="-1" dirty="0">
                <a:solidFill>
                  <a:srgbClr val="000000"/>
                </a:solidFill>
                <a:ea typeface="+mn-lt"/>
                <a:cs typeface="+mn-lt"/>
              </a:rPr>
              <a:t> </a:t>
            </a:r>
            <a:r>
              <a:rPr lang="es-ES" sz="1200" b="1" spc="-1" dirty="0">
                <a:solidFill>
                  <a:srgbClr val="FF0000"/>
                </a:solidFill>
                <a:ea typeface="+mn-lt"/>
                <a:cs typeface="+mn-lt"/>
              </a:rPr>
              <a:t>(1) </a:t>
            </a:r>
            <a:r>
              <a:rPr lang="es-ES" sz="1200" spc="-1" dirty="0" err="1">
                <a:solidFill>
                  <a:srgbClr val="000000"/>
                </a:solidFill>
                <a:ea typeface="+mn-lt"/>
                <a:cs typeface="+mn-lt"/>
              </a:rPr>
              <a:t>it</a:t>
            </a:r>
            <a:r>
              <a:rPr lang="es-ES" sz="1200" spc="-1" dirty="0">
                <a:solidFill>
                  <a:srgbClr val="000000"/>
                </a:solidFill>
                <a:ea typeface="+mn-lt"/>
                <a:cs typeface="+mn-lt"/>
              </a:rPr>
              <a:t> has </a:t>
            </a:r>
            <a:r>
              <a:rPr lang="es-ES" sz="1200" spc="-1" dirty="0" err="1">
                <a:solidFill>
                  <a:srgbClr val="000000"/>
                </a:solidFill>
                <a:ea typeface="+mn-lt"/>
                <a:cs typeface="+mn-lt"/>
              </a:rPr>
              <a:t>two</a:t>
            </a:r>
            <a:r>
              <a:rPr lang="es-ES" sz="1200" spc="-1" dirty="0">
                <a:solidFill>
                  <a:srgbClr val="000000"/>
                </a:solidFill>
                <a:ea typeface="+mn-lt"/>
                <a:cs typeface="+mn-lt"/>
              </a:rPr>
              <a:t> </a:t>
            </a:r>
            <a:r>
              <a:rPr lang="es-ES" sz="1200" spc="-1" dirty="0" err="1">
                <a:solidFill>
                  <a:srgbClr val="000000"/>
                </a:solidFill>
                <a:ea typeface="+mn-lt"/>
                <a:cs typeface="+mn-lt"/>
              </a:rPr>
              <a:t>contributions</a:t>
            </a:r>
            <a:r>
              <a:rPr lang="es-ES" sz="1200" spc="-1" dirty="0">
                <a:solidFill>
                  <a:srgbClr val="000000"/>
                </a:solidFill>
                <a:ea typeface="+mn-lt"/>
                <a:cs typeface="+mn-lt"/>
              </a:rPr>
              <a:t>: </a:t>
            </a:r>
            <a:r>
              <a:rPr lang="es-ES" sz="1200" spc="-1" dirty="0" err="1">
                <a:solidFill>
                  <a:srgbClr val="000000"/>
                </a:solidFill>
                <a:ea typeface="+mn-lt"/>
                <a:cs typeface="+mn-lt"/>
              </a:rPr>
              <a:t>the</a:t>
            </a:r>
            <a:r>
              <a:rPr lang="es-ES" sz="1200" spc="-1" dirty="0">
                <a:solidFill>
                  <a:srgbClr val="000000"/>
                </a:solidFill>
                <a:ea typeface="+mn-lt"/>
                <a:cs typeface="+mn-lt"/>
              </a:rPr>
              <a:t> </a:t>
            </a:r>
            <a:r>
              <a:rPr lang="es-ES" sz="1200" spc="-1" dirty="0" err="1">
                <a:solidFill>
                  <a:srgbClr val="000000"/>
                </a:solidFill>
                <a:ea typeface="+mn-lt"/>
                <a:cs typeface="+mn-lt"/>
              </a:rPr>
              <a:t>baseline</a:t>
            </a:r>
            <a:r>
              <a:rPr lang="es-ES" sz="1200" spc="-1" dirty="0">
                <a:solidFill>
                  <a:srgbClr val="000000"/>
                </a:solidFill>
                <a:ea typeface="+mn-lt"/>
                <a:cs typeface="+mn-lt"/>
              </a:rPr>
              <a:t> </a:t>
            </a:r>
            <a:r>
              <a:rPr lang="es-ES" sz="1200" spc="-1" dirty="0" err="1">
                <a:solidFill>
                  <a:srgbClr val="000000"/>
                </a:solidFill>
                <a:ea typeface="+mn-lt"/>
                <a:cs typeface="+mn-lt"/>
              </a:rPr>
              <a:t>value</a:t>
            </a:r>
            <a:r>
              <a:rPr lang="es-ES" sz="1200" spc="-1" dirty="0">
                <a:solidFill>
                  <a:srgbClr val="000000"/>
                </a:solidFill>
                <a:ea typeface="+mn-lt"/>
                <a:cs typeface="+mn-lt"/>
              </a:rPr>
              <a:t> </a:t>
            </a:r>
            <a:r>
              <a:rPr lang="es-ES" sz="1200" spc="-1" dirty="0" err="1">
                <a:solidFill>
                  <a:srgbClr val="000000"/>
                </a:solidFill>
                <a:ea typeface="+mn-lt"/>
                <a:cs typeface="+mn-lt"/>
              </a:rPr>
              <a:t>neff</a:t>
            </a:r>
            <a:r>
              <a:rPr lang="es-ES" sz="1200" spc="-1" dirty="0">
                <a:solidFill>
                  <a:srgbClr val="000000"/>
                </a:solidFill>
                <a:ea typeface="+mn-lt"/>
                <a:cs typeface="+mn-lt"/>
              </a:rPr>
              <a:t>(λ0)(</a:t>
            </a:r>
            <a:r>
              <a:rPr lang="es-ES" sz="1200" b="1" spc="-1" dirty="0">
                <a:solidFill>
                  <a:srgbClr val="000000"/>
                </a:solidFill>
                <a:ea typeface="+mn-lt"/>
                <a:cs typeface="+mn-lt"/>
              </a:rPr>
              <a:t>n1</a:t>
            </a:r>
            <a:r>
              <a:rPr lang="es-ES" sz="1200" spc="-1" dirty="0">
                <a:solidFill>
                  <a:srgbClr val="000000"/>
                </a:solidFill>
                <a:ea typeface="+mn-lt"/>
                <a:cs typeface="+mn-lt"/>
              </a:rPr>
              <a:t> </a:t>
            </a:r>
            <a:r>
              <a:rPr lang="es-ES" sz="1200" spc="-1" dirty="0" err="1">
                <a:solidFill>
                  <a:srgbClr val="000000"/>
                </a:solidFill>
                <a:ea typeface="+mn-lt"/>
                <a:cs typeface="+mn-lt"/>
              </a:rPr>
              <a:t>of</a:t>
            </a:r>
            <a:r>
              <a:rPr lang="es-ES" sz="1200" spc="-1" dirty="0">
                <a:solidFill>
                  <a:srgbClr val="000000"/>
                </a:solidFill>
                <a:ea typeface="+mn-lt"/>
                <a:cs typeface="+mn-lt"/>
              </a:rPr>
              <a:t> </a:t>
            </a:r>
            <a:r>
              <a:rPr lang="es-ES" sz="1200" spc="-1" dirty="0" err="1">
                <a:solidFill>
                  <a:srgbClr val="000000"/>
                </a:solidFill>
                <a:ea typeface="+mn-lt"/>
                <a:cs typeface="+mn-lt"/>
              </a:rPr>
              <a:t>the</a:t>
            </a:r>
            <a:r>
              <a:rPr lang="es-ES" sz="1200" spc="-1" dirty="0">
                <a:solidFill>
                  <a:srgbClr val="000000"/>
                </a:solidFill>
                <a:ea typeface="+mn-lt"/>
                <a:cs typeface="+mn-lt"/>
              </a:rPr>
              <a:t> </a:t>
            </a:r>
            <a:r>
              <a:rPr lang="es-ES" sz="1200" spc="-1" dirty="0" err="1">
                <a:solidFill>
                  <a:srgbClr val="000000"/>
                </a:solidFill>
                <a:ea typeface="+mn-lt"/>
                <a:cs typeface="+mn-lt"/>
              </a:rPr>
              <a:t>polynomial</a:t>
            </a:r>
            <a:r>
              <a:rPr lang="es-ES" sz="1200" spc="-1" dirty="0">
                <a:solidFill>
                  <a:srgbClr val="000000"/>
                </a:solidFill>
                <a:ea typeface="+mn-lt"/>
                <a:cs typeface="+mn-lt"/>
              </a:rPr>
              <a:t> </a:t>
            </a:r>
            <a:r>
              <a:rPr lang="es-ES" sz="1200" spc="-1" dirty="0" err="1">
                <a:solidFill>
                  <a:srgbClr val="000000"/>
                </a:solidFill>
                <a:ea typeface="+mn-lt"/>
                <a:cs typeface="+mn-lt"/>
              </a:rPr>
              <a:t>fit</a:t>
            </a:r>
            <a:r>
              <a:rPr lang="es-ES" sz="1200" spc="-1" dirty="0">
                <a:solidFill>
                  <a:srgbClr val="000000"/>
                </a:solidFill>
                <a:ea typeface="+mn-lt"/>
                <a:cs typeface="+mn-lt"/>
              </a:rPr>
              <a:t>), and a </a:t>
            </a:r>
            <a:r>
              <a:rPr lang="es-ES" sz="1200" spc="-1" dirty="0" err="1">
                <a:solidFill>
                  <a:srgbClr val="000000"/>
                </a:solidFill>
                <a:ea typeface="+mn-lt"/>
                <a:cs typeface="+mn-lt"/>
              </a:rPr>
              <a:t>correction</a:t>
            </a:r>
            <a:r>
              <a:rPr lang="es-ES" sz="1200" spc="-1" dirty="0">
                <a:solidFill>
                  <a:srgbClr val="000000"/>
                </a:solidFill>
                <a:ea typeface="+mn-lt"/>
                <a:cs typeface="+mn-lt"/>
              </a:rPr>
              <a:t> </a:t>
            </a:r>
            <a:r>
              <a:rPr lang="es-ES" sz="1200" spc="-1" dirty="0" err="1">
                <a:solidFill>
                  <a:srgbClr val="000000"/>
                </a:solidFill>
                <a:ea typeface="+mn-lt"/>
                <a:cs typeface="+mn-lt"/>
              </a:rPr>
              <a:t>term</a:t>
            </a:r>
            <a:r>
              <a:rPr lang="es-ES" sz="1200" spc="-1" dirty="0">
                <a:solidFill>
                  <a:srgbClr val="000000"/>
                </a:solidFill>
                <a:ea typeface="+mn-lt"/>
                <a:cs typeface="+mn-lt"/>
              </a:rPr>
              <a:t> </a:t>
            </a:r>
            <a:r>
              <a:rPr lang="es-ES" sz="1200" spc="-1" dirty="0" err="1">
                <a:solidFill>
                  <a:srgbClr val="000000"/>
                </a:solidFill>
                <a:ea typeface="+mn-lt"/>
                <a:cs typeface="+mn-lt"/>
              </a:rPr>
              <a:t>related</a:t>
            </a:r>
            <a:r>
              <a:rPr lang="es-ES" sz="1200" spc="-1" dirty="0">
                <a:solidFill>
                  <a:srgbClr val="000000"/>
                </a:solidFill>
                <a:ea typeface="+mn-lt"/>
                <a:cs typeface="+mn-lt"/>
              </a:rPr>
              <a:t> </a:t>
            </a:r>
            <a:r>
              <a:rPr lang="es-ES" sz="1200" spc="-1" dirty="0" err="1">
                <a:solidFill>
                  <a:srgbClr val="000000"/>
                </a:solidFill>
                <a:ea typeface="+mn-lt"/>
                <a:cs typeface="+mn-lt"/>
              </a:rPr>
              <a:t>to</a:t>
            </a:r>
            <a:r>
              <a:rPr lang="es-ES" sz="1200" spc="-1" dirty="0">
                <a:solidFill>
                  <a:srgbClr val="000000"/>
                </a:solidFill>
                <a:ea typeface="+mn-lt"/>
                <a:cs typeface="+mn-lt"/>
              </a:rPr>
              <a:t> </a:t>
            </a:r>
            <a:r>
              <a:rPr lang="es-ES" sz="1200" spc="-1" dirty="0" err="1">
                <a:solidFill>
                  <a:srgbClr val="000000"/>
                </a:solidFill>
                <a:ea typeface="+mn-lt"/>
                <a:cs typeface="+mn-lt"/>
              </a:rPr>
              <a:t>the</a:t>
            </a:r>
            <a:r>
              <a:rPr lang="es-ES" sz="1200" spc="-1" dirty="0">
                <a:solidFill>
                  <a:srgbClr val="000000"/>
                </a:solidFill>
                <a:ea typeface="+mn-lt"/>
                <a:cs typeface="+mn-lt"/>
              </a:rPr>
              <a:t> </a:t>
            </a:r>
            <a:r>
              <a:rPr lang="es-ES" sz="1200" spc="-1" dirty="0" err="1">
                <a:solidFill>
                  <a:srgbClr val="000000"/>
                </a:solidFill>
                <a:ea typeface="+mn-lt"/>
                <a:cs typeface="+mn-lt"/>
              </a:rPr>
              <a:t>slope</a:t>
            </a:r>
            <a:r>
              <a:rPr lang="es-ES" sz="1200" spc="-1" dirty="0">
                <a:solidFill>
                  <a:srgbClr val="000000"/>
                </a:solidFill>
                <a:ea typeface="+mn-lt"/>
                <a:cs typeface="+mn-lt"/>
              </a:rPr>
              <a:t> (</a:t>
            </a:r>
            <a:r>
              <a:rPr lang="es-ES" sz="1200" b="1" spc="-1" dirty="0" err="1">
                <a:solidFill>
                  <a:srgbClr val="000000"/>
                </a:solidFill>
                <a:ea typeface="+mn-lt"/>
                <a:cs typeface="+mn-lt"/>
              </a:rPr>
              <a:t>n2</a:t>
            </a:r>
            <a:r>
              <a:rPr lang="es-ES" sz="1200" spc="-1" dirty="0" err="1">
                <a:solidFill>
                  <a:srgbClr val="000000"/>
                </a:solidFill>
                <a:ea typeface="+mn-lt"/>
                <a:cs typeface="+mn-lt"/>
              </a:rPr>
              <a:t>)</a:t>
            </a:r>
            <a:r>
              <a:rPr lang="es-ES" sz="1200" spc="-1" dirty="0">
                <a:solidFill>
                  <a:srgbClr val="000000"/>
                </a:solidFill>
                <a:ea typeface="+mn-lt"/>
                <a:cs typeface="+mn-lt"/>
              </a:rPr>
              <a:t>. A </a:t>
            </a:r>
            <a:r>
              <a:rPr lang="es-ES" sz="1200" spc="-1" dirty="0" err="1">
                <a:solidFill>
                  <a:srgbClr val="000000"/>
                </a:solidFill>
                <a:ea typeface="+mn-lt"/>
                <a:cs typeface="+mn-lt"/>
              </a:rPr>
              <a:t>steeper</a:t>
            </a:r>
            <a:r>
              <a:rPr lang="es-ES" sz="1200" spc="-1" dirty="0">
                <a:solidFill>
                  <a:srgbClr val="000000"/>
                </a:solidFill>
                <a:ea typeface="+mn-lt"/>
                <a:cs typeface="+mn-lt"/>
              </a:rPr>
              <a:t> negative </a:t>
            </a:r>
            <a:r>
              <a:rPr lang="es-ES" sz="1200" spc="-1" dirty="0" err="1">
                <a:solidFill>
                  <a:srgbClr val="000000"/>
                </a:solidFill>
                <a:ea typeface="+mn-lt"/>
                <a:cs typeface="+mn-lt"/>
              </a:rPr>
              <a:t>slope</a:t>
            </a:r>
            <a:r>
              <a:rPr lang="es-ES" sz="1200" spc="-1" dirty="0">
                <a:solidFill>
                  <a:srgbClr val="000000"/>
                </a:solidFill>
                <a:ea typeface="+mn-lt"/>
                <a:cs typeface="+mn-lt"/>
              </a:rPr>
              <a:t> </a:t>
            </a:r>
            <a:r>
              <a:rPr lang="es-ES" sz="1200" spc="-1" dirty="0" err="1">
                <a:solidFill>
                  <a:srgbClr val="000000"/>
                </a:solidFill>
                <a:ea typeface="+mn-lt"/>
                <a:cs typeface="+mn-lt"/>
              </a:rPr>
              <a:t>pushes</a:t>
            </a:r>
            <a:r>
              <a:rPr lang="es-ES" sz="1200" spc="-1" dirty="0">
                <a:solidFill>
                  <a:srgbClr val="000000"/>
                </a:solidFill>
                <a:ea typeface="+mn-lt"/>
                <a:cs typeface="+mn-lt"/>
              </a:rPr>
              <a:t> ng </a:t>
            </a:r>
            <a:r>
              <a:rPr lang="es-ES" sz="1200" spc="-1" dirty="0" err="1">
                <a:solidFill>
                  <a:srgbClr val="000000"/>
                </a:solidFill>
                <a:ea typeface="+mn-lt"/>
                <a:cs typeface="+mn-lt"/>
              </a:rPr>
              <a:t>above</a:t>
            </a:r>
            <a:r>
              <a:rPr lang="es-ES" sz="1200" spc="-1" dirty="0">
                <a:solidFill>
                  <a:srgbClr val="000000"/>
                </a:solidFill>
                <a:ea typeface="+mn-lt"/>
                <a:cs typeface="+mn-lt"/>
              </a:rPr>
              <a:t> </a:t>
            </a:r>
            <a:r>
              <a:rPr lang="es-ES" sz="1200" spc="-1" dirty="0" err="1">
                <a:solidFill>
                  <a:srgbClr val="000000"/>
                </a:solidFill>
                <a:ea typeface="+mn-lt"/>
                <a:cs typeface="+mn-lt"/>
              </a:rPr>
              <a:t>neff</a:t>
            </a:r>
            <a:r>
              <a:rPr lang="es-ES" sz="1200" spc="-1" dirty="0">
                <a:solidFill>
                  <a:srgbClr val="000000"/>
                </a:solidFill>
                <a:ea typeface="+mn-lt"/>
                <a:cs typeface="+mn-lt"/>
              </a:rPr>
              <a:t>, </a:t>
            </a:r>
            <a:r>
              <a:rPr lang="es-ES" sz="1200" spc="-1" dirty="0" err="1">
                <a:solidFill>
                  <a:srgbClr val="000000"/>
                </a:solidFill>
                <a:ea typeface="+mn-lt"/>
                <a:cs typeface="+mn-lt"/>
              </a:rPr>
              <a:t>meaning</a:t>
            </a:r>
            <a:r>
              <a:rPr lang="es-ES" sz="1200" spc="-1" dirty="0">
                <a:solidFill>
                  <a:srgbClr val="000000"/>
                </a:solidFill>
                <a:ea typeface="+mn-lt"/>
                <a:cs typeface="+mn-lt"/>
              </a:rPr>
              <a:t> </a:t>
            </a:r>
            <a:r>
              <a:rPr lang="es-ES" sz="1200" spc="-1" dirty="0" err="1">
                <a:solidFill>
                  <a:srgbClr val="000000"/>
                </a:solidFill>
                <a:ea typeface="+mn-lt"/>
                <a:cs typeface="+mn-lt"/>
              </a:rPr>
              <a:t>the</a:t>
            </a:r>
            <a:r>
              <a:rPr lang="es-ES" sz="1200" spc="-1" dirty="0">
                <a:solidFill>
                  <a:srgbClr val="000000"/>
                </a:solidFill>
                <a:ea typeface="+mn-lt"/>
                <a:cs typeface="+mn-lt"/>
              </a:rPr>
              <a:t> </a:t>
            </a:r>
            <a:r>
              <a:rPr lang="es-ES" sz="1200" spc="-1" dirty="0" err="1">
                <a:solidFill>
                  <a:srgbClr val="000000"/>
                </a:solidFill>
                <a:ea typeface="+mn-lt"/>
                <a:cs typeface="+mn-lt"/>
              </a:rPr>
              <a:t>mode's</a:t>
            </a:r>
            <a:r>
              <a:rPr lang="es-ES" sz="1200" spc="-1" dirty="0">
                <a:solidFill>
                  <a:srgbClr val="000000"/>
                </a:solidFill>
                <a:ea typeface="+mn-lt"/>
                <a:cs typeface="+mn-lt"/>
              </a:rPr>
              <a:t> </a:t>
            </a:r>
            <a:r>
              <a:rPr lang="es-ES" sz="1200" spc="-1" dirty="0" err="1">
                <a:solidFill>
                  <a:srgbClr val="000000"/>
                </a:solidFill>
                <a:ea typeface="+mn-lt"/>
                <a:cs typeface="+mn-lt"/>
              </a:rPr>
              <a:t>group</a:t>
            </a:r>
            <a:r>
              <a:rPr lang="es-ES" sz="1200" spc="-1" dirty="0">
                <a:solidFill>
                  <a:srgbClr val="000000"/>
                </a:solidFill>
                <a:ea typeface="+mn-lt"/>
                <a:cs typeface="+mn-lt"/>
              </a:rPr>
              <a:t> </a:t>
            </a:r>
            <a:r>
              <a:rPr lang="es-ES" sz="1200" spc="-1" dirty="0" err="1">
                <a:solidFill>
                  <a:srgbClr val="000000"/>
                </a:solidFill>
                <a:ea typeface="+mn-lt"/>
                <a:cs typeface="+mn-lt"/>
              </a:rPr>
              <a:t>velocity</a:t>
            </a:r>
            <a:r>
              <a:rPr lang="es-ES" sz="1200" spc="-1" dirty="0">
                <a:solidFill>
                  <a:srgbClr val="000000"/>
                </a:solidFill>
                <a:ea typeface="+mn-lt"/>
                <a:cs typeface="+mn-lt"/>
              </a:rPr>
              <a:t> </a:t>
            </a:r>
            <a:r>
              <a:rPr lang="es-ES" sz="1200" spc="-1" dirty="0" err="1">
                <a:solidFill>
                  <a:srgbClr val="000000"/>
                </a:solidFill>
                <a:ea typeface="+mn-lt"/>
                <a:cs typeface="+mn-lt"/>
              </a:rPr>
              <a:t>is</a:t>
            </a:r>
            <a:r>
              <a:rPr lang="es-ES" sz="1200" spc="-1" dirty="0">
                <a:solidFill>
                  <a:srgbClr val="000000"/>
                </a:solidFill>
                <a:ea typeface="+mn-lt"/>
                <a:cs typeface="+mn-lt"/>
              </a:rPr>
              <a:t> </a:t>
            </a:r>
            <a:r>
              <a:rPr lang="es-ES" sz="1200" spc="-1" dirty="0" err="1">
                <a:solidFill>
                  <a:srgbClr val="000000"/>
                </a:solidFill>
                <a:ea typeface="+mn-lt"/>
                <a:cs typeface="+mn-lt"/>
              </a:rPr>
              <a:t>slower</a:t>
            </a:r>
            <a:r>
              <a:rPr lang="es-ES" sz="1200" spc="-1" dirty="0">
                <a:solidFill>
                  <a:srgbClr val="000000"/>
                </a:solidFill>
                <a:ea typeface="+mn-lt"/>
                <a:cs typeface="+mn-lt"/>
              </a:rPr>
              <a:t>. </a:t>
            </a:r>
            <a:r>
              <a:rPr lang="es-ES" sz="1200" spc="-1" dirty="0" err="1">
                <a:solidFill>
                  <a:srgbClr val="000000"/>
                </a:solidFill>
                <a:ea typeface="+mn-lt"/>
                <a:cs typeface="+mn-lt"/>
              </a:rPr>
              <a:t>Visually</a:t>
            </a:r>
            <a:r>
              <a:rPr lang="es-ES" sz="1200" spc="-1" dirty="0">
                <a:solidFill>
                  <a:srgbClr val="000000"/>
                </a:solidFill>
                <a:ea typeface="+mn-lt"/>
                <a:cs typeface="+mn-lt"/>
              </a:rPr>
              <a:t>, </a:t>
            </a:r>
            <a:r>
              <a:rPr lang="es-ES" sz="1200" spc="-1" dirty="0" err="1">
                <a:solidFill>
                  <a:srgbClr val="000000"/>
                </a:solidFill>
                <a:ea typeface="+mn-lt"/>
                <a:cs typeface="+mn-lt"/>
              </a:rPr>
              <a:t>the</a:t>
            </a:r>
            <a:r>
              <a:rPr lang="es-ES" sz="1200" spc="-1" dirty="0">
                <a:solidFill>
                  <a:srgbClr val="000000"/>
                </a:solidFill>
                <a:ea typeface="+mn-lt"/>
                <a:cs typeface="+mn-lt"/>
              </a:rPr>
              <a:t> TE</a:t>
            </a:r>
            <a:r>
              <a:rPr lang="es-ES" sz="1200" spc="-1" dirty="0" err="1">
                <a:solidFill>
                  <a:srgbClr val="000000"/>
                </a:solidFill>
                <a:ea typeface="+mn-lt"/>
                <a:cs typeface="+mn-lt"/>
              </a:rPr>
              <a:t>0 cu</a:t>
            </a:r>
            <a:r>
              <a:rPr lang="es-ES" sz="1200" spc="-1" dirty="0">
                <a:solidFill>
                  <a:srgbClr val="000000"/>
                </a:solidFill>
                <a:ea typeface="+mn-lt"/>
                <a:cs typeface="+mn-lt"/>
              </a:rPr>
              <a:t>r</a:t>
            </a:r>
            <a:r>
              <a:rPr lang="es-ES" sz="1200" spc="-1" dirty="0" err="1">
                <a:solidFill>
                  <a:srgbClr val="000000"/>
                </a:solidFill>
                <a:ea typeface="+mn-lt"/>
                <a:cs typeface="+mn-lt"/>
              </a:rPr>
              <a:t>ve in</a:t>
            </a:r>
            <a:r>
              <a:rPr lang="es-ES" sz="1200" spc="-1" dirty="0">
                <a:solidFill>
                  <a:srgbClr val="000000"/>
                </a:solidFill>
                <a:ea typeface="+mn-lt"/>
                <a:cs typeface="+mn-lt"/>
              </a:rPr>
              <a:t> </a:t>
            </a:r>
            <a:r>
              <a:rPr lang="es-ES" sz="1200" spc="-1" dirty="0" err="1">
                <a:solidFill>
                  <a:srgbClr val="000000"/>
                </a:solidFill>
                <a:ea typeface="+mn-lt"/>
                <a:cs typeface="+mn-lt"/>
              </a:rPr>
              <a:t>both</a:t>
            </a:r>
            <a:r>
              <a:rPr lang="es-ES" sz="1200" spc="-1" dirty="0">
                <a:solidFill>
                  <a:srgbClr val="000000"/>
                </a:solidFill>
                <a:ea typeface="+mn-lt"/>
                <a:cs typeface="+mn-lt"/>
              </a:rPr>
              <a:t> </a:t>
            </a:r>
            <a:r>
              <a:rPr lang="es-ES" sz="1200" spc="-1" dirty="0" err="1">
                <a:solidFill>
                  <a:srgbClr val="000000"/>
                </a:solidFill>
                <a:ea typeface="+mn-lt"/>
                <a:cs typeface="+mn-lt"/>
              </a:rPr>
              <a:t>plots</a:t>
            </a:r>
            <a:r>
              <a:rPr lang="es-ES" sz="1200" spc="-1" dirty="0">
                <a:solidFill>
                  <a:srgbClr val="000000"/>
                </a:solidFill>
                <a:ea typeface="+mn-lt"/>
                <a:cs typeface="+mn-lt"/>
              </a:rPr>
              <a:t> </a:t>
            </a:r>
            <a:r>
              <a:rPr lang="es-ES" sz="1200" spc="-1" dirty="0" err="1">
                <a:solidFill>
                  <a:srgbClr val="000000"/>
                </a:solidFill>
                <a:ea typeface="+mn-lt"/>
                <a:cs typeface="+mn-lt"/>
              </a:rPr>
              <a:t>is</a:t>
            </a:r>
            <a:r>
              <a:rPr lang="es-ES" sz="1200" spc="-1" dirty="0">
                <a:solidFill>
                  <a:srgbClr val="000000"/>
                </a:solidFill>
                <a:ea typeface="+mn-lt"/>
                <a:cs typeface="+mn-lt"/>
              </a:rPr>
              <a:t> </a:t>
            </a:r>
            <a:r>
              <a:rPr lang="es-ES" sz="1200" spc="-1" dirty="0" err="1">
                <a:solidFill>
                  <a:srgbClr val="000000"/>
                </a:solidFill>
                <a:ea typeface="+mn-lt"/>
                <a:cs typeface="+mn-lt"/>
              </a:rPr>
              <a:t>steeper</a:t>
            </a:r>
            <a:r>
              <a:rPr lang="es-ES" sz="1200" spc="-1" dirty="0">
                <a:solidFill>
                  <a:srgbClr val="000000"/>
                </a:solidFill>
                <a:ea typeface="+mn-lt"/>
                <a:cs typeface="+mn-lt"/>
              </a:rPr>
              <a:t> </a:t>
            </a:r>
            <a:r>
              <a:rPr lang="es-ES" sz="1200" spc="-1" dirty="0" err="1">
                <a:solidFill>
                  <a:srgbClr val="000000"/>
                </a:solidFill>
                <a:ea typeface="+mn-lt"/>
                <a:cs typeface="+mn-lt"/>
              </a:rPr>
              <a:t>than</a:t>
            </a:r>
            <a:r>
              <a:rPr lang="es-ES" sz="1200" spc="-1" dirty="0">
                <a:solidFill>
                  <a:srgbClr val="000000"/>
                </a:solidFill>
                <a:ea typeface="+mn-lt"/>
                <a:cs typeface="+mn-lt"/>
              </a:rPr>
              <a:t> TM0, </a:t>
            </a:r>
            <a:r>
              <a:rPr lang="es-ES" sz="1200" spc="-1" dirty="0" err="1">
                <a:solidFill>
                  <a:srgbClr val="000000"/>
                </a:solidFill>
                <a:ea typeface="+mn-lt"/>
                <a:cs typeface="+mn-lt"/>
              </a:rPr>
              <a:t>pointing</a:t>
            </a:r>
            <a:r>
              <a:rPr lang="es-ES" sz="1200" spc="-1" dirty="0">
                <a:solidFill>
                  <a:srgbClr val="000000"/>
                </a:solidFill>
                <a:ea typeface="+mn-lt"/>
                <a:cs typeface="+mn-lt"/>
              </a:rPr>
              <a:t> </a:t>
            </a:r>
            <a:r>
              <a:rPr lang="es-ES" sz="1200" spc="-1" dirty="0" err="1">
                <a:solidFill>
                  <a:srgbClr val="000000"/>
                </a:solidFill>
                <a:ea typeface="+mn-lt"/>
                <a:cs typeface="+mn-lt"/>
              </a:rPr>
              <a:t>to</a:t>
            </a:r>
            <a:r>
              <a:rPr lang="es-ES" sz="1200" spc="-1" dirty="0">
                <a:solidFill>
                  <a:srgbClr val="000000"/>
                </a:solidFill>
                <a:ea typeface="+mn-lt"/>
                <a:cs typeface="+mn-lt"/>
              </a:rPr>
              <a:t> a </a:t>
            </a:r>
            <a:r>
              <a:rPr lang="es-ES" sz="1200" spc="-1" dirty="0" err="1">
                <a:solidFill>
                  <a:srgbClr val="000000"/>
                </a:solidFill>
                <a:ea typeface="+mn-lt"/>
                <a:cs typeface="+mn-lt"/>
              </a:rPr>
              <a:t>larger</a:t>
            </a:r>
            <a:r>
              <a:rPr lang="es-ES" sz="1200" spc="-1" dirty="0">
                <a:solidFill>
                  <a:srgbClr val="000000"/>
                </a:solidFill>
                <a:ea typeface="+mn-lt"/>
                <a:cs typeface="+mn-lt"/>
              </a:rPr>
              <a:t> </a:t>
            </a:r>
            <a:r>
              <a:rPr lang="es-ES" sz="1200" i="1" spc="-1" dirty="0">
                <a:solidFill>
                  <a:srgbClr val="000000"/>
                </a:solidFill>
                <a:ea typeface="+mn-lt"/>
                <a:cs typeface="+mn-lt"/>
              </a:rPr>
              <a:t>ng</a:t>
            </a:r>
            <a:r>
              <a:rPr lang="es-ES" sz="1200" spc="-1" dirty="0">
                <a:solidFill>
                  <a:srgbClr val="000000"/>
                </a:solidFill>
                <a:ea typeface="+mn-lt"/>
                <a:cs typeface="+mn-lt"/>
              </a:rPr>
              <a:t> </a:t>
            </a:r>
            <a:r>
              <a:rPr lang="es-ES" sz="1200" spc="-1" dirty="0" err="1">
                <a:solidFill>
                  <a:srgbClr val="000000"/>
                </a:solidFill>
                <a:ea typeface="+mn-lt"/>
                <a:cs typeface="+mn-lt"/>
              </a:rPr>
              <a:t>for</a:t>
            </a:r>
            <a:r>
              <a:rPr lang="es-ES" sz="1200" spc="-1" dirty="0">
                <a:solidFill>
                  <a:srgbClr val="000000"/>
                </a:solidFill>
                <a:ea typeface="+mn-lt"/>
                <a:cs typeface="+mn-lt"/>
              </a:rPr>
              <a:t> TE.</a:t>
            </a:r>
            <a:endParaRPr lang="es-ES" dirty="0"/>
          </a:p>
          <a:p>
            <a:r>
              <a:rPr lang="es-ES" sz="1200" spc="-1" dirty="0" err="1">
                <a:solidFill>
                  <a:srgbClr val="000000"/>
                </a:solidFill>
                <a:latin typeface="Arial"/>
              </a:rPr>
              <a:t>Shallow</a:t>
            </a:r>
            <a:r>
              <a:rPr lang="es-ES" sz="1200" spc="-1" dirty="0">
                <a:solidFill>
                  <a:srgbClr val="000000"/>
                </a:solidFill>
                <a:latin typeface="Arial"/>
              </a:rPr>
              <a:t> </a:t>
            </a:r>
            <a:r>
              <a:rPr lang="es-ES" sz="1200" spc="-1" dirty="0" err="1">
                <a:solidFill>
                  <a:srgbClr val="000000"/>
                </a:solidFill>
                <a:latin typeface="Arial"/>
              </a:rPr>
              <a:t>Comparisson</a:t>
            </a:r>
            <a:r>
              <a:rPr lang="es-ES" sz="1200" spc="-1" dirty="0">
                <a:solidFill>
                  <a:srgbClr val="000000"/>
                </a:solidFill>
                <a:latin typeface="Arial"/>
              </a:rPr>
              <a:t>:  Similar as </a:t>
            </a:r>
            <a:r>
              <a:rPr lang="es-ES" sz="1200" spc="-1" dirty="0" err="1">
                <a:solidFill>
                  <a:srgbClr val="000000"/>
                </a:solidFill>
                <a:latin typeface="Arial"/>
              </a:rPr>
              <a:t>the</a:t>
            </a:r>
            <a:r>
              <a:rPr lang="es-ES" sz="1200" spc="-1" dirty="0">
                <a:solidFill>
                  <a:srgbClr val="000000"/>
                </a:solidFill>
                <a:latin typeface="Arial"/>
              </a:rPr>
              <a:t> </a:t>
            </a:r>
            <a:r>
              <a:rPr lang="es-ES" sz="1200" spc="-1" dirty="0" err="1">
                <a:solidFill>
                  <a:srgbClr val="000000"/>
                </a:solidFill>
                <a:latin typeface="Arial"/>
              </a:rPr>
              <a:t>comments</a:t>
            </a:r>
            <a:r>
              <a:rPr lang="es-ES" sz="1200" spc="-1" dirty="0">
                <a:solidFill>
                  <a:srgbClr val="000000"/>
                </a:solidFill>
                <a:latin typeface="Arial"/>
              </a:rPr>
              <a:t> </a:t>
            </a:r>
            <a:r>
              <a:rPr lang="es-ES" sz="1200" spc="-1" dirty="0" err="1">
                <a:solidFill>
                  <a:srgbClr val="000000"/>
                </a:solidFill>
                <a:latin typeface="Arial"/>
              </a:rPr>
              <a:t>of</a:t>
            </a:r>
            <a:r>
              <a:rPr lang="es-ES" sz="1200" spc="-1" dirty="0">
                <a:solidFill>
                  <a:srgbClr val="000000"/>
                </a:solidFill>
                <a:latin typeface="Arial"/>
              </a:rPr>
              <a:t> </a:t>
            </a:r>
            <a:r>
              <a:rPr lang="es-ES" sz="1200" spc="-1" dirty="0" err="1">
                <a:solidFill>
                  <a:srgbClr val="000000"/>
                </a:solidFill>
                <a:latin typeface="Arial"/>
              </a:rPr>
              <a:t>deep</a:t>
            </a:r>
            <a:r>
              <a:rPr lang="es-ES" sz="1200" spc="-1" dirty="0">
                <a:solidFill>
                  <a:srgbClr val="000000"/>
                </a:solidFill>
                <a:latin typeface="Arial"/>
              </a:rPr>
              <a:t> </a:t>
            </a:r>
            <a:r>
              <a:rPr lang="es-ES" sz="1200" spc="-1" dirty="0" err="1">
                <a:solidFill>
                  <a:srgbClr val="000000"/>
                </a:solidFill>
                <a:latin typeface="Arial"/>
              </a:rPr>
              <a:t>comparisson</a:t>
            </a:r>
            <a:r>
              <a:rPr lang="es-ES" sz="1200" spc="-1" dirty="0">
                <a:solidFill>
                  <a:srgbClr val="000000"/>
                </a:solidFill>
                <a:latin typeface="Arial"/>
              </a:rPr>
              <a:t>, </a:t>
            </a:r>
            <a:r>
              <a:rPr lang="es-ES" sz="1200" spc="-1" dirty="0" err="1">
                <a:solidFill>
                  <a:srgbClr val="000000"/>
                </a:solidFill>
                <a:latin typeface="Arial"/>
              </a:rPr>
              <a:t>but</a:t>
            </a:r>
            <a:r>
              <a:rPr lang="es-ES" sz="1200" spc="-1" dirty="0">
                <a:solidFill>
                  <a:srgbClr val="000000"/>
                </a:solidFill>
                <a:latin typeface="Arial"/>
              </a:rPr>
              <a:t> </a:t>
            </a:r>
            <a:r>
              <a:rPr lang="es-ES" sz="1200" spc="-1" dirty="0">
                <a:solidFill>
                  <a:srgbClr val="000000"/>
                </a:solidFill>
                <a:ea typeface="+mn-lt"/>
                <a:cs typeface="+mn-lt"/>
              </a:rPr>
              <a:t>shows a </a:t>
            </a:r>
            <a:r>
              <a:rPr lang="es-ES" sz="1200" spc="-1" dirty="0" err="1">
                <a:solidFill>
                  <a:srgbClr val="000000"/>
                </a:solidFill>
                <a:ea typeface="+mn-lt"/>
                <a:cs typeface="+mn-lt"/>
              </a:rPr>
              <a:t>subtly</a:t>
            </a:r>
            <a:r>
              <a:rPr lang="es-ES" sz="1200" spc="-1" dirty="0">
                <a:solidFill>
                  <a:srgbClr val="000000"/>
                </a:solidFill>
                <a:ea typeface="+mn-lt"/>
                <a:cs typeface="+mn-lt"/>
              </a:rPr>
              <a:t> </a:t>
            </a:r>
            <a:r>
              <a:rPr lang="es-ES" sz="1200" spc="-1" dirty="0" err="1">
                <a:solidFill>
                  <a:srgbClr val="000000"/>
                </a:solidFill>
                <a:ea typeface="+mn-lt"/>
                <a:cs typeface="+mn-lt"/>
              </a:rPr>
              <a:t>flatter</a:t>
            </a:r>
            <a:r>
              <a:rPr lang="es-ES" sz="1200" spc="-1" dirty="0">
                <a:solidFill>
                  <a:srgbClr val="000000"/>
                </a:solidFill>
                <a:ea typeface="+mn-lt"/>
                <a:cs typeface="+mn-lt"/>
              </a:rPr>
              <a:t> TM0 curve</a:t>
            </a:r>
            <a:r>
              <a:rPr lang="es-ES" sz="1200" spc="-1" dirty="0">
                <a:solidFill>
                  <a:srgbClr val="000000"/>
                </a:solidFill>
                <a:latin typeface="Arial"/>
              </a:rPr>
              <a:t> </a:t>
            </a:r>
            <a:r>
              <a:rPr lang="es-ES" sz="1200" spc="-1" dirty="0" err="1">
                <a:solidFill>
                  <a:srgbClr val="000000"/>
                </a:solidFill>
                <a:latin typeface="Arial"/>
              </a:rPr>
              <a:t>introduced</a:t>
            </a:r>
            <a:r>
              <a:rPr lang="es-ES" sz="1200" spc="-1" dirty="0">
                <a:solidFill>
                  <a:srgbClr val="000000"/>
                </a:solidFill>
                <a:latin typeface="Arial"/>
              </a:rPr>
              <a:t>, </a:t>
            </a:r>
            <a:r>
              <a:rPr lang="es-ES" sz="1200" spc="-1" dirty="0" err="1">
                <a:solidFill>
                  <a:srgbClr val="000000"/>
                </a:solidFill>
                <a:latin typeface="Arial"/>
              </a:rPr>
              <a:t>which</a:t>
            </a:r>
            <a:r>
              <a:rPr lang="es-ES" sz="1200" spc="-1" dirty="0">
                <a:solidFill>
                  <a:srgbClr val="000000"/>
                </a:solidFill>
                <a:latin typeface="Arial"/>
              </a:rPr>
              <a:t> </a:t>
            </a:r>
            <a:r>
              <a:rPr lang="es-ES" sz="1200" spc="-1" dirty="0" err="1">
                <a:solidFill>
                  <a:srgbClr val="000000"/>
                </a:solidFill>
                <a:latin typeface="Arial"/>
              </a:rPr>
              <a:t>means</a:t>
            </a:r>
            <a:r>
              <a:rPr lang="es-ES" sz="1200" spc="-1" dirty="0">
                <a:solidFill>
                  <a:srgbClr val="000000"/>
                </a:solidFill>
                <a:latin typeface="Arial"/>
              </a:rPr>
              <a:t> </a:t>
            </a:r>
            <a:r>
              <a:rPr lang="es-ES" sz="1200" spc="-1" dirty="0" err="1">
                <a:solidFill>
                  <a:srgbClr val="000000"/>
                </a:solidFill>
                <a:latin typeface="Arial"/>
              </a:rPr>
              <a:t>reduced</a:t>
            </a:r>
            <a:r>
              <a:rPr lang="es-ES" sz="1200" spc="-1" dirty="0">
                <a:solidFill>
                  <a:srgbClr val="000000"/>
                </a:solidFill>
                <a:latin typeface="Arial"/>
              </a:rPr>
              <a:t> </a:t>
            </a:r>
            <a:r>
              <a:rPr lang="es-ES" sz="1200" spc="-1" dirty="0" err="1">
                <a:solidFill>
                  <a:srgbClr val="000000"/>
                </a:solidFill>
                <a:latin typeface="Arial"/>
              </a:rPr>
              <a:t>dispersion</a:t>
            </a:r>
            <a:r>
              <a:rPr lang="es-ES" sz="1200" spc="-1" dirty="0">
                <a:solidFill>
                  <a:srgbClr val="000000"/>
                </a:solidFill>
                <a:latin typeface="Arial"/>
              </a:rPr>
              <a:t> </a:t>
            </a:r>
            <a:r>
              <a:rPr lang="es-ES" sz="1200" spc="-1" dirty="0" err="1">
                <a:solidFill>
                  <a:srgbClr val="000000"/>
                </a:solidFill>
                <a:latin typeface="Arial"/>
              </a:rPr>
              <a:t>because</a:t>
            </a:r>
            <a:r>
              <a:rPr lang="es-ES" sz="1200" spc="-1" dirty="0">
                <a:solidFill>
                  <a:srgbClr val="000000"/>
                </a:solidFill>
                <a:latin typeface="Arial"/>
              </a:rPr>
              <a:t> </a:t>
            </a:r>
            <a:r>
              <a:rPr lang="es-ES" sz="1200" spc="-1" dirty="0" err="1">
                <a:solidFill>
                  <a:srgbClr val="000000"/>
                </a:solidFill>
                <a:latin typeface="Arial"/>
              </a:rPr>
              <a:t>of</a:t>
            </a:r>
            <a:r>
              <a:rPr lang="es-ES" sz="1200" spc="-1" dirty="0">
                <a:solidFill>
                  <a:srgbClr val="000000"/>
                </a:solidFill>
                <a:latin typeface="Arial"/>
              </a:rPr>
              <a:t> </a:t>
            </a:r>
            <a:r>
              <a:rPr lang="es-ES" sz="1200" spc="-1" dirty="0" err="1">
                <a:solidFill>
                  <a:srgbClr val="000000"/>
                </a:solidFill>
                <a:latin typeface="Arial"/>
              </a:rPr>
              <a:t>the</a:t>
            </a:r>
            <a:r>
              <a:rPr lang="es-ES" sz="1200" spc="-1" dirty="0">
                <a:solidFill>
                  <a:srgbClr val="000000"/>
                </a:solidFill>
                <a:latin typeface="Arial"/>
              </a:rPr>
              <a:t> </a:t>
            </a:r>
            <a:r>
              <a:rPr lang="es-ES" sz="1200" spc="-1" dirty="0" err="1">
                <a:solidFill>
                  <a:srgbClr val="000000"/>
                </a:solidFill>
                <a:latin typeface="Arial"/>
              </a:rPr>
              <a:t>slab</a:t>
            </a:r>
            <a:endParaRPr lang="es-ES" sz="1200" b="0" strike="noStrike" spc="-1" dirty="0">
              <a:solidFill>
                <a:srgbClr val="000000"/>
              </a:solidFill>
              <a:latin typeface="Arial"/>
            </a:endParaRPr>
          </a:p>
        </p:txBody>
      </p:sp>
      <p:pic>
        <p:nvPicPr>
          <p:cNvPr id="108" name="Imagen 107"/>
          <p:cNvPicPr/>
          <p:nvPr/>
        </p:nvPicPr>
        <p:blipFill>
          <a:blip r:embed="rId4"/>
          <a:stretch/>
        </p:blipFill>
        <p:spPr>
          <a:xfrm>
            <a:off x="1093343" y="1581840"/>
            <a:ext cx="4499640" cy="3097800"/>
          </a:xfrm>
          <a:prstGeom prst="rect">
            <a:avLst/>
          </a:prstGeom>
          <a:ln w="0">
            <a:noFill/>
          </a:ln>
        </p:spPr>
      </p:pic>
      <p:sp>
        <p:nvSpPr>
          <p:cNvPr id="4" name="PlaceHolder 3"/>
          <p:cNvSpPr>
            <a:spLocks noGrp="1"/>
          </p:cNvSpPr>
          <p:nvPr>
            <p:ph type="sldNum" idx="5"/>
          </p:nvPr>
        </p:nvSpPr>
        <p:spPr/>
        <p:txBody>
          <a:bodyPr/>
          <a:lstStyle/>
          <a:p>
            <a:fld id="{722B1D87-F133-42F0-907B-2EF8AF285728}" type="slidenum">
              <a:rPr/>
              <a:t>10</a:t>
            </a:fld>
            <a:endParaRPr/>
          </a:p>
        </p:txBody>
      </p:sp>
      <p:pic>
        <p:nvPicPr>
          <p:cNvPr id="2" name="Imagen 1">
            <a:extLst>
              <a:ext uri="{FF2B5EF4-FFF2-40B4-BE49-F238E27FC236}">
                <a16:creationId xmlns:a16="http://schemas.microsoft.com/office/drawing/2014/main" id="{02907FC1-4DCE-8AFA-5D42-E591E8F6F038}"/>
              </a:ext>
            </a:extLst>
          </p:cNvPr>
          <p:cNvPicPr>
            <a:picLocks noChangeAspect="1"/>
          </p:cNvPicPr>
          <p:nvPr/>
        </p:nvPicPr>
        <p:blipFill>
          <a:blip r:embed="rId5"/>
          <a:stretch>
            <a:fillRect/>
          </a:stretch>
        </p:blipFill>
        <p:spPr>
          <a:xfrm>
            <a:off x="9196530" y="156593"/>
            <a:ext cx="2124075" cy="676275"/>
          </a:xfrm>
          <a:prstGeom prst="rect">
            <a:avLst/>
          </a:prstGeom>
        </p:spPr>
      </p:pic>
      <p:sp>
        <p:nvSpPr>
          <p:cNvPr id="3" name="CuadroTexto 2">
            <a:extLst>
              <a:ext uri="{FF2B5EF4-FFF2-40B4-BE49-F238E27FC236}">
                <a16:creationId xmlns:a16="http://schemas.microsoft.com/office/drawing/2014/main" id="{D2254226-B9D5-2C8E-8F06-65F672DB908A}"/>
              </a:ext>
            </a:extLst>
          </p:cNvPr>
          <p:cNvSpPr txBox="1"/>
          <p:nvPr/>
        </p:nvSpPr>
        <p:spPr>
          <a:xfrm>
            <a:off x="8725946" y="411450"/>
            <a:ext cx="7128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a:solidFill>
                  <a:srgbClr val="FF0000"/>
                </a:solidFill>
              </a:rPr>
              <a:t>(1)</a:t>
            </a:r>
          </a:p>
        </p:txBody>
      </p:sp>
      <p:pic>
        <p:nvPicPr>
          <p:cNvPr id="5" name="Imagen 4" descr="Gráfico, Gráfico de dispersión&#10;&#10;El contenido generado por IA puede ser incorrecto.">
            <a:extLst>
              <a:ext uri="{FF2B5EF4-FFF2-40B4-BE49-F238E27FC236}">
                <a16:creationId xmlns:a16="http://schemas.microsoft.com/office/drawing/2014/main" id="{64D3F0B3-6D49-2826-4168-1F1AD68B8042}"/>
              </a:ext>
            </a:extLst>
          </p:cNvPr>
          <p:cNvPicPr>
            <a:picLocks noChangeAspect="1"/>
          </p:cNvPicPr>
          <p:nvPr/>
        </p:nvPicPr>
        <p:blipFill>
          <a:blip r:embed="rId6"/>
          <a:stretch>
            <a:fillRect/>
          </a:stretch>
        </p:blipFill>
        <p:spPr>
          <a:xfrm>
            <a:off x="6902078" y="1499720"/>
            <a:ext cx="3931023" cy="31413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685800" y="408960"/>
            <a:ext cx="10993320" cy="1688760"/>
          </a:xfrm>
          <a:prstGeom prst="rect">
            <a:avLst/>
          </a:prstGeom>
          <a:noFill/>
          <a:ln w="0">
            <a:noFill/>
          </a:ln>
        </p:spPr>
        <p:txBody>
          <a:bodyPr lIns="0" tIns="12600" rIns="0" bIns="0" anchor="t">
            <a:noAutofit/>
          </a:bodyPr>
          <a:lstStyle/>
          <a:p>
            <a:pPr marL="12600" indent="0">
              <a:lnSpc>
                <a:spcPct val="100000"/>
              </a:lnSpc>
              <a:spcBef>
                <a:spcPts val="99"/>
              </a:spcBef>
              <a:buNone/>
              <a:tabLst>
                <a:tab pos="0" algn="l"/>
              </a:tabLst>
            </a:pPr>
            <a:r>
              <a:rPr lang="en-US" sz="2500" b="1" strike="noStrike" spc="-1">
                <a:solidFill>
                  <a:schemeClr val="dk1"/>
                </a:solidFill>
                <a:latin typeface="Calibri"/>
              </a:rPr>
              <a:t>Learning outcome #4 – Waveguide compact model bis</a:t>
            </a:r>
            <a:br>
              <a:rPr sz="2500"/>
            </a:br>
            <a:r>
              <a:rPr lang="en-US" sz="2000" b="0" strike="noStrike" spc="-1">
                <a:solidFill>
                  <a:schemeClr val="dk1"/>
                </a:solidFill>
                <a:latin typeface="Calibri"/>
              </a:rPr>
              <a:t>- Find the compact models of the following waveguides: </a:t>
            </a:r>
            <a:br>
              <a:rPr sz="2000"/>
            </a:br>
            <a:r>
              <a:rPr lang="en-US" sz="2000" b="1" strike="noStrike" spc="-1">
                <a:solidFill>
                  <a:schemeClr val="dk1"/>
                </a:solidFill>
                <a:latin typeface="Calibri"/>
              </a:rPr>
              <a:t>Deep</a:t>
            </a:r>
            <a:r>
              <a:rPr lang="en-US" sz="2000" b="0" strike="noStrike" spc="-1">
                <a:solidFill>
                  <a:schemeClr val="dk1"/>
                </a:solidFill>
                <a:latin typeface="Calibri"/>
              </a:rPr>
              <a:t> waveguide, h=300nm, w=1.2um   - </a:t>
            </a:r>
            <a:r>
              <a:rPr lang="en-US" sz="2000" b="1" strike="noStrike" spc="-1">
                <a:solidFill>
                  <a:schemeClr val="dk1"/>
                </a:solidFill>
                <a:latin typeface="Calibri"/>
              </a:rPr>
              <a:t>Shallow</a:t>
            </a:r>
            <a:r>
              <a:rPr lang="en-US" sz="2000" b="0" strike="noStrike" spc="-1">
                <a:solidFill>
                  <a:schemeClr val="dk1"/>
                </a:solidFill>
                <a:latin typeface="Calibri"/>
              </a:rPr>
              <a:t> waveguide, core h=300nm, slab h=150 nm, w = 1.2um </a:t>
            </a:r>
            <a:br>
              <a:rPr sz="2000"/>
            </a:br>
            <a:endParaRPr lang="es-ES" sz="2000" b="0" strike="noStrike" spc="-1">
              <a:solidFill>
                <a:srgbClr val="000000"/>
              </a:solidFill>
              <a:latin typeface="Arial"/>
            </a:endParaRPr>
          </a:p>
        </p:txBody>
      </p:sp>
      <p:pic>
        <p:nvPicPr>
          <p:cNvPr id="111" name="Gráfico 2"/>
          <p:cNvPicPr/>
          <p:nvPr/>
        </p:nvPicPr>
        <p:blipFill>
          <a:blip r:embed="rId3"/>
          <a:stretch/>
        </p:blipFill>
        <p:spPr>
          <a:xfrm>
            <a:off x="5045040" y="6356160"/>
            <a:ext cx="6408360" cy="362160"/>
          </a:xfrm>
          <a:prstGeom prst="rect">
            <a:avLst/>
          </a:prstGeom>
          <a:ln w="0">
            <a:noFill/>
          </a:ln>
        </p:spPr>
      </p:pic>
      <p:sp>
        <p:nvSpPr>
          <p:cNvPr id="112" name="PlaceHolder 2"/>
          <p:cNvSpPr>
            <a:spLocks noGrp="1"/>
          </p:cNvSpPr>
          <p:nvPr>
            <p:ph type="ftr" idx="21"/>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113" name="CuadroTexto 10"/>
          <p:cNvSpPr/>
          <p:nvPr/>
        </p:nvSpPr>
        <p:spPr>
          <a:xfrm>
            <a:off x="683221" y="4860360"/>
            <a:ext cx="11086829" cy="1495993"/>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s-ES" sz="1800" b="0" strike="noStrike" spc="-1">
                <a:solidFill>
                  <a:srgbClr val="FFFFFF">
                    <a:alpha val="1000"/>
                  </a:srgbClr>
                </a:solidFill>
                <a:latin typeface="Calibri"/>
              </a:rPr>
              <a:t> </a:t>
            </a:r>
            <a:endParaRPr lang="es-ES" sz="1800" b="0" strike="noStrike" spc="-1">
              <a:solidFill>
                <a:srgbClr val="000000"/>
              </a:solidFill>
              <a:latin typeface="Arial"/>
            </a:endParaRPr>
          </a:p>
        </p:txBody>
      </p:sp>
      <p:sp>
        <p:nvSpPr>
          <p:cNvPr id="114" name="CuadroTexto 11"/>
          <p:cNvSpPr/>
          <p:nvPr/>
        </p:nvSpPr>
        <p:spPr>
          <a:xfrm>
            <a:off x="609480" y="2709000"/>
            <a:ext cx="5485320" cy="119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s-ES" sz="1800" b="0" strike="noStrike" spc="-1">
                <a:solidFill>
                  <a:srgbClr val="FFFFFF">
                    <a:alpha val="1000"/>
                  </a:srgbClr>
                </a:solidFill>
                <a:latin typeface="Calibri"/>
              </a:rPr>
              <a:t> </a:t>
            </a:r>
            <a:endParaRPr lang="es-ES" sz="1800" b="0" strike="noStrike" spc="-1">
              <a:solidFill>
                <a:srgbClr val="000000"/>
              </a:solidFill>
              <a:latin typeface="Arial"/>
            </a:endParaRPr>
          </a:p>
        </p:txBody>
      </p:sp>
      <p:sp>
        <p:nvSpPr>
          <p:cNvPr id="115" name="CuadroTexto 12"/>
          <p:cNvSpPr/>
          <p:nvPr/>
        </p:nvSpPr>
        <p:spPr>
          <a:xfrm>
            <a:off x="6321600" y="2709000"/>
            <a:ext cx="5485320" cy="119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s-ES" sz="1800" b="0" strike="noStrike" spc="-1">
                <a:solidFill>
                  <a:srgbClr val="FFFFFF">
                    <a:alpha val="1000"/>
                  </a:srgbClr>
                </a:solidFill>
                <a:latin typeface="Calibri"/>
              </a:rPr>
              <a:t> </a:t>
            </a:r>
            <a:endParaRPr lang="es-ES" sz="1800" b="0" strike="noStrike" spc="-1">
              <a:solidFill>
                <a:srgbClr val="000000"/>
              </a:solidFill>
              <a:latin typeface="Arial"/>
            </a:endParaRPr>
          </a:p>
        </p:txBody>
      </p:sp>
      <p:sp>
        <p:nvSpPr>
          <p:cNvPr id="116" name="CuadroTexto 13"/>
          <p:cNvSpPr/>
          <p:nvPr/>
        </p:nvSpPr>
        <p:spPr>
          <a:xfrm>
            <a:off x="6347520" y="4498560"/>
            <a:ext cx="5485320" cy="27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1200" b="1" strike="noStrike" spc="-1">
                <a:solidFill>
                  <a:schemeClr val="dk1"/>
                </a:solidFill>
                <a:latin typeface="Arial"/>
              </a:rPr>
              <a:t>slab: 150nm</a:t>
            </a:r>
            <a:endParaRPr lang="es-ES" sz="1200" b="0" strike="noStrike" spc="-1">
              <a:solidFill>
                <a:srgbClr val="000000"/>
              </a:solidFill>
              <a:latin typeface="Arial"/>
            </a:endParaRPr>
          </a:p>
        </p:txBody>
      </p:sp>
      <p:sp>
        <p:nvSpPr>
          <p:cNvPr id="117" name="Rectángulo 116"/>
          <p:cNvSpPr/>
          <p:nvPr/>
        </p:nvSpPr>
        <p:spPr>
          <a:xfrm>
            <a:off x="1620000" y="5040000"/>
            <a:ext cx="4679280" cy="107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s-ES" sz="1800" b="0" strike="noStrike" spc="-1">
              <a:solidFill>
                <a:srgbClr val="000000"/>
              </a:solidFill>
              <a:latin typeface="Arial"/>
            </a:endParaRPr>
          </a:p>
        </p:txBody>
      </p:sp>
      <p:sp>
        <p:nvSpPr>
          <p:cNvPr id="118" name="Rectángulo 117"/>
          <p:cNvSpPr/>
          <p:nvPr/>
        </p:nvSpPr>
        <p:spPr>
          <a:xfrm>
            <a:off x="720000" y="4860360"/>
            <a:ext cx="11086920" cy="2049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ES" sz="1000" b="0" strike="noStrike" spc="-1" dirty="0">
              <a:solidFill>
                <a:srgbClr val="000000"/>
              </a:solidFill>
              <a:latin typeface="Arial"/>
            </a:endParaRPr>
          </a:p>
          <a:p>
            <a:r>
              <a:rPr lang="es-ES" sz="1200" spc="-1" dirty="0" err="1">
                <a:solidFill>
                  <a:srgbClr val="000000"/>
                </a:solidFill>
                <a:ea typeface="+mn-lt"/>
                <a:cs typeface="+mn-lt"/>
              </a:rPr>
              <a:t>Comparison</a:t>
            </a:r>
            <a:r>
              <a:rPr lang="es-ES" sz="1200" spc="-1" dirty="0">
                <a:solidFill>
                  <a:srgbClr val="000000"/>
                </a:solidFill>
                <a:ea typeface="+mn-lt"/>
                <a:cs typeface="+mn-lt"/>
              </a:rPr>
              <a:t> </a:t>
            </a:r>
            <a:r>
              <a:rPr lang="es-ES" sz="1200" spc="-1" dirty="0" err="1">
                <a:solidFill>
                  <a:srgbClr val="000000"/>
                </a:solidFill>
                <a:ea typeface="+mn-lt"/>
                <a:cs typeface="+mn-lt"/>
              </a:rPr>
              <a:t>on</a:t>
            </a:r>
            <a:r>
              <a:rPr lang="es-ES" sz="1200" spc="-1" dirty="0">
                <a:solidFill>
                  <a:srgbClr val="000000"/>
                </a:solidFill>
                <a:ea typeface="+mn-lt"/>
                <a:cs typeface="+mn-lt"/>
              </a:rPr>
              <a:t> a </a:t>
            </a:r>
            <a:r>
              <a:rPr lang="es-ES" sz="1200" spc="-1" dirty="0" err="1">
                <a:solidFill>
                  <a:srgbClr val="000000"/>
                </a:solidFill>
                <a:ea typeface="+mn-lt"/>
                <a:cs typeface="+mn-lt"/>
              </a:rPr>
              <a:t>same</a:t>
            </a:r>
            <a:r>
              <a:rPr lang="es-ES" sz="1200" spc="-1" dirty="0">
                <a:solidFill>
                  <a:srgbClr val="000000"/>
                </a:solidFill>
                <a:ea typeface="+mn-lt"/>
                <a:cs typeface="+mn-lt"/>
              </a:rPr>
              <a:t> </a:t>
            </a:r>
            <a:r>
              <a:rPr lang="es-ES" sz="1200" spc="-1" dirty="0" err="1">
                <a:solidFill>
                  <a:srgbClr val="000000"/>
                </a:solidFill>
                <a:ea typeface="+mn-lt"/>
                <a:cs typeface="+mn-lt"/>
              </a:rPr>
              <a:t>mode</a:t>
            </a:r>
            <a:r>
              <a:rPr lang="es-ES" sz="1200" spc="-1" dirty="0">
                <a:solidFill>
                  <a:srgbClr val="000000"/>
                </a:solidFill>
                <a:ea typeface="+mn-lt"/>
                <a:cs typeface="+mn-lt"/>
              </a:rPr>
              <a:t> </a:t>
            </a:r>
            <a:r>
              <a:rPr lang="es-ES" sz="1200" spc="-1" dirty="0" err="1">
                <a:solidFill>
                  <a:srgbClr val="000000"/>
                </a:solidFill>
                <a:ea typeface="+mn-lt"/>
                <a:cs typeface="+mn-lt"/>
              </a:rPr>
              <a:t>of</a:t>
            </a:r>
            <a:r>
              <a:rPr lang="es-ES" sz="1200" spc="-1" dirty="0">
                <a:solidFill>
                  <a:srgbClr val="000000"/>
                </a:solidFill>
                <a:ea typeface="+mn-lt"/>
                <a:cs typeface="+mn-lt"/>
              </a:rPr>
              <a:t> WV, </a:t>
            </a:r>
            <a:r>
              <a:rPr lang="es-ES" sz="1200" spc="-1" dirty="0" err="1">
                <a:solidFill>
                  <a:srgbClr val="000000"/>
                </a:solidFill>
                <a:ea typeface="+mn-lt"/>
                <a:cs typeface="+mn-lt"/>
              </a:rPr>
              <a:t>both</a:t>
            </a:r>
            <a:r>
              <a:rPr lang="es-ES" sz="1200" spc="-1" dirty="0">
                <a:solidFill>
                  <a:srgbClr val="000000"/>
                </a:solidFill>
                <a:ea typeface="+mn-lt"/>
                <a:cs typeface="+mn-lt"/>
              </a:rPr>
              <a:t> </a:t>
            </a:r>
            <a:r>
              <a:rPr lang="es-ES" sz="1200" spc="-1" dirty="0" err="1">
                <a:solidFill>
                  <a:srgbClr val="000000"/>
                </a:solidFill>
                <a:ea typeface="+mn-lt"/>
                <a:cs typeface="+mn-lt"/>
              </a:rPr>
              <a:t>deeper</a:t>
            </a:r>
            <a:r>
              <a:rPr lang="es-ES" sz="1200" spc="-1" dirty="0">
                <a:solidFill>
                  <a:srgbClr val="000000"/>
                </a:solidFill>
                <a:ea typeface="+mn-lt"/>
                <a:cs typeface="+mn-lt"/>
              </a:rPr>
              <a:t> and </a:t>
            </a:r>
            <a:r>
              <a:rPr lang="es-ES" sz="1200" spc="-1" dirty="0" err="1">
                <a:solidFill>
                  <a:srgbClr val="000000"/>
                </a:solidFill>
                <a:ea typeface="+mn-lt"/>
                <a:cs typeface="+mn-lt"/>
              </a:rPr>
              <a:t>shallor</a:t>
            </a:r>
            <a:r>
              <a:rPr lang="es-ES" sz="1200" spc="-1" dirty="0">
                <a:solidFill>
                  <a:srgbClr val="000000"/>
                </a:solidFill>
                <a:ea typeface="+mn-lt"/>
                <a:cs typeface="+mn-lt"/>
              </a:rPr>
              <a:t>,  TM0 </a:t>
            </a:r>
            <a:r>
              <a:rPr lang="es-ES" sz="1200" spc="-1" dirty="0" err="1">
                <a:solidFill>
                  <a:srgbClr val="000000"/>
                </a:solidFill>
                <a:ea typeface="+mn-lt"/>
                <a:cs typeface="+mn-lt"/>
              </a:rPr>
              <a:t>is</a:t>
            </a:r>
            <a:r>
              <a:rPr lang="es-ES" sz="1200" spc="-1" dirty="0">
                <a:solidFill>
                  <a:srgbClr val="000000"/>
                </a:solidFill>
                <a:ea typeface="+mn-lt"/>
                <a:cs typeface="+mn-lt"/>
              </a:rPr>
              <a:t> more dispersive (</a:t>
            </a:r>
            <a:r>
              <a:rPr lang="es-ES" sz="1200" spc="-1" dirty="0" err="1">
                <a:solidFill>
                  <a:srgbClr val="000000"/>
                </a:solidFill>
                <a:ea typeface="+mn-lt"/>
                <a:cs typeface="+mn-lt"/>
              </a:rPr>
              <a:t>larger</a:t>
            </a:r>
            <a:r>
              <a:rPr lang="es-ES" sz="1200" spc="-1" dirty="0">
                <a:solidFill>
                  <a:srgbClr val="000000"/>
                </a:solidFill>
                <a:ea typeface="+mn-lt"/>
                <a:cs typeface="+mn-lt"/>
              </a:rPr>
              <a:t> |D|) in </a:t>
            </a:r>
            <a:r>
              <a:rPr lang="es-ES" sz="1200" spc="-1" dirty="0" err="1">
                <a:solidFill>
                  <a:srgbClr val="000000"/>
                </a:solidFill>
                <a:ea typeface="+mn-lt"/>
                <a:cs typeface="+mn-lt"/>
              </a:rPr>
              <a:t>both</a:t>
            </a:r>
            <a:r>
              <a:rPr lang="es-ES" sz="1200" spc="-1" dirty="0">
                <a:solidFill>
                  <a:srgbClr val="000000"/>
                </a:solidFill>
                <a:ea typeface="+mn-lt"/>
                <a:cs typeface="+mn-lt"/>
              </a:rPr>
              <a:t> </a:t>
            </a:r>
            <a:r>
              <a:rPr lang="es-ES" sz="1200" spc="-1" dirty="0" err="1">
                <a:solidFill>
                  <a:srgbClr val="000000"/>
                </a:solidFill>
                <a:ea typeface="+mn-lt"/>
                <a:cs typeface="+mn-lt"/>
              </a:rPr>
              <a:t>structures</a:t>
            </a:r>
            <a:r>
              <a:rPr lang="es-ES" sz="1200" spc="-1" dirty="0">
                <a:solidFill>
                  <a:srgbClr val="000000"/>
                </a:solidFill>
                <a:ea typeface="+mn-lt"/>
                <a:cs typeface="+mn-lt"/>
              </a:rPr>
              <a:t>: </a:t>
            </a:r>
            <a:r>
              <a:rPr lang="es-ES" sz="1200" spc="-1" dirty="0" err="1">
                <a:solidFill>
                  <a:srgbClr val="000000"/>
                </a:solidFill>
                <a:ea typeface="+mn-lt"/>
                <a:cs typeface="+mn-lt"/>
              </a:rPr>
              <a:t>its</a:t>
            </a:r>
            <a:r>
              <a:rPr lang="es-ES" sz="1200" spc="-1" dirty="0">
                <a:solidFill>
                  <a:srgbClr val="000000"/>
                </a:solidFill>
                <a:ea typeface="+mn-lt"/>
                <a:cs typeface="+mn-lt"/>
              </a:rPr>
              <a:t> </a:t>
            </a:r>
            <a:r>
              <a:rPr lang="es-ES" sz="1200" spc="-1" dirty="0" err="1">
                <a:solidFill>
                  <a:srgbClr val="000000"/>
                </a:solidFill>
                <a:ea typeface="+mn-lt"/>
                <a:cs typeface="+mn-lt"/>
              </a:rPr>
              <a:t>weaker</a:t>
            </a:r>
            <a:r>
              <a:rPr lang="es-ES" sz="1200" spc="-1" dirty="0">
                <a:solidFill>
                  <a:srgbClr val="000000"/>
                </a:solidFill>
                <a:ea typeface="+mn-lt"/>
                <a:cs typeface="+mn-lt"/>
              </a:rPr>
              <a:t> </a:t>
            </a:r>
            <a:r>
              <a:rPr lang="es-ES" sz="1200" spc="-1" dirty="0" err="1">
                <a:solidFill>
                  <a:srgbClr val="000000"/>
                </a:solidFill>
                <a:ea typeface="+mn-lt"/>
                <a:cs typeface="+mn-lt"/>
              </a:rPr>
              <a:t>confinement</a:t>
            </a:r>
            <a:r>
              <a:rPr lang="es-ES" sz="1200" spc="-1" dirty="0">
                <a:solidFill>
                  <a:srgbClr val="000000"/>
                </a:solidFill>
                <a:ea typeface="+mn-lt"/>
                <a:cs typeface="+mn-lt"/>
              </a:rPr>
              <a:t> </a:t>
            </a:r>
            <a:r>
              <a:rPr lang="es-ES" sz="1200" spc="-1" dirty="0" err="1">
                <a:solidFill>
                  <a:srgbClr val="000000"/>
                </a:solidFill>
                <a:ea typeface="+mn-lt"/>
                <a:cs typeface="+mn-lt"/>
              </a:rPr>
              <a:t>makes</a:t>
            </a:r>
            <a:r>
              <a:rPr lang="es-ES" sz="1200" spc="-1" dirty="0">
                <a:solidFill>
                  <a:srgbClr val="000000"/>
                </a:solidFill>
                <a:ea typeface="+mn-lt"/>
                <a:cs typeface="+mn-lt"/>
              </a:rPr>
              <a:t> </a:t>
            </a:r>
            <a:r>
              <a:rPr lang="es-ES" sz="1200" spc="-1" dirty="0" err="1">
                <a:solidFill>
                  <a:srgbClr val="000000"/>
                </a:solidFill>
                <a:ea typeface="+mn-lt"/>
                <a:cs typeface="+mn-lt"/>
              </a:rPr>
              <a:t>neff</a:t>
            </a:r>
            <a:r>
              <a:rPr lang="es-ES" sz="1200" spc="-1" dirty="0">
                <a:solidFill>
                  <a:srgbClr val="000000"/>
                </a:solidFill>
                <a:ea typeface="+mn-lt"/>
                <a:cs typeface="+mn-lt"/>
              </a:rPr>
              <a:t> more sensitive </a:t>
            </a:r>
            <a:r>
              <a:rPr lang="es-ES" sz="1200" spc="-1" dirty="0" err="1">
                <a:solidFill>
                  <a:srgbClr val="000000"/>
                </a:solidFill>
                <a:ea typeface="+mn-lt"/>
                <a:cs typeface="+mn-lt"/>
              </a:rPr>
              <a:t>to</a:t>
            </a:r>
            <a:r>
              <a:rPr lang="es-ES" sz="1200" spc="-1" dirty="0">
                <a:solidFill>
                  <a:srgbClr val="000000"/>
                </a:solidFill>
                <a:ea typeface="+mn-lt"/>
                <a:cs typeface="+mn-lt"/>
              </a:rPr>
              <a:t> </a:t>
            </a:r>
            <a:r>
              <a:rPr lang="es-ES" sz="1200" spc="-1" dirty="0" err="1">
                <a:solidFill>
                  <a:srgbClr val="000000"/>
                </a:solidFill>
                <a:ea typeface="+mn-lt"/>
                <a:cs typeface="+mn-lt"/>
              </a:rPr>
              <a:t>wavelength</a:t>
            </a:r>
            <a:r>
              <a:rPr lang="es-ES" sz="1200" spc="-1" dirty="0">
                <a:solidFill>
                  <a:srgbClr val="000000"/>
                </a:solidFill>
                <a:ea typeface="+mn-lt"/>
                <a:cs typeface="+mn-lt"/>
              </a:rPr>
              <a:t> </a:t>
            </a:r>
            <a:r>
              <a:rPr lang="es-ES" sz="1200" spc="-1" dirty="0" err="1">
                <a:solidFill>
                  <a:srgbClr val="000000"/>
                </a:solidFill>
                <a:ea typeface="+mn-lt"/>
                <a:cs typeface="+mn-lt"/>
              </a:rPr>
              <a:t>changes</a:t>
            </a:r>
            <a:r>
              <a:rPr lang="es-ES" sz="1200" spc="-1" dirty="0">
                <a:solidFill>
                  <a:srgbClr val="000000"/>
                </a:solidFill>
                <a:ea typeface="+mn-lt"/>
                <a:cs typeface="+mn-lt"/>
              </a:rPr>
              <a:t> in </a:t>
            </a:r>
            <a:r>
              <a:rPr lang="es-ES" sz="1200" spc="-1" dirty="0" err="1">
                <a:solidFill>
                  <a:srgbClr val="000000"/>
                </a:solidFill>
                <a:ea typeface="+mn-lt"/>
                <a:cs typeface="+mn-lt"/>
              </a:rPr>
              <a:t>curvature</a:t>
            </a:r>
            <a:r>
              <a:rPr lang="es-ES" sz="1200" spc="-1" dirty="0">
                <a:solidFill>
                  <a:srgbClr val="000000"/>
                </a:solidFill>
                <a:ea typeface="+mn-lt"/>
                <a:cs typeface="+mn-lt"/>
              </a:rPr>
              <a:t> (n3), </a:t>
            </a:r>
            <a:r>
              <a:rPr lang="es-ES" sz="1200" spc="-1" dirty="0" err="1">
                <a:solidFill>
                  <a:srgbClr val="000000"/>
                </a:solidFill>
                <a:ea typeface="+mn-lt"/>
                <a:cs typeface="+mn-lt"/>
              </a:rPr>
              <a:t>not</a:t>
            </a:r>
            <a:r>
              <a:rPr lang="es-ES" sz="1200" spc="-1" dirty="0">
                <a:solidFill>
                  <a:srgbClr val="000000"/>
                </a:solidFill>
                <a:ea typeface="+mn-lt"/>
                <a:cs typeface="+mn-lt"/>
              </a:rPr>
              <a:t> </a:t>
            </a:r>
            <a:r>
              <a:rPr lang="es-ES" sz="1200" spc="-1" dirty="0" err="1">
                <a:solidFill>
                  <a:srgbClr val="000000"/>
                </a:solidFill>
                <a:ea typeface="+mn-lt"/>
                <a:cs typeface="+mn-lt"/>
              </a:rPr>
              <a:t>just</a:t>
            </a:r>
            <a:r>
              <a:rPr lang="es-ES" sz="1200" spc="-1" dirty="0">
                <a:solidFill>
                  <a:srgbClr val="000000"/>
                </a:solidFill>
                <a:ea typeface="+mn-lt"/>
                <a:cs typeface="+mn-lt"/>
              </a:rPr>
              <a:t> in </a:t>
            </a:r>
            <a:r>
              <a:rPr lang="es-ES" sz="1200" spc="-1" dirty="0" err="1">
                <a:solidFill>
                  <a:srgbClr val="000000"/>
                </a:solidFill>
                <a:ea typeface="+mn-lt"/>
                <a:cs typeface="+mn-lt"/>
              </a:rPr>
              <a:t>slope</a:t>
            </a:r>
            <a:r>
              <a:rPr lang="es-ES" sz="1200" spc="-1" dirty="0">
                <a:solidFill>
                  <a:srgbClr val="000000"/>
                </a:solidFill>
                <a:ea typeface="+mn-lt"/>
                <a:cs typeface="+mn-lt"/>
              </a:rPr>
              <a:t> (n2).</a:t>
            </a:r>
          </a:p>
          <a:p>
            <a:r>
              <a:rPr lang="es-ES" sz="1200" spc="-1" dirty="0" err="1">
                <a:solidFill>
                  <a:srgbClr val="000000"/>
                </a:solidFill>
                <a:ea typeface="+mn-lt"/>
                <a:cs typeface="+mn-lt"/>
              </a:rPr>
              <a:t>Comparing</a:t>
            </a:r>
            <a:r>
              <a:rPr lang="es-ES" sz="1200" spc="-1" dirty="0">
                <a:solidFill>
                  <a:srgbClr val="000000"/>
                </a:solidFill>
                <a:ea typeface="+mn-lt"/>
                <a:cs typeface="+mn-lt"/>
              </a:rPr>
              <a:t> </a:t>
            </a:r>
            <a:r>
              <a:rPr lang="es-ES" sz="1200" spc="-1" dirty="0" err="1">
                <a:solidFill>
                  <a:srgbClr val="000000"/>
                </a:solidFill>
                <a:ea typeface="+mn-lt"/>
                <a:cs typeface="+mn-lt"/>
              </a:rPr>
              <a:t>between</a:t>
            </a:r>
            <a:r>
              <a:rPr lang="es-ES" sz="1200" spc="-1" dirty="0">
                <a:solidFill>
                  <a:srgbClr val="000000"/>
                </a:solidFill>
                <a:ea typeface="+mn-lt"/>
                <a:cs typeface="+mn-lt"/>
              </a:rPr>
              <a:t> </a:t>
            </a:r>
            <a:r>
              <a:rPr lang="es-ES" sz="1200" spc="-1" dirty="0" err="1">
                <a:solidFill>
                  <a:srgbClr val="000000"/>
                </a:solidFill>
                <a:ea typeface="+mn-lt"/>
                <a:cs typeface="+mn-lt"/>
              </a:rPr>
              <a:t>shallow</a:t>
            </a:r>
            <a:r>
              <a:rPr lang="es-ES" sz="1200" spc="-1" dirty="0">
                <a:solidFill>
                  <a:srgbClr val="000000"/>
                </a:solidFill>
                <a:ea typeface="+mn-lt"/>
                <a:cs typeface="+mn-lt"/>
              </a:rPr>
              <a:t> and </a:t>
            </a:r>
            <a:r>
              <a:rPr lang="es-ES" sz="1200" spc="-1" dirty="0" err="1">
                <a:solidFill>
                  <a:srgbClr val="000000"/>
                </a:solidFill>
                <a:ea typeface="+mn-lt"/>
                <a:cs typeface="+mn-lt"/>
              </a:rPr>
              <a:t>deep</a:t>
            </a:r>
            <a:r>
              <a:rPr lang="es-ES" sz="1200" spc="-1" dirty="0">
                <a:solidFill>
                  <a:srgbClr val="000000"/>
                </a:solidFill>
                <a:ea typeface="+mn-lt"/>
                <a:cs typeface="+mn-lt"/>
              </a:rPr>
              <a:t> </a:t>
            </a:r>
            <a:r>
              <a:rPr lang="es-ES" sz="1200" spc="-1" dirty="0" err="1">
                <a:solidFill>
                  <a:srgbClr val="000000"/>
                </a:solidFill>
                <a:ea typeface="+mn-lt"/>
                <a:cs typeface="+mn-lt"/>
              </a:rPr>
              <a:t>waveguide</a:t>
            </a:r>
            <a:r>
              <a:rPr lang="es-ES" sz="1200" spc="-1" dirty="0">
                <a:solidFill>
                  <a:srgbClr val="000000"/>
                </a:solidFill>
                <a:ea typeface="+mn-lt"/>
                <a:cs typeface="+mn-lt"/>
              </a:rPr>
              <a:t>:</a:t>
            </a:r>
          </a:p>
          <a:p>
            <a:r>
              <a:rPr lang="es-ES" sz="1200" spc="-1" dirty="0" err="1">
                <a:solidFill>
                  <a:srgbClr val="000000"/>
                </a:solidFill>
                <a:ea typeface="+mn-lt"/>
                <a:cs typeface="+mn-lt"/>
              </a:rPr>
              <a:t>The</a:t>
            </a:r>
            <a:r>
              <a:rPr lang="es-ES" sz="1200" spc="-1" dirty="0">
                <a:solidFill>
                  <a:srgbClr val="000000"/>
                </a:solidFill>
                <a:ea typeface="+mn-lt"/>
                <a:cs typeface="+mn-lt"/>
              </a:rPr>
              <a:t> 150 nm </a:t>
            </a:r>
            <a:r>
              <a:rPr lang="es-ES" sz="1200" spc="-1" dirty="0" err="1">
                <a:solidFill>
                  <a:srgbClr val="000000"/>
                </a:solidFill>
                <a:ea typeface="+mn-lt"/>
                <a:cs typeface="+mn-lt"/>
              </a:rPr>
              <a:t>slab</a:t>
            </a:r>
            <a:r>
              <a:rPr lang="es-ES" sz="1200" spc="-1" dirty="0">
                <a:solidFill>
                  <a:srgbClr val="000000"/>
                </a:solidFill>
                <a:ea typeface="+mn-lt"/>
                <a:cs typeface="+mn-lt"/>
              </a:rPr>
              <a:t> raises </a:t>
            </a:r>
            <a:r>
              <a:rPr lang="es-ES" sz="1200" spc="-1" dirty="0" err="1">
                <a:solidFill>
                  <a:srgbClr val="000000"/>
                </a:solidFill>
                <a:ea typeface="+mn-lt"/>
                <a:cs typeface="+mn-lt"/>
              </a:rPr>
              <a:t>neff</a:t>
            </a:r>
            <a:r>
              <a:rPr lang="es-ES" sz="1200" spc="-1" dirty="0">
                <a:solidFill>
                  <a:srgbClr val="000000"/>
                </a:solidFill>
                <a:ea typeface="+mn-lt"/>
                <a:cs typeface="+mn-lt"/>
              </a:rPr>
              <a:t> </a:t>
            </a:r>
            <a:r>
              <a:rPr lang="es-ES" sz="1200" spc="-1" dirty="0" err="1">
                <a:solidFill>
                  <a:srgbClr val="000000"/>
                </a:solidFill>
                <a:ea typeface="+mn-lt"/>
                <a:cs typeface="+mn-lt"/>
              </a:rPr>
              <a:t>for</a:t>
            </a:r>
            <a:r>
              <a:rPr lang="es-ES" sz="1200" spc="-1" dirty="0">
                <a:solidFill>
                  <a:srgbClr val="000000"/>
                </a:solidFill>
                <a:ea typeface="+mn-lt"/>
                <a:cs typeface="+mn-lt"/>
              </a:rPr>
              <a:t> </a:t>
            </a:r>
            <a:r>
              <a:rPr lang="es-ES" sz="1200" spc="-1" dirty="0" err="1">
                <a:solidFill>
                  <a:srgbClr val="000000"/>
                </a:solidFill>
                <a:ea typeface="+mn-lt"/>
                <a:cs typeface="+mn-lt"/>
              </a:rPr>
              <a:t>both</a:t>
            </a:r>
            <a:r>
              <a:rPr lang="es-ES" sz="1200" spc="-1" dirty="0">
                <a:solidFill>
                  <a:srgbClr val="000000"/>
                </a:solidFill>
                <a:ea typeface="+mn-lt"/>
                <a:cs typeface="+mn-lt"/>
              </a:rPr>
              <a:t> </a:t>
            </a:r>
            <a:r>
              <a:rPr lang="es-ES" sz="1200" spc="-1" dirty="0" err="1">
                <a:solidFill>
                  <a:srgbClr val="000000"/>
                </a:solidFill>
                <a:ea typeface="+mn-lt"/>
                <a:cs typeface="+mn-lt"/>
              </a:rPr>
              <a:t>modes</a:t>
            </a:r>
            <a:r>
              <a:rPr lang="es-ES" sz="1200" spc="-1" dirty="0">
                <a:solidFill>
                  <a:srgbClr val="000000"/>
                </a:solidFill>
                <a:ea typeface="+mn-lt"/>
                <a:cs typeface="+mn-lt"/>
              </a:rPr>
              <a:t> (TE0: +0.019, TM0: +0.015) </a:t>
            </a:r>
            <a:r>
              <a:rPr lang="es-ES" sz="1200" spc="-1" dirty="0" err="1">
                <a:solidFill>
                  <a:srgbClr val="000000"/>
                </a:solidFill>
                <a:ea typeface="+mn-lt"/>
                <a:cs typeface="+mn-lt"/>
              </a:rPr>
              <a:t>by</a:t>
            </a:r>
            <a:r>
              <a:rPr lang="es-ES" sz="1200" spc="-1" dirty="0">
                <a:solidFill>
                  <a:srgbClr val="000000"/>
                </a:solidFill>
                <a:ea typeface="+mn-lt"/>
                <a:cs typeface="+mn-lt"/>
              </a:rPr>
              <a:t> </a:t>
            </a:r>
            <a:r>
              <a:rPr lang="es-ES" sz="1200" spc="-1" dirty="0" err="1">
                <a:solidFill>
                  <a:srgbClr val="000000"/>
                </a:solidFill>
                <a:ea typeface="+mn-lt"/>
                <a:cs typeface="+mn-lt"/>
              </a:rPr>
              <a:t>providing</a:t>
            </a:r>
            <a:r>
              <a:rPr lang="es-ES" sz="1200" spc="-1" dirty="0">
                <a:solidFill>
                  <a:srgbClr val="000000"/>
                </a:solidFill>
                <a:ea typeface="+mn-lt"/>
                <a:cs typeface="+mn-lt"/>
              </a:rPr>
              <a:t> </a:t>
            </a:r>
            <a:r>
              <a:rPr lang="es-ES" sz="1200" spc="-1" dirty="0" err="1">
                <a:solidFill>
                  <a:srgbClr val="000000"/>
                </a:solidFill>
                <a:ea typeface="+mn-lt"/>
                <a:cs typeface="+mn-lt"/>
              </a:rPr>
              <a:t>an</a:t>
            </a:r>
            <a:r>
              <a:rPr lang="es-ES" sz="1200" spc="-1" dirty="0">
                <a:solidFill>
                  <a:srgbClr val="000000"/>
                </a:solidFill>
                <a:ea typeface="+mn-lt"/>
                <a:cs typeface="+mn-lt"/>
              </a:rPr>
              <a:t> </a:t>
            </a:r>
            <a:r>
              <a:rPr lang="es-ES" sz="1200" spc="-1" dirty="0" err="1">
                <a:solidFill>
                  <a:srgbClr val="000000"/>
                </a:solidFill>
                <a:ea typeface="+mn-lt"/>
                <a:cs typeface="+mn-lt"/>
              </a:rPr>
              <a:t>additional</a:t>
            </a:r>
            <a:r>
              <a:rPr lang="es-ES" sz="1200" spc="-1" dirty="0">
                <a:solidFill>
                  <a:srgbClr val="000000"/>
                </a:solidFill>
                <a:ea typeface="+mn-lt"/>
                <a:cs typeface="+mn-lt"/>
              </a:rPr>
              <a:t> lateral </a:t>
            </a:r>
            <a:r>
              <a:rPr lang="es-ES" sz="1200" spc="-1" dirty="0" err="1">
                <a:solidFill>
                  <a:srgbClr val="000000"/>
                </a:solidFill>
                <a:ea typeface="+mn-lt"/>
                <a:cs typeface="+mn-lt"/>
              </a:rPr>
              <a:t>guiding</a:t>
            </a:r>
            <a:r>
              <a:rPr lang="es-ES" sz="1200" spc="-1" dirty="0">
                <a:solidFill>
                  <a:srgbClr val="000000"/>
                </a:solidFill>
                <a:ea typeface="+mn-lt"/>
                <a:cs typeface="+mn-lt"/>
              </a:rPr>
              <a:t> </a:t>
            </a:r>
            <a:r>
              <a:rPr lang="es-ES" sz="1200" spc="-1" dirty="0" err="1">
                <a:solidFill>
                  <a:srgbClr val="000000"/>
                </a:solidFill>
                <a:ea typeface="+mn-lt"/>
                <a:cs typeface="+mn-lt"/>
              </a:rPr>
              <a:t>region</a:t>
            </a:r>
            <a:r>
              <a:rPr lang="es-ES" sz="1200" spc="-1" dirty="0">
                <a:solidFill>
                  <a:srgbClr val="000000"/>
                </a:solidFill>
                <a:ea typeface="+mn-lt"/>
                <a:cs typeface="+mn-lt"/>
              </a:rPr>
              <a:t>, </a:t>
            </a:r>
            <a:r>
              <a:rPr lang="es-ES" sz="1200" spc="-1" dirty="0" err="1">
                <a:solidFill>
                  <a:srgbClr val="000000"/>
                </a:solidFill>
                <a:ea typeface="+mn-lt"/>
                <a:cs typeface="+mn-lt"/>
              </a:rPr>
              <a:t>while</a:t>
            </a:r>
            <a:r>
              <a:rPr lang="es-ES" sz="1200" spc="-1" dirty="0">
                <a:solidFill>
                  <a:srgbClr val="000000"/>
                </a:solidFill>
                <a:ea typeface="+mn-lt"/>
                <a:cs typeface="+mn-lt"/>
              </a:rPr>
              <a:t> ng </a:t>
            </a:r>
            <a:r>
              <a:rPr lang="es-ES" sz="1200" spc="-1" dirty="0" err="1">
                <a:solidFill>
                  <a:srgbClr val="000000"/>
                </a:solidFill>
                <a:ea typeface="+mn-lt"/>
                <a:cs typeface="+mn-lt"/>
              </a:rPr>
              <a:t>slightly</a:t>
            </a:r>
            <a:r>
              <a:rPr lang="es-ES" sz="1200" spc="-1" dirty="0">
                <a:solidFill>
                  <a:srgbClr val="000000"/>
                </a:solidFill>
                <a:ea typeface="+mn-lt"/>
                <a:cs typeface="+mn-lt"/>
              </a:rPr>
              <a:t> </a:t>
            </a:r>
            <a:r>
              <a:rPr lang="es-ES" sz="1200" spc="-1" dirty="0" err="1">
                <a:solidFill>
                  <a:srgbClr val="000000"/>
                </a:solidFill>
                <a:ea typeface="+mn-lt"/>
                <a:cs typeface="+mn-lt"/>
              </a:rPr>
              <a:t>decreases</a:t>
            </a:r>
            <a:r>
              <a:rPr lang="es-ES" sz="1200" spc="-1" dirty="0">
                <a:solidFill>
                  <a:srgbClr val="000000"/>
                </a:solidFill>
                <a:ea typeface="+mn-lt"/>
                <a:cs typeface="+mn-lt"/>
              </a:rPr>
              <a:t> (TE0: −0.024, TM0: −0.025), </a:t>
            </a:r>
            <a:r>
              <a:rPr lang="es-ES" sz="1200" spc="-1" dirty="0" err="1">
                <a:solidFill>
                  <a:srgbClr val="000000"/>
                </a:solidFill>
                <a:ea typeface="+mn-lt"/>
                <a:cs typeface="+mn-lt"/>
              </a:rPr>
              <a:t>meaning</a:t>
            </a:r>
            <a:r>
              <a:rPr lang="es-ES" sz="1200" spc="-1" dirty="0">
                <a:solidFill>
                  <a:srgbClr val="000000"/>
                </a:solidFill>
                <a:ea typeface="+mn-lt"/>
                <a:cs typeface="+mn-lt"/>
              </a:rPr>
              <a:t> </a:t>
            </a:r>
            <a:r>
              <a:rPr lang="es-ES" sz="1200" spc="-1" dirty="0" err="1">
                <a:solidFill>
                  <a:srgbClr val="000000"/>
                </a:solidFill>
                <a:ea typeface="+mn-lt"/>
                <a:cs typeface="+mn-lt"/>
              </a:rPr>
              <a:t>the</a:t>
            </a:r>
            <a:r>
              <a:rPr lang="es-ES" sz="1200" spc="-1" dirty="0">
                <a:solidFill>
                  <a:srgbClr val="000000"/>
                </a:solidFill>
                <a:ea typeface="+mn-lt"/>
                <a:cs typeface="+mn-lt"/>
              </a:rPr>
              <a:t> </a:t>
            </a:r>
            <a:r>
              <a:rPr lang="es-ES" sz="1200" spc="-1" dirty="0" err="1">
                <a:solidFill>
                  <a:srgbClr val="000000"/>
                </a:solidFill>
                <a:ea typeface="+mn-lt"/>
                <a:cs typeface="+mn-lt"/>
              </a:rPr>
              <a:t>slab</a:t>
            </a:r>
            <a:r>
              <a:rPr lang="es-ES" sz="1200" spc="-1" dirty="0">
                <a:solidFill>
                  <a:srgbClr val="000000"/>
                </a:solidFill>
                <a:ea typeface="+mn-lt"/>
                <a:cs typeface="+mn-lt"/>
              </a:rPr>
              <a:t> </a:t>
            </a:r>
            <a:r>
              <a:rPr lang="es-ES" sz="1200" spc="-1" dirty="0" err="1">
                <a:solidFill>
                  <a:srgbClr val="000000"/>
                </a:solidFill>
                <a:ea typeface="+mn-lt"/>
                <a:cs typeface="+mn-lt"/>
              </a:rPr>
              <a:t>flattens</a:t>
            </a:r>
            <a:r>
              <a:rPr lang="es-ES" sz="1200" spc="-1" dirty="0">
                <a:solidFill>
                  <a:srgbClr val="000000"/>
                </a:solidFill>
                <a:ea typeface="+mn-lt"/>
                <a:cs typeface="+mn-lt"/>
              </a:rPr>
              <a:t> </a:t>
            </a:r>
            <a:r>
              <a:rPr lang="es-ES" sz="1200" spc="-1" dirty="0" err="1">
                <a:solidFill>
                  <a:srgbClr val="000000"/>
                </a:solidFill>
                <a:ea typeface="+mn-lt"/>
                <a:cs typeface="+mn-lt"/>
              </a:rPr>
              <a:t>the</a:t>
            </a:r>
            <a:r>
              <a:rPr lang="es-ES" sz="1200" spc="-1" dirty="0">
                <a:solidFill>
                  <a:srgbClr val="000000"/>
                </a:solidFill>
                <a:ea typeface="+mn-lt"/>
                <a:cs typeface="+mn-lt"/>
              </a:rPr>
              <a:t> </a:t>
            </a:r>
            <a:r>
              <a:rPr lang="es-ES" sz="1200" spc="-1" dirty="0" err="1">
                <a:solidFill>
                  <a:srgbClr val="000000"/>
                </a:solidFill>
                <a:ea typeface="+mn-lt"/>
                <a:cs typeface="+mn-lt"/>
              </a:rPr>
              <a:t>slope</a:t>
            </a:r>
            <a:r>
              <a:rPr lang="es-ES" sz="1200" spc="-1" dirty="0">
                <a:solidFill>
                  <a:srgbClr val="000000"/>
                </a:solidFill>
                <a:ea typeface="+mn-lt"/>
                <a:cs typeface="+mn-lt"/>
              </a:rPr>
              <a:t> n2, </a:t>
            </a:r>
            <a:r>
              <a:rPr lang="es-ES" sz="1200" spc="-1" dirty="0" err="1">
                <a:solidFill>
                  <a:srgbClr val="000000"/>
                </a:solidFill>
                <a:ea typeface="+mn-lt"/>
                <a:cs typeface="+mn-lt"/>
              </a:rPr>
              <a:t>meaning</a:t>
            </a:r>
            <a:r>
              <a:rPr lang="es-ES" sz="1200" spc="-1" dirty="0">
                <a:solidFill>
                  <a:srgbClr val="000000"/>
                </a:solidFill>
                <a:ea typeface="+mn-lt"/>
                <a:cs typeface="+mn-lt"/>
              </a:rPr>
              <a:t> </a:t>
            </a:r>
            <a:r>
              <a:rPr lang="es-ES" sz="1200" spc="-1" dirty="0" err="1">
                <a:solidFill>
                  <a:srgbClr val="000000"/>
                </a:solidFill>
                <a:ea typeface="+mn-lt"/>
                <a:cs typeface="+mn-lt"/>
              </a:rPr>
              <a:t>the</a:t>
            </a:r>
            <a:r>
              <a:rPr lang="es-ES" sz="1200" spc="-1" dirty="0">
                <a:solidFill>
                  <a:srgbClr val="000000"/>
                </a:solidFill>
                <a:ea typeface="+mn-lt"/>
                <a:cs typeface="+mn-lt"/>
              </a:rPr>
              <a:t> </a:t>
            </a:r>
            <a:r>
              <a:rPr lang="es-ES" sz="1200" spc="-1" dirty="0" err="1">
                <a:solidFill>
                  <a:srgbClr val="000000"/>
                </a:solidFill>
                <a:ea typeface="+mn-lt"/>
                <a:cs typeface="+mn-lt"/>
              </a:rPr>
              <a:t>field</a:t>
            </a:r>
            <a:r>
              <a:rPr lang="es-ES" sz="1200" spc="-1" dirty="0">
                <a:solidFill>
                  <a:srgbClr val="000000"/>
                </a:solidFill>
                <a:ea typeface="+mn-lt"/>
                <a:cs typeface="+mn-lt"/>
              </a:rPr>
              <a:t> </a:t>
            </a:r>
            <a:r>
              <a:rPr lang="es-ES" sz="1200" spc="-1" dirty="0" err="1">
                <a:solidFill>
                  <a:srgbClr val="000000"/>
                </a:solidFill>
                <a:ea typeface="+mn-lt"/>
                <a:cs typeface="+mn-lt"/>
              </a:rPr>
              <a:t>become</a:t>
            </a:r>
            <a:r>
              <a:rPr lang="es-ES" sz="1200" spc="-1" dirty="0">
                <a:solidFill>
                  <a:srgbClr val="000000"/>
                </a:solidFill>
                <a:ea typeface="+mn-lt"/>
                <a:cs typeface="+mn-lt"/>
              </a:rPr>
              <a:t> </a:t>
            </a:r>
            <a:r>
              <a:rPr lang="es-ES" sz="1200" spc="-1" dirty="0" err="1">
                <a:solidFill>
                  <a:srgbClr val="000000"/>
                </a:solidFill>
                <a:ea typeface="+mn-lt"/>
                <a:cs typeface="+mn-lt"/>
              </a:rPr>
              <a:t>less</a:t>
            </a:r>
            <a:r>
              <a:rPr lang="es-ES" sz="1200" spc="-1" dirty="0">
                <a:solidFill>
                  <a:srgbClr val="000000"/>
                </a:solidFill>
                <a:ea typeface="+mn-lt"/>
                <a:cs typeface="+mn-lt"/>
              </a:rPr>
              <a:t> sensitive </a:t>
            </a:r>
            <a:r>
              <a:rPr lang="es-ES" sz="1200" spc="-1" dirty="0" err="1">
                <a:solidFill>
                  <a:srgbClr val="000000"/>
                </a:solidFill>
                <a:ea typeface="+mn-lt"/>
                <a:cs typeface="+mn-lt"/>
              </a:rPr>
              <a:t>to</a:t>
            </a:r>
            <a:r>
              <a:rPr lang="es-ES" sz="1200" spc="-1" dirty="0">
                <a:solidFill>
                  <a:srgbClr val="000000"/>
                </a:solidFill>
                <a:ea typeface="+mn-lt"/>
                <a:cs typeface="+mn-lt"/>
              </a:rPr>
              <a:t> λ. </a:t>
            </a:r>
            <a:endParaRPr lang="es-ES" dirty="0" err="1">
              <a:ea typeface="+mn-lt"/>
              <a:cs typeface="+mn-lt"/>
            </a:endParaRPr>
          </a:p>
          <a:p>
            <a:r>
              <a:rPr lang="es-ES" sz="1200" spc="-1" err="1">
                <a:solidFill>
                  <a:srgbClr val="000000"/>
                </a:solidFill>
                <a:latin typeface="Arial"/>
                <a:cs typeface="Arial"/>
              </a:rPr>
              <a:t>We</a:t>
            </a:r>
            <a:r>
              <a:rPr lang="es-ES" sz="1200" spc="-1" dirty="0">
                <a:solidFill>
                  <a:srgbClr val="000000"/>
                </a:solidFill>
                <a:latin typeface="Arial"/>
                <a:cs typeface="Arial"/>
              </a:rPr>
              <a:t> </a:t>
            </a:r>
            <a:r>
              <a:rPr lang="es-ES" sz="1200" spc="-1" err="1">
                <a:solidFill>
                  <a:srgbClr val="000000"/>
                </a:solidFill>
                <a:latin typeface="Arial"/>
                <a:cs typeface="Arial"/>
              </a:rPr>
              <a:t>see</a:t>
            </a:r>
            <a:r>
              <a:rPr lang="es-ES" sz="1200" spc="-1" dirty="0">
                <a:solidFill>
                  <a:srgbClr val="000000"/>
                </a:solidFill>
                <a:latin typeface="Arial"/>
                <a:cs typeface="Arial"/>
              </a:rPr>
              <a:t> </a:t>
            </a:r>
            <a:r>
              <a:rPr lang="es-ES" sz="1200" spc="-1" err="1">
                <a:solidFill>
                  <a:srgbClr val="000000"/>
                </a:solidFill>
                <a:latin typeface="Arial"/>
                <a:cs typeface="Arial"/>
              </a:rPr>
              <a:t>also</a:t>
            </a:r>
            <a:r>
              <a:rPr lang="es-ES" sz="1200" spc="-1" dirty="0">
                <a:solidFill>
                  <a:srgbClr val="000000"/>
                </a:solidFill>
                <a:latin typeface="Arial"/>
                <a:cs typeface="Arial"/>
              </a:rPr>
              <a:t>, negative </a:t>
            </a:r>
            <a:r>
              <a:rPr lang="es-ES" sz="1200" spc="-1" err="1">
                <a:solidFill>
                  <a:srgbClr val="000000"/>
                </a:solidFill>
                <a:latin typeface="Arial"/>
                <a:cs typeface="Arial"/>
              </a:rPr>
              <a:t>values</a:t>
            </a:r>
            <a:r>
              <a:rPr lang="es-ES" sz="1200" spc="-1" dirty="0">
                <a:solidFill>
                  <a:srgbClr val="000000"/>
                </a:solidFill>
                <a:latin typeface="Arial"/>
                <a:cs typeface="Arial"/>
              </a:rPr>
              <a:t> </a:t>
            </a:r>
            <a:r>
              <a:rPr lang="es-ES" sz="1200" spc="-1" err="1">
                <a:solidFill>
                  <a:srgbClr val="000000"/>
                </a:solidFill>
                <a:latin typeface="Arial"/>
                <a:cs typeface="Arial"/>
              </a:rPr>
              <a:t>for</a:t>
            </a:r>
            <a:r>
              <a:rPr lang="es-ES" sz="1200" spc="-1" dirty="0">
                <a:solidFill>
                  <a:srgbClr val="000000"/>
                </a:solidFill>
                <a:latin typeface="Arial"/>
                <a:cs typeface="Arial"/>
              </a:rPr>
              <a:t> D </a:t>
            </a:r>
            <a:r>
              <a:rPr lang="es-ES" sz="1200" spc="-1" err="1">
                <a:solidFill>
                  <a:srgbClr val="000000"/>
                </a:solidFill>
                <a:latin typeface="Arial"/>
                <a:cs typeface="Arial"/>
              </a:rPr>
              <a:t>which</a:t>
            </a:r>
            <a:r>
              <a:rPr lang="es-ES" sz="1200" spc="-1" dirty="0">
                <a:solidFill>
                  <a:srgbClr val="000000"/>
                </a:solidFill>
                <a:latin typeface="Arial"/>
                <a:cs typeface="Arial"/>
              </a:rPr>
              <a:t> </a:t>
            </a:r>
            <a:r>
              <a:rPr lang="es-ES" sz="1200" spc="-1" err="1">
                <a:solidFill>
                  <a:srgbClr val="000000"/>
                </a:solidFill>
                <a:latin typeface="Arial"/>
                <a:cs typeface="Arial"/>
              </a:rPr>
              <a:t>means</a:t>
            </a:r>
            <a:r>
              <a:rPr lang="es-ES" sz="1200" spc="-1" dirty="0">
                <a:solidFill>
                  <a:srgbClr val="000000"/>
                </a:solidFill>
                <a:latin typeface="Arial"/>
                <a:cs typeface="Arial"/>
              </a:rPr>
              <a:t> a normal </a:t>
            </a:r>
            <a:r>
              <a:rPr lang="es-ES" sz="1200" spc="-1" err="1">
                <a:solidFill>
                  <a:srgbClr val="000000"/>
                </a:solidFill>
                <a:latin typeface="Arial"/>
                <a:cs typeface="Arial"/>
              </a:rPr>
              <a:t>dispersion</a:t>
            </a:r>
            <a:r>
              <a:rPr lang="es-ES" sz="1200" spc="-1" dirty="0">
                <a:solidFill>
                  <a:srgbClr val="000000"/>
                </a:solidFill>
                <a:latin typeface="Arial"/>
                <a:cs typeface="Arial"/>
              </a:rPr>
              <a:t>, and </a:t>
            </a:r>
            <a:r>
              <a:rPr lang="es-ES" sz="1200" spc="-1" err="1">
                <a:solidFill>
                  <a:srgbClr val="000000"/>
                </a:solidFill>
                <a:latin typeface="Arial"/>
                <a:cs typeface="Arial"/>
              </a:rPr>
              <a:t>the</a:t>
            </a:r>
            <a:r>
              <a:rPr lang="es-ES" sz="1200" spc="-1" dirty="0">
                <a:solidFill>
                  <a:srgbClr val="000000"/>
                </a:solidFill>
                <a:latin typeface="Arial"/>
                <a:cs typeface="Arial"/>
              </a:rPr>
              <a:t> </a:t>
            </a:r>
            <a:r>
              <a:rPr lang="es-ES" sz="1200" spc="-1" err="1">
                <a:solidFill>
                  <a:srgbClr val="000000"/>
                </a:solidFill>
                <a:latin typeface="Arial"/>
                <a:cs typeface="Arial"/>
              </a:rPr>
              <a:t>effects</a:t>
            </a:r>
            <a:r>
              <a:rPr lang="es-ES" sz="1200" spc="-1" dirty="0">
                <a:solidFill>
                  <a:srgbClr val="000000"/>
                </a:solidFill>
                <a:latin typeface="Arial"/>
                <a:cs typeface="Arial"/>
              </a:rPr>
              <a:t> </a:t>
            </a:r>
            <a:r>
              <a:rPr lang="es-ES" sz="1200" spc="-1" err="1">
                <a:solidFill>
                  <a:srgbClr val="000000"/>
                </a:solidFill>
                <a:latin typeface="Arial"/>
                <a:cs typeface="Arial"/>
              </a:rPr>
              <a:t>of</a:t>
            </a:r>
            <a:r>
              <a:rPr lang="es-ES" sz="1200" spc="-1" dirty="0">
                <a:solidFill>
                  <a:srgbClr val="000000"/>
                </a:solidFill>
                <a:latin typeface="Arial"/>
                <a:cs typeface="Arial"/>
              </a:rPr>
              <a:t>  </a:t>
            </a:r>
            <a:r>
              <a:rPr lang="es-ES" sz="1200" spc="-1" err="1">
                <a:solidFill>
                  <a:srgbClr val="000000"/>
                </a:solidFill>
                <a:latin typeface="Arial"/>
                <a:cs typeface="Arial"/>
              </a:rPr>
              <a:t>strong</a:t>
            </a:r>
            <a:r>
              <a:rPr lang="es-ES" sz="1200" spc="-1" dirty="0">
                <a:solidFill>
                  <a:srgbClr val="000000"/>
                </a:solidFill>
                <a:latin typeface="Arial"/>
                <a:cs typeface="Arial"/>
              </a:rPr>
              <a:t> </a:t>
            </a:r>
            <a:r>
              <a:rPr lang="es-ES" sz="1200" spc="-1" err="1">
                <a:solidFill>
                  <a:srgbClr val="000000"/>
                </a:solidFill>
                <a:latin typeface="Arial"/>
                <a:cs typeface="Arial"/>
              </a:rPr>
              <a:t>confinement</a:t>
            </a:r>
            <a:r>
              <a:rPr lang="es-ES" sz="1200" spc="-1" dirty="0">
                <a:solidFill>
                  <a:srgbClr val="000000"/>
                </a:solidFill>
                <a:latin typeface="Arial"/>
                <a:cs typeface="Arial"/>
              </a:rPr>
              <a:t> </a:t>
            </a:r>
            <a:r>
              <a:rPr lang="es-ES" sz="1200" spc="-1" err="1">
                <a:solidFill>
                  <a:srgbClr val="000000"/>
                </a:solidFill>
                <a:latin typeface="Arial"/>
                <a:cs typeface="Arial"/>
              </a:rPr>
              <a:t>is</a:t>
            </a:r>
            <a:r>
              <a:rPr lang="es-ES" sz="1200" spc="-1" dirty="0">
                <a:solidFill>
                  <a:srgbClr val="000000"/>
                </a:solidFill>
                <a:latin typeface="Arial"/>
                <a:cs typeface="Arial"/>
              </a:rPr>
              <a:t> </a:t>
            </a:r>
            <a:r>
              <a:rPr lang="es-ES" sz="1200" spc="-1" err="1">
                <a:solidFill>
                  <a:srgbClr val="000000"/>
                </a:solidFill>
                <a:latin typeface="Arial"/>
                <a:cs typeface="Arial"/>
              </a:rPr>
              <a:t>translated</a:t>
            </a:r>
            <a:r>
              <a:rPr lang="es-ES" sz="1200" spc="-1" dirty="0">
                <a:solidFill>
                  <a:srgbClr val="000000"/>
                </a:solidFill>
                <a:latin typeface="Arial"/>
                <a:cs typeface="Arial"/>
              </a:rPr>
              <a:t> </a:t>
            </a:r>
            <a:r>
              <a:rPr lang="es-ES" sz="1200" spc="-1" err="1">
                <a:solidFill>
                  <a:srgbClr val="000000"/>
                </a:solidFill>
                <a:latin typeface="Arial"/>
                <a:cs typeface="Arial"/>
              </a:rPr>
              <a:t>into</a:t>
            </a:r>
            <a:r>
              <a:rPr lang="es-ES" sz="1200" spc="-1" dirty="0">
                <a:solidFill>
                  <a:srgbClr val="000000"/>
                </a:solidFill>
                <a:latin typeface="Arial"/>
                <a:cs typeface="Arial"/>
              </a:rPr>
              <a:t> </a:t>
            </a:r>
            <a:r>
              <a:rPr lang="es-ES" sz="1200" spc="-1" err="1">
                <a:solidFill>
                  <a:srgbClr val="000000"/>
                </a:solidFill>
                <a:latin typeface="Arial"/>
                <a:cs typeface="Arial"/>
              </a:rPr>
              <a:t>less</a:t>
            </a:r>
            <a:r>
              <a:rPr lang="es-ES" sz="1200" spc="-1" dirty="0">
                <a:solidFill>
                  <a:srgbClr val="000000"/>
                </a:solidFill>
                <a:latin typeface="Arial"/>
                <a:cs typeface="Arial"/>
              </a:rPr>
              <a:t> </a:t>
            </a:r>
            <a:r>
              <a:rPr lang="es-ES" sz="1200" spc="-1" err="1">
                <a:solidFill>
                  <a:srgbClr val="000000"/>
                </a:solidFill>
                <a:latin typeface="Arial"/>
                <a:cs typeface="Arial"/>
              </a:rPr>
              <a:t>dispersion</a:t>
            </a:r>
            <a:r>
              <a:rPr lang="es-ES" sz="1200" spc="-1" dirty="0">
                <a:solidFill>
                  <a:srgbClr val="000000"/>
                </a:solidFill>
                <a:latin typeface="Arial"/>
                <a:cs typeface="Arial"/>
              </a:rPr>
              <a:t> value(TE0  </a:t>
            </a:r>
            <a:r>
              <a:rPr lang="es-ES" sz="1200" spc="-1" err="1">
                <a:solidFill>
                  <a:srgbClr val="000000"/>
                </a:solidFill>
                <a:latin typeface="Arial"/>
                <a:cs typeface="Arial"/>
              </a:rPr>
              <a:t>of</a:t>
            </a:r>
            <a:r>
              <a:rPr lang="es-ES" sz="1200" spc="-1" dirty="0">
                <a:solidFill>
                  <a:srgbClr val="000000"/>
                </a:solidFill>
                <a:latin typeface="Arial"/>
                <a:cs typeface="Arial"/>
              </a:rPr>
              <a:t> </a:t>
            </a:r>
            <a:r>
              <a:rPr lang="es-ES" sz="1200" spc="-1" err="1">
                <a:solidFill>
                  <a:srgbClr val="000000"/>
                </a:solidFill>
                <a:latin typeface="Arial"/>
                <a:cs typeface="Arial"/>
              </a:rPr>
              <a:t>shallow</a:t>
            </a:r>
            <a:r>
              <a:rPr lang="es-ES" sz="1200" spc="-1" dirty="0">
                <a:solidFill>
                  <a:srgbClr val="000000"/>
                </a:solidFill>
                <a:latin typeface="Arial"/>
                <a:cs typeface="Arial"/>
              </a:rPr>
              <a:t> </a:t>
            </a:r>
            <a:r>
              <a:rPr lang="es-ES" sz="1200" spc="-1" err="1">
                <a:solidFill>
                  <a:srgbClr val="000000"/>
                </a:solidFill>
                <a:latin typeface="Arial"/>
                <a:cs typeface="Arial"/>
              </a:rPr>
              <a:t>waveguide</a:t>
            </a:r>
            <a:r>
              <a:rPr lang="es-ES" sz="1200" spc="-1" dirty="0">
                <a:solidFill>
                  <a:srgbClr val="000000"/>
                </a:solidFill>
                <a:latin typeface="Arial"/>
                <a:cs typeface="Arial"/>
              </a:rPr>
              <a:t> has </a:t>
            </a:r>
            <a:r>
              <a:rPr lang="es-ES" sz="1200" spc="-1" err="1">
                <a:solidFill>
                  <a:srgbClr val="000000"/>
                </a:solidFill>
                <a:latin typeface="Arial"/>
                <a:cs typeface="Arial"/>
              </a:rPr>
              <a:t>the</a:t>
            </a:r>
            <a:r>
              <a:rPr lang="es-ES" sz="1200" spc="-1" dirty="0">
                <a:solidFill>
                  <a:srgbClr val="000000"/>
                </a:solidFill>
                <a:latin typeface="Arial"/>
                <a:cs typeface="Arial"/>
              </a:rPr>
              <a:t> </a:t>
            </a:r>
            <a:r>
              <a:rPr lang="es-ES" sz="1200" spc="-1" err="1">
                <a:solidFill>
                  <a:srgbClr val="000000"/>
                </a:solidFill>
                <a:latin typeface="Arial"/>
                <a:cs typeface="Arial"/>
              </a:rPr>
              <a:t>least</a:t>
            </a:r>
            <a:r>
              <a:rPr lang="es-ES" sz="1200" spc="-1" dirty="0">
                <a:solidFill>
                  <a:srgbClr val="000000"/>
                </a:solidFill>
                <a:latin typeface="Arial"/>
                <a:cs typeface="Arial"/>
              </a:rPr>
              <a:t> dispersive </a:t>
            </a:r>
            <a:r>
              <a:rPr lang="es-ES" sz="1200" spc="-1" err="1">
                <a:solidFill>
                  <a:srgbClr val="000000"/>
                </a:solidFill>
                <a:latin typeface="Arial"/>
                <a:cs typeface="Arial"/>
              </a:rPr>
              <a:t>configuration</a:t>
            </a:r>
            <a:r>
              <a:rPr lang="es-ES" sz="1200" spc="-1" dirty="0">
                <a:solidFill>
                  <a:srgbClr val="000000"/>
                </a:solidFill>
                <a:latin typeface="Arial"/>
                <a:cs typeface="Arial"/>
              </a:rPr>
              <a:t>(</a:t>
            </a:r>
            <a:r>
              <a:rPr lang="es-ES" sz="1200" spc="-1" err="1">
                <a:solidFill>
                  <a:srgbClr val="000000"/>
                </a:solidFill>
                <a:latin typeface="Arial"/>
                <a:cs typeface="Arial"/>
              </a:rPr>
              <a:t>whith</a:t>
            </a:r>
            <a:r>
              <a:rPr lang="es-ES" sz="1200" spc="-1" dirty="0">
                <a:solidFill>
                  <a:srgbClr val="000000"/>
                </a:solidFill>
                <a:latin typeface="Arial"/>
                <a:cs typeface="Arial"/>
              </a:rPr>
              <a:t> </a:t>
            </a:r>
            <a:r>
              <a:rPr lang="es-ES" sz="1200" spc="-1" err="1">
                <a:solidFill>
                  <a:srgbClr val="000000"/>
                </a:solidFill>
                <a:latin typeface="Arial"/>
                <a:cs typeface="Arial"/>
              </a:rPr>
              <a:t>the</a:t>
            </a:r>
            <a:r>
              <a:rPr lang="es-ES" sz="1200" spc="-1" dirty="0">
                <a:solidFill>
                  <a:srgbClr val="000000"/>
                </a:solidFill>
                <a:latin typeface="Arial"/>
                <a:cs typeface="Arial"/>
              </a:rPr>
              <a:t> </a:t>
            </a:r>
            <a:r>
              <a:rPr lang="es-ES" sz="1200" spc="-1" err="1">
                <a:solidFill>
                  <a:srgbClr val="000000"/>
                </a:solidFill>
                <a:latin typeface="Arial"/>
                <a:cs typeface="Arial"/>
              </a:rPr>
              <a:t>smallest</a:t>
            </a:r>
            <a:r>
              <a:rPr lang="es-ES" sz="1200" spc="-1" dirty="0">
                <a:solidFill>
                  <a:srgbClr val="000000"/>
                </a:solidFill>
                <a:latin typeface="Arial"/>
                <a:cs typeface="Arial"/>
              </a:rPr>
              <a:t> D value</a:t>
            </a:r>
            <a:r>
              <a:rPr lang="es-ES" sz="1200" spc="-1">
                <a:solidFill>
                  <a:srgbClr val="000000"/>
                </a:solidFill>
                <a:latin typeface="Arial"/>
                <a:cs typeface="Arial"/>
              </a:rPr>
              <a:t>).</a:t>
            </a:r>
            <a:endParaRPr lang="es-ES" sz="1200" spc="-1" dirty="0">
              <a:solidFill>
                <a:srgbClr val="000000"/>
              </a:solidFill>
              <a:latin typeface="Arial"/>
              <a:cs typeface="Arial"/>
            </a:endParaRPr>
          </a:p>
          <a:p>
            <a:pPr>
              <a:lnSpc>
                <a:spcPct val="100000"/>
              </a:lnSpc>
            </a:pPr>
            <a:endParaRPr lang="es-ES" sz="1000" b="0" strike="noStrike" spc="-1">
              <a:solidFill>
                <a:srgbClr val="000000"/>
              </a:solidFill>
              <a:latin typeface="Arial"/>
            </a:endParaRPr>
          </a:p>
        </p:txBody>
      </p:sp>
      <p:pic>
        <p:nvPicPr>
          <p:cNvPr id="119" name="Imagen 118"/>
          <p:cNvPicPr/>
          <p:nvPr/>
        </p:nvPicPr>
        <p:blipFill>
          <a:blip r:embed="rId4"/>
          <a:stretch/>
        </p:blipFill>
        <p:spPr>
          <a:xfrm>
            <a:off x="2540520" y="1980000"/>
            <a:ext cx="6819480" cy="2066400"/>
          </a:xfrm>
          <a:prstGeom prst="rect">
            <a:avLst/>
          </a:prstGeom>
          <a:ln w="0">
            <a:noFill/>
          </a:ln>
        </p:spPr>
      </p:pic>
      <p:sp>
        <p:nvSpPr>
          <p:cNvPr id="4" name="PlaceHolder 3"/>
          <p:cNvSpPr>
            <a:spLocks noGrp="1"/>
          </p:cNvSpPr>
          <p:nvPr>
            <p:ph type="sldNum" idx="5"/>
          </p:nvPr>
        </p:nvSpPr>
        <p:spPr/>
        <p:txBody>
          <a:bodyPr/>
          <a:lstStyle/>
          <a:p>
            <a:fld id="{60AF607C-43ED-4A50-9FD0-64668D670439}" type="slidenum">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685800" y="408960"/>
            <a:ext cx="10993320" cy="1157040"/>
          </a:xfrm>
          <a:prstGeom prst="rect">
            <a:avLst/>
          </a:prstGeom>
          <a:noFill/>
          <a:ln w="0">
            <a:noFill/>
          </a:ln>
        </p:spPr>
        <p:txBody>
          <a:bodyPr lIns="0" tIns="12600" rIns="0" bIns="0" anchor="t">
            <a:noAutofit/>
          </a:bodyPr>
          <a:lstStyle/>
          <a:p>
            <a:pPr marL="12600" indent="0">
              <a:lnSpc>
                <a:spcPct val="100000"/>
              </a:lnSpc>
              <a:spcBef>
                <a:spcPts val="99"/>
              </a:spcBef>
              <a:buNone/>
              <a:tabLst>
                <a:tab pos="0" algn="l"/>
              </a:tabLst>
            </a:pPr>
            <a:r>
              <a:rPr lang="en-US" sz="2500" b="1" strike="noStrike" spc="-1">
                <a:solidFill>
                  <a:schemeClr val="dk1"/>
                </a:solidFill>
                <a:latin typeface="Calibri"/>
                <a:ea typeface="Noto Sans CJK SC"/>
              </a:rPr>
              <a:t>Learning outcome #5 – Bend waveguide radius vs. loss – deep</a:t>
            </a:r>
            <a:br>
              <a:rPr sz="2500"/>
            </a:br>
            <a:r>
              <a:rPr lang="en-US" sz="2000" b="0" strike="noStrike" spc="-1">
                <a:solidFill>
                  <a:schemeClr val="dk1"/>
                </a:solidFill>
                <a:latin typeface="Calibri"/>
                <a:ea typeface="Noto Sans CJK SC"/>
              </a:rPr>
              <a:t>Find  neff_TE0 for wvl 1.55 µm, width 1.2 µm for R=25,50,75,100, 125,150 µm</a:t>
            </a:r>
            <a:br>
              <a:rPr sz="2000"/>
            </a:br>
            <a:endParaRPr lang="es-ES" sz="2000" b="0" strike="noStrike" spc="-1">
              <a:solidFill>
                <a:srgbClr val="000000"/>
              </a:solidFill>
              <a:latin typeface="Arial"/>
            </a:endParaRPr>
          </a:p>
        </p:txBody>
      </p:sp>
      <p:pic>
        <p:nvPicPr>
          <p:cNvPr id="121" name="Gráfico 82"/>
          <p:cNvPicPr/>
          <p:nvPr/>
        </p:nvPicPr>
        <p:blipFill>
          <a:blip r:embed="rId3"/>
          <a:stretch/>
        </p:blipFill>
        <p:spPr>
          <a:xfrm>
            <a:off x="5045040" y="6356160"/>
            <a:ext cx="6408360" cy="362160"/>
          </a:xfrm>
          <a:prstGeom prst="rect">
            <a:avLst/>
          </a:prstGeom>
          <a:ln w="0">
            <a:noFill/>
          </a:ln>
        </p:spPr>
      </p:pic>
      <p:sp>
        <p:nvSpPr>
          <p:cNvPr id="122" name="PlaceHolder 2"/>
          <p:cNvSpPr>
            <a:spLocks noGrp="1"/>
          </p:cNvSpPr>
          <p:nvPr>
            <p:ph type="ftr" idx="22"/>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123" name="CuadroTexto 1"/>
          <p:cNvSpPr/>
          <p:nvPr/>
        </p:nvSpPr>
        <p:spPr>
          <a:xfrm>
            <a:off x="609480" y="4860360"/>
            <a:ext cx="11198880" cy="1383540"/>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r>
              <a:rPr lang="en-US" sz="1200" spc="-1" dirty="0">
                <a:solidFill>
                  <a:schemeClr val="dk1"/>
                </a:solidFill>
                <a:ea typeface="+mn-lt"/>
                <a:cs typeface="+mn-lt"/>
              </a:rPr>
              <a:t>Bend curves are essential for routing light inside a chip; without them, circuits could only be linear. The chosen radius directly affects</a:t>
            </a:r>
            <a:r>
              <a:rPr lang="en-US" sz="1200" b="0" strike="noStrike" spc="-1" dirty="0">
                <a:solidFill>
                  <a:schemeClr val="dk1"/>
                </a:solidFill>
                <a:ea typeface="+mn-lt"/>
                <a:cs typeface="+mn-lt"/>
              </a:rPr>
              <a:t>: </a:t>
            </a:r>
            <a:r>
              <a:rPr lang="en-US" sz="1200" spc="-1" dirty="0">
                <a:solidFill>
                  <a:schemeClr val="dk1"/>
                </a:solidFill>
                <a:ea typeface="+mn-lt"/>
                <a:cs typeface="+mn-lt"/>
              </a:rPr>
              <a:t>the area occupied on the chip (footprint), radiation losses</a:t>
            </a:r>
            <a:r>
              <a:rPr lang="en-US" sz="1200" b="0" strike="noStrike" spc="-1" dirty="0">
                <a:solidFill>
                  <a:schemeClr val="dk1"/>
                </a:solidFill>
                <a:ea typeface="+mn-lt"/>
                <a:cs typeface="+mn-lt"/>
              </a:rPr>
              <a:t>, </a:t>
            </a:r>
            <a:r>
              <a:rPr lang="en-US" sz="1200" spc="-1" dirty="0">
                <a:solidFill>
                  <a:schemeClr val="dk1"/>
                </a:solidFill>
                <a:ea typeface="+mn-lt"/>
                <a:cs typeface="+mn-lt"/>
              </a:rPr>
              <a:t>and mode displacement. In this slide we measure the </a:t>
            </a:r>
            <a:r>
              <a:rPr lang="en-US" sz="1200" b="0" strike="noStrike" spc="-1" dirty="0">
                <a:solidFill>
                  <a:schemeClr val="dk1"/>
                </a:solidFill>
                <a:ea typeface="+mn-lt"/>
                <a:cs typeface="+mn-lt"/>
              </a:rPr>
              <a:t>total </a:t>
            </a:r>
            <a:r>
              <a:rPr lang="en-US" sz="1200" spc="-1" dirty="0">
                <a:solidFill>
                  <a:schemeClr val="dk1"/>
                </a:solidFill>
                <a:ea typeface="+mn-lt"/>
                <a:cs typeface="+mn-lt"/>
              </a:rPr>
              <a:t>bend loss. By definition, the criterion for a safe radius is a </a:t>
            </a:r>
            <a:r>
              <a:rPr lang="en-US" sz="1200" b="0" strike="noStrike" spc="-1" dirty="0">
                <a:solidFill>
                  <a:schemeClr val="dk1"/>
                </a:solidFill>
                <a:ea typeface="+mn-lt"/>
                <a:cs typeface="+mn-lt"/>
              </a:rPr>
              <a:t>loss </a:t>
            </a:r>
            <a:r>
              <a:rPr lang="en-US" sz="1200" spc="-1" dirty="0">
                <a:solidFill>
                  <a:schemeClr val="dk1"/>
                </a:solidFill>
                <a:ea typeface="+mn-lt"/>
                <a:cs typeface="+mn-lt"/>
              </a:rPr>
              <a:t>&lt; 0.1 dB/90°, meaning the signal cannot lose more </a:t>
            </a:r>
            <a:r>
              <a:rPr lang="en-US" sz="1200" b="0" strike="noStrike" spc="-1" dirty="0">
                <a:solidFill>
                  <a:schemeClr val="dk1"/>
                </a:solidFill>
                <a:ea typeface="+mn-lt"/>
                <a:cs typeface="+mn-lt"/>
              </a:rPr>
              <a:t>than </a:t>
            </a:r>
            <a:r>
              <a:rPr lang="en-US" sz="1200" spc="-1" dirty="0">
                <a:solidFill>
                  <a:schemeClr val="dk1"/>
                </a:solidFill>
                <a:ea typeface="+mn-lt"/>
                <a:cs typeface="+mn-lt"/>
              </a:rPr>
              <a:t>0.1 dB per quarter circle at a given radius. On the left graph, we observe that total losses drop below 0.1 dB</a:t>
            </a:r>
            <a:r>
              <a:rPr lang="en-US" sz="1200" b="0" strike="noStrike" spc="-1" dirty="0">
                <a:solidFill>
                  <a:schemeClr val="dk1"/>
                </a:solidFill>
                <a:ea typeface="+mn-lt"/>
                <a:cs typeface="+mn-lt"/>
              </a:rPr>
              <a:t>/</a:t>
            </a:r>
            <a:r>
              <a:rPr lang="en-US" sz="1200" spc="-1" dirty="0">
                <a:solidFill>
                  <a:schemeClr val="dk1"/>
                </a:solidFill>
                <a:ea typeface="+mn-lt"/>
                <a:cs typeface="+mn-lt"/>
              </a:rPr>
              <a:t>90° from R = 50 µm onwards and remain low for larger radii; therefore, R ≥ 50 µm is sufficient to meet the requirement</a:t>
            </a:r>
            <a:r>
              <a:rPr lang="en-US" sz="1200" strike="noStrike" spc="-1" dirty="0">
                <a:solidFill>
                  <a:schemeClr val="dk1"/>
                </a:solidFill>
                <a:ea typeface="+mn-lt"/>
                <a:cs typeface="+mn-lt"/>
              </a:rPr>
              <a:t>.</a:t>
            </a:r>
            <a:r>
              <a:rPr lang="en-US" sz="1200" spc="-1" dirty="0">
                <a:solidFill>
                  <a:schemeClr val="dk1"/>
                </a:solidFill>
                <a:ea typeface="+mn-lt"/>
                <a:cs typeface="+mn-lt"/>
              </a:rPr>
              <a:t> On the right graph, we observe that the real part of </a:t>
            </a:r>
            <a:r>
              <a:rPr lang="en-US" sz="1200" spc="-1" dirty="0" err="1">
                <a:solidFill>
                  <a:schemeClr val="dk1"/>
                </a:solidFill>
                <a:ea typeface="+mn-lt"/>
                <a:cs typeface="+mn-lt"/>
              </a:rPr>
              <a:t>n_eff</a:t>
            </a:r>
            <a:r>
              <a:rPr lang="en-US" sz="1200" spc="-1" dirty="0">
                <a:solidFill>
                  <a:schemeClr val="dk1"/>
                </a:solidFill>
                <a:ea typeface="+mn-lt"/>
                <a:cs typeface="+mn-lt"/>
              </a:rPr>
              <a:t> decreases </a:t>
            </a:r>
            <a:r>
              <a:rPr lang="en-US" sz="1200" b="0" strike="noStrike" spc="-1" dirty="0">
                <a:solidFill>
                  <a:schemeClr val="dk1"/>
                </a:solidFill>
                <a:ea typeface="+mn-lt"/>
                <a:cs typeface="+mn-lt"/>
              </a:rPr>
              <a:t>as </a:t>
            </a:r>
            <a:r>
              <a:rPr lang="en-US" sz="1200" spc="-1" dirty="0">
                <a:solidFill>
                  <a:schemeClr val="dk1"/>
                </a:solidFill>
                <a:ea typeface="+mn-lt"/>
                <a:cs typeface="+mn-lt"/>
              </a:rPr>
              <a:t>the </a:t>
            </a:r>
            <a:r>
              <a:rPr lang="en-US" sz="1200" b="0" strike="noStrike" spc="-1" dirty="0">
                <a:solidFill>
                  <a:schemeClr val="dk1"/>
                </a:solidFill>
                <a:ea typeface="+mn-lt"/>
                <a:cs typeface="+mn-lt"/>
              </a:rPr>
              <a:t>radius </a:t>
            </a:r>
            <a:r>
              <a:rPr lang="en-US" sz="1200" spc="-1" dirty="0">
                <a:solidFill>
                  <a:schemeClr val="dk1"/>
                </a:solidFill>
                <a:ea typeface="+mn-lt"/>
                <a:cs typeface="+mn-lt"/>
              </a:rPr>
              <a:t>increases. This is </a:t>
            </a:r>
            <a:r>
              <a:rPr lang="en-US" sz="1200" b="0" strike="noStrike" spc="-1" dirty="0">
                <a:solidFill>
                  <a:schemeClr val="dk1"/>
                </a:solidFill>
                <a:ea typeface="+mn-lt"/>
                <a:cs typeface="+mn-lt"/>
              </a:rPr>
              <a:t>because</a:t>
            </a:r>
            <a:r>
              <a:rPr lang="en-US" sz="1200" spc="-1" dirty="0">
                <a:solidFill>
                  <a:schemeClr val="dk1"/>
                </a:solidFill>
                <a:ea typeface="+mn-lt"/>
                <a:cs typeface="+mn-lt"/>
              </a:rPr>
              <a:t>, at larger radii,</a:t>
            </a:r>
            <a:r>
              <a:rPr lang="en-US" sz="1200" b="0" strike="noStrike" spc="-1" dirty="0">
                <a:solidFill>
                  <a:schemeClr val="dk1"/>
                </a:solidFill>
                <a:ea typeface="+mn-lt"/>
                <a:cs typeface="+mn-lt"/>
              </a:rPr>
              <a:t> the </a:t>
            </a:r>
            <a:r>
              <a:rPr lang="en-US" sz="1200" spc="-1" dirty="0">
                <a:solidFill>
                  <a:schemeClr val="dk1"/>
                </a:solidFill>
                <a:ea typeface="+mn-lt"/>
                <a:cs typeface="+mn-lt"/>
              </a:rPr>
              <a:t>mode becomes less confined towards </a:t>
            </a:r>
            <a:r>
              <a:rPr lang="en-US" sz="1200" b="0" strike="noStrike" spc="-1" dirty="0">
                <a:solidFill>
                  <a:schemeClr val="dk1"/>
                </a:solidFill>
                <a:ea typeface="+mn-lt"/>
                <a:cs typeface="+mn-lt"/>
              </a:rPr>
              <a:t>the </a:t>
            </a:r>
            <a:r>
              <a:rPr lang="en-US" sz="1200" spc="-1" dirty="0">
                <a:solidFill>
                  <a:schemeClr val="dk1"/>
                </a:solidFill>
                <a:ea typeface="+mn-lt"/>
                <a:cs typeface="+mn-lt"/>
              </a:rPr>
              <a:t>outer edge </a:t>
            </a:r>
            <a:r>
              <a:rPr lang="en-US" sz="1200" b="0" strike="noStrike" spc="-1" dirty="0">
                <a:solidFill>
                  <a:schemeClr val="dk1"/>
                </a:solidFill>
                <a:ea typeface="+mn-lt"/>
                <a:cs typeface="+mn-lt"/>
              </a:rPr>
              <a:t>of the curve</a:t>
            </a:r>
            <a:r>
              <a:rPr lang="en-US" sz="1200" spc="-1" dirty="0">
                <a:solidFill>
                  <a:schemeClr val="dk1"/>
                </a:solidFill>
                <a:ea typeface="+mn-lt"/>
                <a:cs typeface="+mn-lt"/>
              </a:rPr>
              <a:t>, lowering the effective index</a:t>
            </a:r>
            <a:r>
              <a:rPr lang="en-US" sz="1200" b="0" strike="noStrike" spc="-1" dirty="0">
                <a:solidFill>
                  <a:schemeClr val="dk1"/>
                </a:solidFill>
                <a:ea typeface="+mn-lt"/>
                <a:cs typeface="+mn-lt"/>
              </a:rPr>
              <a:t>.</a:t>
            </a:r>
            <a:r>
              <a:rPr lang="en-US" sz="1200" spc="-1" dirty="0">
                <a:solidFill>
                  <a:schemeClr val="dk1"/>
                </a:solidFill>
                <a:ea typeface="+mn-lt"/>
                <a:cs typeface="+mn-lt"/>
              </a:rPr>
              <a:t> It is important to note that </a:t>
            </a:r>
            <a:r>
              <a:rPr lang="en-US" sz="1200" spc="-1" dirty="0" err="1">
                <a:solidFill>
                  <a:schemeClr val="dk1"/>
                </a:solidFill>
                <a:ea typeface="+mn-lt"/>
                <a:cs typeface="+mn-lt"/>
              </a:rPr>
              <a:t>n_eff</a:t>
            </a:r>
            <a:r>
              <a:rPr lang="en-US" sz="1200" spc="-1" dirty="0">
                <a:solidFill>
                  <a:schemeClr val="dk1"/>
                </a:solidFill>
                <a:ea typeface="+mn-lt"/>
                <a:cs typeface="+mn-lt"/>
              </a:rPr>
              <a:t> is complex in a bent waveguide: its imaginary part encodes the radiation loss, while the real part reflects the phase propagation</a:t>
            </a:r>
            <a:endParaRPr lang="es-ES" sz="1200" b="0" strike="noStrike" spc="-1" dirty="0">
              <a:solidFill>
                <a:schemeClr val="dk1"/>
              </a:solidFill>
              <a:latin typeface="Arial"/>
            </a:endParaRPr>
          </a:p>
        </p:txBody>
      </p:sp>
      <p:sp>
        <p:nvSpPr>
          <p:cNvPr id="124" name="Rectángulo 6"/>
          <p:cNvSpPr/>
          <p:nvPr/>
        </p:nvSpPr>
        <p:spPr>
          <a:xfrm>
            <a:off x="609480" y="1418400"/>
            <a:ext cx="11198880" cy="3304800"/>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chemeClr val="lt1"/>
              </a:solidFill>
              <a:latin typeface="Calibri"/>
            </a:endParaRPr>
          </a:p>
        </p:txBody>
      </p:sp>
      <p:sp>
        <p:nvSpPr>
          <p:cNvPr id="125" name="CuadroTexto 7"/>
          <p:cNvSpPr/>
          <p:nvPr/>
        </p:nvSpPr>
        <p:spPr>
          <a:xfrm>
            <a:off x="2978280" y="2784240"/>
            <a:ext cx="6234480" cy="91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800" b="1" strike="noStrike" spc="-1">
                <a:solidFill>
                  <a:schemeClr val="dk1"/>
                </a:solidFill>
                <a:latin typeface="Calibri"/>
              </a:rPr>
              <a:t>deep</a:t>
            </a:r>
            <a:r>
              <a:rPr lang="en-US" sz="1800" b="0" strike="noStrike" spc="-1">
                <a:solidFill>
                  <a:schemeClr val="dk1"/>
                </a:solidFill>
                <a:latin typeface="Calibri"/>
              </a:rPr>
              <a:t> waveguide</a:t>
            </a:r>
            <a:endParaRPr lang="es-ES" sz="1800" b="0" strike="noStrike" spc="-1">
              <a:solidFill>
                <a:srgbClr val="000000"/>
              </a:solidFill>
              <a:latin typeface="Arial"/>
            </a:endParaRPr>
          </a:p>
          <a:p>
            <a:pPr algn="ctr" defTabSz="914400">
              <a:lnSpc>
                <a:spcPct val="100000"/>
              </a:lnSpc>
            </a:pPr>
            <a:endParaRPr lang="es-ES" sz="1800" b="0" strike="noStrike" spc="-1">
              <a:solidFill>
                <a:srgbClr val="000000"/>
              </a:solidFill>
              <a:latin typeface="Arial"/>
            </a:endParaRPr>
          </a:p>
          <a:p>
            <a:pPr algn="ctr" defTabSz="914400">
              <a:lnSpc>
                <a:spcPct val="100000"/>
              </a:lnSpc>
            </a:pPr>
            <a:r>
              <a:rPr lang="en-US" sz="1800" b="0" strike="noStrike" spc="-1">
                <a:solidFill>
                  <a:schemeClr val="dk1"/>
                </a:solidFill>
                <a:latin typeface="Calibri"/>
              </a:rPr>
              <a:t>Paste Total Loss (dB/90º) vs R &amp; neff_TE0 vs R</a:t>
            </a:r>
            <a:endParaRPr lang="es-ES" sz="1800" b="0" strike="noStrike" spc="-1">
              <a:solidFill>
                <a:srgbClr val="000000"/>
              </a:solidFill>
              <a:latin typeface="Arial"/>
            </a:endParaRPr>
          </a:p>
        </p:txBody>
      </p:sp>
      <p:pic>
        <p:nvPicPr>
          <p:cNvPr id="126" name="Imagen 125"/>
          <p:cNvPicPr/>
          <p:nvPr/>
        </p:nvPicPr>
        <p:blipFill>
          <a:blip r:embed="rId4"/>
          <a:stretch/>
        </p:blipFill>
        <p:spPr>
          <a:xfrm>
            <a:off x="5692027" y="1468440"/>
            <a:ext cx="5399640" cy="3211200"/>
          </a:xfrm>
          <a:prstGeom prst="rect">
            <a:avLst/>
          </a:prstGeom>
          <a:ln w="0">
            <a:noFill/>
          </a:ln>
        </p:spPr>
      </p:pic>
      <p:pic>
        <p:nvPicPr>
          <p:cNvPr id="127" name="Imagen 126"/>
          <p:cNvPicPr/>
          <p:nvPr/>
        </p:nvPicPr>
        <p:blipFill>
          <a:blip r:embed="rId5"/>
          <a:stretch/>
        </p:blipFill>
        <p:spPr>
          <a:xfrm>
            <a:off x="1012028" y="1497960"/>
            <a:ext cx="4679640" cy="3225240"/>
          </a:xfrm>
          <a:prstGeom prst="rect">
            <a:avLst/>
          </a:prstGeom>
          <a:ln w="0">
            <a:noFill/>
          </a:ln>
        </p:spPr>
      </p:pic>
      <p:sp>
        <p:nvSpPr>
          <p:cNvPr id="4" name="PlaceHolder 3"/>
          <p:cNvSpPr>
            <a:spLocks noGrp="1"/>
          </p:cNvSpPr>
          <p:nvPr>
            <p:ph type="sldNum" idx="5"/>
          </p:nvPr>
        </p:nvSpPr>
        <p:spPr/>
        <p:txBody>
          <a:bodyPr/>
          <a:lstStyle/>
          <a:p>
            <a:fld id="{1E7BE025-8DD5-4FAD-B9B3-F185F94BE43E}" type="slidenum">
              <a:r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685800" y="408960"/>
            <a:ext cx="10993320" cy="1157040"/>
          </a:xfrm>
          <a:prstGeom prst="rect">
            <a:avLst/>
          </a:prstGeom>
          <a:noFill/>
          <a:ln w="0">
            <a:noFill/>
          </a:ln>
        </p:spPr>
        <p:txBody>
          <a:bodyPr lIns="0" tIns="12600" rIns="0" bIns="0" anchor="t">
            <a:noAutofit/>
          </a:bodyPr>
          <a:lstStyle/>
          <a:p>
            <a:pPr marL="12065">
              <a:lnSpc>
                <a:spcPct val="100000"/>
              </a:lnSpc>
              <a:spcBef>
                <a:spcPts val="99"/>
              </a:spcBef>
              <a:tabLst>
                <a:tab pos="0" algn="l"/>
              </a:tabLst>
            </a:pPr>
            <a:r>
              <a:rPr lang="en-US" sz="2500" b="1" strike="noStrike" spc="-1" dirty="0">
                <a:solidFill>
                  <a:schemeClr val="dk1"/>
                </a:solidFill>
                <a:latin typeface="Calibri"/>
                <a:ea typeface="Noto Sans CJK SC"/>
              </a:rPr>
              <a:t>#6 Learning outcome #2 – Wavelength behavior with Silicon</a:t>
            </a:r>
            <a:br>
              <a:rPr sz="2500" dirty="0"/>
            </a:br>
            <a:r>
              <a:rPr lang="en-US" sz="2000" b="0" strike="noStrike" spc="-1" dirty="0">
                <a:solidFill>
                  <a:schemeClr val="dk1"/>
                </a:solidFill>
                <a:latin typeface="Calibri"/>
                <a:ea typeface="Noto Sans CJK SC"/>
              </a:rPr>
              <a:t>Wavelength 1.5-1.6 µm (step 0.01 µm) –</a:t>
            </a:r>
            <a:r>
              <a:rPr lang="en-US" sz="2000" spc="-1">
                <a:solidFill>
                  <a:schemeClr val="dk1"/>
                </a:solidFill>
                <a:latin typeface="Calibri"/>
                <a:ea typeface="+mj-lt"/>
                <a:cs typeface="+mj-lt"/>
              </a:rPr>
              <a:t> h=220nm, </a:t>
            </a:r>
            <a:r>
              <a:rPr lang="en-US" sz="2000" b="0" strike="noStrike" spc="-1" dirty="0">
                <a:solidFill>
                  <a:schemeClr val="dk1"/>
                </a:solidFill>
                <a:latin typeface="Calibri"/>
              </a:rPr>
              <a:t>w=</a:t>
            </a:r>
            <a:r>
              <a:rPr lang="en-US" sz="2000" spc="-1" dirty="0">
                <a:solidFill>
                  <a:schemeClr val="dk1"/>
                </a:solidFill>
                <a:latin typeface="Calibri"/>
              </a:rPr>
              <a:t>500nm</a:t>
            </a:r>
            <a:endParaRPr lang="es-ES" sz="2000" b="0" strike="noStrike" spc="-1" dirty="0">
              <a:solidFill>
                <a:schemeClr val="dk1"/>
              </a:solidFill>
              <a:latin typeface="Arial"/>
            </a:endParaRPr>
          </a:p>
        </p:txBody>
      </p:sp>
      <p:pic>
        <p:nvPicPr>
          <p:cNvPr id="129" name="Gráfico 1"/>
          <p:cNvPicPr/>
          <p:nvPr/>
        </p:nvPicPr>
        <p:blipFill>
          <a:blip r:embed="rId3"/>
          <a:stretch/>
        </p:blipFill>
        <p:spPr>
          <a:xfrm>
            <a:off x="5045040" y="6356160"/>
            <a:ext cx="6408360" cy="362160"/>
          </a:xfrm>
          <a:prstGeom prst="rect">
            <a:avLst/>
          </a:prstGeom>
          <a:ln w="0">
            <a:noFill/>
          </a:ln>
        </p:spPr>
      </p:pic>
      <p:sp>
        <p:nvSpPr>
          <p:cNvPr id="130" name="PlaceHolder 2"/>
          <p:cNvSpPr>
            <a:spLocks noGrp="1"/>
          </p:cNvSpPr>
          <p:nvPr>
            <p:ph type="ftr" idx="23"/>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131" name="CuadroTexto 2"/>
          <p:cNvSpPr/>
          <p:nvPr/>
        </p:nvSpPr>
        <p:spPr>
          <a:xfrm>
            <a:off x="609480" y="4860360"/>
            <a:ext cx="11198880" cy="1014209"/>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r>
              <a:rPr lang="en-US" sz="1200" spc="-1">
                <a:solidFill>
                  <a:schemeClr val="dk1"/>
                </a:solidFill>
                <a:ea typeface="+mn-lt"/>
                <a:cs typeface="+mn-lt"/>
              </a:rPr>
              <a:t>In this case, the core material is silicon (Si), which has a refractive index of approximately </a:t>
            </a:r>
            <a:r>
              <a:rPr lang="en-US" sz="1200" spc="-1" err="1">
                <a:solidFill>
                  <a:schemeClr val="dk1"/>
                </a:solidFill>
                <a:ea typeface="+mn-lt"/>
                <a:cs typeface="+mn-lt"/>
              </a:rPr>
              <a:t>n_core</a:t>
            </a:r>
            <a:r>
              <a:rPr lang="en-US" sz="1200" spc="-1">
                <a:solidFill>
                  <a:schemeClr val="dk1"/>
                </a:solidFill>
                <a:ea typeface="+mn-lt"/>
                <a:cs typeface="+mn-lt"/>
              </a:rPr>
              <a:t> ≈ 3.475 at λ = 1.55 µm, while the cladding is silicon dioxide</a:t>
            </a:r>
            <a:r>
              <a:rPr lang="en-US" sz="1200" b="1" spc="-1">
                <a:solidFill>
                  <a:schemeClr val="dk1"/>
                </a:solidFill>
                <a:ea typeface="+mn-lt"/>
                <a:cs typeface="+mn-lt"/>
              </a:rPr>
              <a:t> (</a:t>
            </a:r>
            <a:r>
              <a:rPr lang="en-US" sz="1200" spc="-1" err="1">
                <a:solidFill>
                  <a:schemeClr val="dk1"/>
                </a:solidFill>
                <a:ea typeface="+mn-lt"/>
                <a:cs typeface="+mn-lt"/>
              </a:rPr>
              <a:t>SiO</a:t>
            </a:r>
            <a:r>
              <a:rPr lang="en-US" sz="1200" spc="-1">
                <a:solidFill>
                  <a:schemeClr val="dk1"/>
                </a:solidFill>
                <a:ea typeface="+mn-lt"/>
                <a:cs typeface="+mn-lt"/>
              </a:rPr>
              <a:t>₂) with </a:t>
            </a:r>
            <a:r>
              <a:rPr lang="en-US" sz="1200" spc="-1" err="1">
                <a:solidFill>
                  <a:schemeClr val="dk1"/>
                </a:solidFill>
                <a:ea typeface="+mn-lt"/>
                <a:cs typeface="+mn-lt"/>
              </a:rPr>
              <a:t>n_clad</a:t>
            </a:r>
            <a:r>
              <a:rPr lang="en-US" sz="1200" spc="-1">
                <a:solidFill>
                  <a:schemeClr val="dk1"/>
                </a:solidFill>
                <a:ea typeface="+mn-lt"/>
                <a:cs typeface="+mn-lt"/>
              </a:rPr>
              <a:t> ≈ 1.457. This results in a very high index contrast (</a:t>
            </a:r>
            <a:r>
              <a:rPr lang="en-US" sz="1200" spc="-1" err="1">
                <a:solidFill>
                  <a:schemeClr val="dk1"/>
                </a:solidFill>
                <a:ea typeface="+mn-lt"/>
                <a:cs typeface="+mn-lt"/>
              </a:rPr>
              <a:t>Δn</a:t>
            </a:r>
            <a:r>
              <a:rPr lang="en-US" sz="1200" spc="-1">
                <a:solidFill>
                  <a:schemeClr val="dk1"/>
                </a:solidFill>
                <a:ea typeface="+mn-lt"/>
                <a:cs typeface="+mn-lt"/>
              </a:rPr>
              <a:t> ≈ 2.014), which creates a strong numerical aperture (NA) and tight light confinement within the core. Because the index contrast is so large, the condition for Total Internal Reflection (TIR) is easily satisfied for multiple modes, meaning both the shallow and deep waveguide configurations support all 4 guided modes found in the simulation. High index contrast materials like silicon allow for tighter bend radii and stronger mode confinement, which is why silicon photonics is widely used for compact integrated circuits</a:t>
            </a:r>
            <a:endParaRPr lang="es-ES">
              <a:solidFill>
                <a:schemeClr val="dk1"/>
              </a:solidFill>
            </a:endParaRPr>
          </a:p>
        </p:txBody>
      </p:sp>
      <p:sp>
        <p:nvSpPr>
          <p:cNvPr id="132" name="Rectángulo 1"/>
          <p:cNvSpPr/>
          <p:nvPr/>
        </p:nvSpPr>
        <p:spPr>
          <a:xfrm>
            <a:off x="609480" y="1418400"/>
            <a:ext cx="5331600" cy="3304800"/>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chemeClr val="lt1"/>
              </a:solidFill>
              <a:latin typeface="Calibri"/>
            </a:endParaRPr>
          </a:p>
        </p:txBody>
      </p:sp>
      <p:sp>
        <p:nvSpPr>
          <p:cNvPr id="133" name="CuadroTexto 3"/>
          <p:cNvSpPr/>
          <p:nvPr/>
        </p:nvSpPr>
        <p:spPr>
          <a:xfrm>
            <a:off x="2138040" y="2671200"/>
            <a:ext cx="2275200" cy="913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1" strike="noStrike" spc="-1">
                <a:solidFill>
                  <a:schemeClr val="dk1"/>
                </a:solidFill>
                <a:latin typeface="Calibri"/>
              </a:rPr>
              <a:t>shallow</a:t>
            </a:r>
            <a:r>
              <a:rPr lang="en-US" sz="1800" b="0" strike="noStrike" spc="-1">
                <a:solidFill>
                  <a:schemeClr val="dk1"/>
                </a:solidFill>
                <a:latin typeface="Calibri"/>
              </a:rPr>
              <a:t> waveguide</a:t>
            </a:r>
            <a:endParaRPr lang="es-ES" sz="1800" b="0" strike="noStrike" spc="-1">
              <a:solidFill>
                <a:srgbClr val="000000"/>
              </a:solidFill>
              <a:latin typeface="Arial"/>
            </a:endParaRPr>
          </a:p>
          <a:p>
            <a:pPr algn="ctr" defTabSz="914400">
              <a:lnSpc>
                <a:spcPct val="100000"/>
              </a:lnSpc>
            </a:pPr>
            <a:endParaRPr lang="es-ES" sz="1800" b="0" strike="noStrike" spc="-1">
              <a:solidFill>
                <a:srgbClr val="000000"/>
              </a:solidFill>
              <a:latin typeface="Arial"/>
            </a:endParaRPr>
          </a:p>
          <a:p>
            <a:pPr algn="ctr" defTabSz="914400">
              <a:lnSpc>
                <a:spcPct val="100000"/>
              </a:lnSpc>
            </a:pPr>
            <a:r>
              <a:rPr lang="en-US" sz="1800" b="0" strike="noStrike" spc="-1">
                <a:solidFill>
                  <a:schemeClr val="dk1"/>
                </a:solidFill>
                <a:latin typeface="Calibri"/>
              </a:rPr>
              <a:t>Paste plot here</a:t>
            </a:r>
            <a:endParaRPr lang="es-ES" sz="1800" b="0" strike="noStrike" spc="-1">
              <a:solidFill>
                <a:srgbClr val="000000"/>
              </a:solidFill>
              <a:latin typeface="Arial"/>
            </a:endParaRPr>
          </a:p>
        </p:txBody>
      </p:sp>
      <p:sp>
        <p:nvSpPr>
          <p:cNvPr id="134" name="Rectángulo 2"/>
          <p:cNvSpPr/>
          <p:nvPr/>
        </p:nvSpPr>
        <p:spPr>
          <a:xfrm>
            <a:off x="6476760" y="1418400"/>
            <a:ext cx="5331600" cy="3304800"/>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chemeClr val="lt1"/>
              </a:solidFill>
              <a:latin typeface="Calibri"/>
            </a:endParaRPr>
          </a:p>
        </p:txBody>
      </p:sp>
      <p:sp>
        <p:nvSpPr>
          <p:cNvPr id="135" name="CuadroTexto 4"/>
          <p:cNvSpPr/>
          <p:nvPr/>
        </p:nvSpPr>
        <p:spPr>
          <a:xfrm>
            <a:off x="8162640" y="2671200"/>
            <a:ext cx="1961280" cy="913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1" strike="noStrike" spc="-1">
                <a:solidFill>
                  <a:schemeClr val="dk1"/>
                </a:solidFill>
                <a:latin typeface="Calibri"/>
              </a:rPr>
              <a:t>deep</a:t>
            </a:r>
            <a:r>
              <a:rPr lang="en-US" sz="1800" b="0" strike="noStrike" spc="-1">
                <a:solidFill>
                  <a:schemeClr val="dk1"/>
                </a:solidFill>
                <a:latin typeface="Calibri"/>
              </a:rPr>
              <a:t> waveguide</a:t>
            </a:r>
            <a:endParaRPr lang="es-ES" sz="1800" b="0" strike="noStrike" spc="-1">
              <a:solidFill>
                <a:srgbClr val="000000"/>
              </a:solidFill>
              <a:latin typeface="Arial"/>
            </a:endParaRPr>
          </a:p>
          <a:p>
            <a:pPr algn="ctr" defTabSz="914400">
              <a:lnSpc>
                <a:spcPct val="100000"/>
              </a:lnSpc>
            </a:pPr>
            <a:endParaRPr lang="es-ES" sz="1800" b="0" strike="noStrike" spc="-1">
              <a:solidFill>
                <a:srgbClr val="000000"/>
              </a:solidFill>
              <a:latin typeface="Arial"/>
            </a:endParaRPr>
          </a:p>
          <a:p>
            <a:pPr algn="ctr" defTabSz="914400">
              <a:lnSpc>
                <a:spcPct val="100000"/>
              </a:lnSpc>
            </a:pPr>
            <a:r>
              <a:rPr lang="en-US" sz="1800" b="0" strike="noStrike" spc="-1">
                <a:solidFill>
                  <a:schemeClr val="dk1"/>
                </a:solidFill>
                <a:latin typeface="Calibri"/>
              </a:rPr>
              <a:t>Paste plot here</a:t>
            </a:r>
            <a:endParaRPr lang="es-ES" sz="1800" b="0" strike="noStrike" spc="-1">
              <a:solidFill>
                <a:srgbClr val="000000"/>
              </a:solidFill>
              <a:latin typeface="Arial"/>
            </a:endParaRPr>
          </a:p>
        </p:txBody>
      </p:sp>
      <p:sp>
        <p:nvSpPr>
          <p:cNvPr id="136" name="CuadroTexto 6"/>
          <p:cNvSpPr/>
          <p:nvPr/>
        </p:nvSpPr>
        <p:spPr>
          <a:xfrm>
            <a:off x="642960" y="4402800"/>
            <a:ext cx="226872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strike="noStrike" spc="-1">
                <a:solidFill>
                  <a:schemeClr val="dk1"/>
                </a:solidFill>
                <a:latin typeface="Calibri"/>
              </a:rPr>
              <a:t>slab = 150nm</a:t>
            </a:r>
            <a:endParaRPr lang="es-ES" sz="1800" b="0" strike="noStrike" spc="-1">
              <a:solidFill>
                <a:srgbClr val="000000"/>
              </a:solidFill>
              <a:latin typeface="Arial"/>
            </a:endParaRPr>
          </a:p>
        </p:txBody>
      </p:sp>
      <p:pic>
        <p:nvPicPr>
          <p:cNvPr id="138" name="Imagen 137"/>
          <p:cNvPicPr/>
          <p:nvPr/>
        </p:nvPicPr>
        <p:blipFill>
          <a:blip r:embed="rId4"/>
          <a:stretch/>
        </p:blipFill>
        <p:spPr>
          <a:xfrm>
            <a:off x="6840000" y="1620000"/>
            <a:ext cx="4857840" cy="2880000"/>
          </a:xfrm>
          <a:prstGeom prst="rect">
            <a:avLst/>
          </a:prstGeom>
          <a:ln w="0">
            <a:noFill/>
          </a:ln>
        </p:spPr>
      </p:pic>
      <p:sp>
        <p:nvSpPr>
          <p:cNvPr id="4" name="PlaceHolder 3"/>
          <p:cNvSpPr>
            <a:spLocks noGrp="1"/>
          </p:cNvSpPr>
          <p:nvPr>
            <p:ph type="sldNum" idx="5"/>
          </p:nvPr>
        </p:nvSpPr>
        <p:spPr/>
        <p:txBody>
          <a:bodyPr/>
          <a:lstStyle/>
          <a:p>
            <a:fld id="{5BDD1988-C0D3-473D-BEF8-1B450CD201FF}" type="slidenum">
              <a:rPr/>
              <a:t>13</a:t>
            </a:fld>
            <a:endParaRPr/>
          </a:p>
        </p:txBody>
      </p:sp>
      <p:pic>
        <p:nvPicPr>
          <p:cNvPr id="2" name="Imagen 1" descr="Gráfico, Gráfico de líneas&#10;&#10;El contenido generado por IA puede ser incorrecto.">
            <a:extLst>
              <a:ext uri="{FF2B5EF4-FFF2-40B4-BE49-F238E27FC236}">
                <a16:creationId xmlns:a16="http://schemas.microsoft.com/office/drawing/2014/main" id="{47072C9A-14A8-C030-586C-9D8E965EE886}"/>
              </a:ext>
            </a:extLst>
          </p:cNvPr>
          <p:cNvPicPr>
            <a:picLocks noChangeAspect="1"/>
          </p:cNvPicPr>
          <p:nvPr/>
        </p:nvPicPr>
        <p:blipFill>
          <a:blip r:embed="rId5"/>
          <a:srcRect l="667" t="-107" r="-889" b="1916"/>
          <a:stretch>
            <a:fillRect/>
          </a:stretch>
        </p:blipFill>
        <p:spPr>
          <a:xfrm>
            <a:off x="847660" y="1567877"/>
            <a:ext cx="4703378" cy="267551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685800" y="408960"/>
            <a:ext cx="10993320" cy="1157040"/>
          </a:xfrm>
          <a:prstGeom prst="rect">
            <a:avLst/>
          </a:prstGeom>
          <a:noFill/>
          <a:ln w="0">
            <a:noFill/>
          </a:ln>
        </p:spPr>
        <p:txBody>
          <a:bodyPr lIns="0" tIns="12600" rIns="0" bIns="0" anchor="t">
            <a:noAutofit/>
          </a:bodyPr>
          <a:lstStyle/>
          <a:p>
            <a:pPr marL="12065" indent="0">
              <a:lnSpc>
                <a:spcPct val="100000"/>
              </a:lnSpc>
              <a:spcBef>
                <a:spcPts val="99"/>
              </a:spcBef>
              <a:buNone/>
              <a:tabLst>
                <a:tab pos="0" algn="l"/>
              </a:tabLst>
            </a:pPr>
            <a:r>
              <a:rPr lang="en-US" sz="2500" b="1" strike="noStrike" spc="-1">
                <a:solidFill>
                  <a:schemeClr val="dk1"/>
                </a:solidFill>
                <a:latin typeface="Calibri"/>
              </a:rPr>
              <a:t>#6 Learning outcome #3 – Width dependence</a:t>
            </a:r>
            <a:br>
              <a:rPr sz="2500"/>
            </a:br>
            <a:r>
              <a:rPr lang="en-US" sz="2000" b="0" strike="noStrike" spc="-1">
                <a:solidFill>
                  <a:schemeClr val="dk1"/>
                </a:solidFill>
                <a:latin typeface="Calibri"/>
              </a:rPr>
              <a:t>Width </a:t>
            </a:r>
            <a:r>
              <a:rPr lang="en-US" sz="2000" spc="-1">
                <a:solidFill>
                  <a:schemeClr val="dk1"/>
                </a:solidFill>
                <a:latin typeface="Calibri"/>
              </a:rPr>
              <a:t>0.3-</a:t>
            </a:r>
            <a:r>
              <a:rPr lang="en-US" sz="2000" b="0" strike="noStrike" spc="-1">
                <a:solidFill>
                  <a:schemeClr val="dk1"/>
                </a:solidFill>
                <a:latin typeface="Calibri"/>
              </a:rPr>
              <a:t> </a:t>
            </a:r>
            <a:r>
              <a:rPr lang="en-US" sz="2000" spc="-1">
                <a:solidFill>
                  <a:schemeClr val="dk1"/>
                </a:solidFill>
                <a:latin typeface="Calibri"/>
              </a:rPr>
              <a:t>1</a:t>
            </a:r>
            <a:r>
              <a:rPr lang="en-US" sz="2000" b="0" strike="noStrike" spc="-1">
                <a:solidFill>
                  <a:schemeClr val="dk1"/>
                </a:solidFill>
                <a:latin typeface="Calibri"/>
              </a:rPr>
              <a:t> µm (step 0.1 µm) – Wavelength 1.55 µm </a:t>
            </a:r>
            <a:endParaRPr lang="es-ES" sz="2000" b="0" strike="noStrike" spc="-1">
              <a:solidFill>
                <a:schemeClr val="dk1"/>
              </a:solidFill>
              <a:latin typeface="Arial"/>
            </a:endParaRPr>
          </a:p>
        </p:txBody>
      </p:sp>
      <p:pic>
        <p:nvPicPr>
          <p:cNvPr id="140" name="Gráfico 3"/>
          <p:cNvPicPr/>
          <p:nvPr/>
        </p:nvPicPr>
        <p:blipFill>
          <a:blip r:embed="rId3"/>
          <a:stretch/>
        </p:blipFill>
        <p:spPr>
          <a:xfrm>
            <a:off x="5045040" y="6356160"/>
            <a:ext cx="6408360" cy="362160"/>
          </a:xfrm>
          <a:prstGeom prst="rect">
            <a:avLst/>
          </a:prstGeom>
          <a:ln w="0">
            <a:noFill/>
          </a:ln>
        </p:spPr>
      </p:pic>
      <p:sp>
        <p:nvSpPr>
          <p:cNvPr id="141" name="PlaceHolder 2"/>
          <p:cNvSpPr>
            <a:spLocks noGrp="1"/>
          </p:cNvSpPr>
          <p:nvPr>
            <p:ph type="ftr" idx="24"/>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142" name="CuadroTexto 15"/>
          <p:cNvSpPr/>
          <p:nvPr/>
        </p:nvSpPr>
        <p:spPr>
          <a:xfrm>
            <a:off x="582507" y="4813156"/>
            <a:ext cx="11198880" cy="1568206"/>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r>
              <a:rPr lang="en-US" sz="1200" spc="-1" dirty="0">
                <a:solidFill>
                  <a:schemeClr val="dk1"/>
                </a:solidFill>
                <a:ea typeface="+mn-lt"/>
                <a:cs typeface="+mn-lt"/>
              </a:rPr>
              <a:t>The simulation library (tidy3d) orders modes by descending </a:t>
            </a:r>
            <a:r>
              <a:rPr lang="en-US" sz="1200" spc="-1" dirty="0" err="1">
                <a:solidFill>
                  <a:schemeClr val="dk1"/>
                </a:solidFill>
                <a:ea typeface="+mn-lt"/>
                <a:cs typeface="+mn-lt"/>
              </a:rPr>
              <a:t>n_eff</a:t>
            </a:r>
            <a:r>
              <a:rPr lang="en-US" sz="1200" spc="-1" dirty="0">
                <a:solidFill>
                  <a:schemeClr val="dk1"/>
                </a:solidFill>
                <a:ea typeface="+mn-lt"/>
                <a:cs typeface="+mn-lt"/>
              </a:rPr>
              <a:t>, not by polarization label. This means that as the waveguide width increases, modes can swap positions in the ordering, what appears as Mode 1 and 2 in our case at narrow widths may not correspond to the same physical mode at wider widths. However, the plot avoids crossing lines precisely because of this reordering, so these both curves have </a:t>
            </a:r>
            <a:r>
              <a:rPr lang="en-US" sz="1200" spc="-1" dirty="0" err="1">
                <a:solidFill>
                  <a:schemeClr val="dk1"/>
                </a:solidFill>
                <a:ea typeface="+mn-lt"/>
                <a:cs typeface="+mn-lt"/>
              </a:rPr>
              <a:t>hal</a:t>
            </a:r>
            <a:r>
              <a:rPr lang="en-US" sz="1200" spc="-1" dirty="0">
                <a:solidFill>
                  <a:schemeClr val="dk1"/>
                </a:solidFill>
                <a:ea typeface="+mn-lt"/>
                <a:cs typeface="+mn-lt"/>
              </a:rPr>
              <a:t>f of it with green and half of the other with green.</a:t>
            </a:r>
            <a:endParaRPr lang="en-US" sz="1200" spc="-1" dirty="0">
              <a:solidFill>
                <a:schemeClr val="dk1"/>
              </a:solidFill>
              <a:cs typeface="Arial"/>
            </a:endParaRPr>
          </a:p>
          <a:p>
            <a:pPr algn="just"/>
            <a:r>
              <a:rPr lang="en-US" sz="1200" spc="-1">
                <a:solidFill>
                  <a:schemeClr val="dk1"/>
                </a:solidFill>
                <a:latin typeface="Arial"/>
                <a:cs typeface="Arial"/>
              </a:rPr>
              <a:t>We see this on the near field representation:</a:t>
            </a:r>
            <a:endParaRPr lang="en-US" sz="1200" spc="-1" dirty="0">
              <a:solidFill>
                <a:schemeClr val="dk1"/>
              </a:solidFill>
              <a:latin typeface="Arial"/>
              <a:cs typeface="Arial"/>
            </a:endParaRPr>
          </a:p>
          <a:p>
            <a:pPr algn="just"/>
            <a:r>
              <a:rPr lang="en-US" sz="1200" spc="-1" dirty="0">
                <a:solidFill>
                  <a:schemeClr val="dk1"/>
                </a:solidFill>
                <a:ea typeface="+mn-lt"/>
                <a:cs typeface="+mn-lt"/>
              </a:rPr>
              <a:t>TM0 (left column) The shape barely changes because TM0 confinement is height-dominated — width has little influence on it, which is exactly why its </a:t>
            </a:r>
            <a:r>
              <a:rPr lang="en-US" sz="1200" spc="-1" dirty="0" err="1">
                <a:solidFill>
                  <a:schemeClr val="dk1"/>
                </a:solidFill>
                <a:ea typeface="+mn-lt"/>
                <a:cs typeface="+mn-lt"/>
              </a:rPr>
              <a:t>n_eff</a:t>
            </a:r>
            <a:r>
              <a:rPr lang="en-US" sz="1200" spc="-1" dirty="0">
                <a:solidFill>
                  <a:schemeClr val="dk1"/>
                </a:solidFill>
                <a:ea typeface="+mn-lt"/>
                <a:cs typeface="+mn-lt"/>
              </a:rPr>
              <a:t> remains flat in the sweep</a:t>
            </a:r>
          </a:p>
          <a:p>
            <a:pPr algn="just"/>
            <a:r>
              <a:rPr lang="en-US" sz="1200" spc="-1" dirty="0">
                <a:solidFill>
                  <a:schemeClr val="dk1"/>
                </a:solidFill>
                <a:cs typeface="Arial"/>
              </a:rPr>
              <a:t>TE1(right column) a completely change on its shape, </a:t>
            </a:r>
            <a:r>
              <a:rPr lang="en-US" sz="1200" b="1" spc="-1" dirty="0">
                <a:solidFill>
                  <a:schemeClr val="dk1"/>
                </a:solidFill>
                <a:ea typeface="+mn-lt"/>
                <a:cs typeface="+mn-lt"/>
              </a:rPr>
              <a:t>Th</a:t>
            </a:r>
            <a:r>
              <a:rPr lang="en-US" sz="1200" spc="-1" dirty="0">
                <a:solidFill>
                  <a:schemeClr val="dk1"/>
                </a:solidFill>
                <a:ea typeface="+mn-lt"/>
                <a:cs typeface="+mn-lt"/>
              </a:rPr>
              <a:t>e wider the waveguide, the more lateral space TE1 has to confine its two-lobe profile inside the high-index silicon core — pulling </a:t>
            </a:r>
            <a:r>
              <a:rPr lang="en-US" sz="1200" spc="-1" dirty="0" err="1">
                <a:solidFill>
                  <a:schemeClr val="dk1"/>
                </a:solidFill>
                <a:ea typeface="+mn-lt"/>
                <a:cs typeface="+mn-lt"/>
              </a:rPr>
              <a:t>n_eff</a:t>
            </a:r>
            <a:r>
              <a:rPr lang="en-US" sz="1200" spc="-1" dirty="0">
                <a:solidFill>
                  <a:schemeClr val="dk1"/>
                </a:solidFill>
                <a:ea typeface="+mn-lt"/>
                <a:cs typeface="+mn-lt"/>
              </a:rPr>
              <a:t> up rapidly.</a:t>
            </a:r>
          </a:p>
        </p:txBody>
      </p:sp>
      <p:sp>
        <p:nvSpPr>
          <p:cNvPr id="143" name="Rectángulo 3"/>
          <p:cNvSpPr/>
          <p:nvPr/>
        </p:nvSpPr>
        <p:spPr>
          <a:xfrm>
            <a:off x="609480" y="1418400"/>
            <a:ext cx="11198880" cy="3304800"/>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chemeClr val="lt1"/>
              </a:solidFill>
              <a:latin typeface="Calibri"/>
            </a:endParaRPr>
          </a:p>
        </p:txBody>
      </p:sp>
      <p:sp>
        <p:nvSpPr>
          <p:cNvPr id="4" name="PlaceHolder 3"/>
          <p:cNvSpPr>
            <a:spLocks noGrp="1"/>
          </p:cNvSpPr>
          <p:nvPr>
            <p:ph type="sldNum" idx="5"/>
          </p:nvPr>
        </p:nvSpPr>
        <p:spPr/>
        <p:txBody>
          <a:bodyPr/>
          <a:lstStyle/>
          <a:p>
            <a:fld id="{BBD3C773-6026-4C1A-8E3A-AD3F7C39A506}" type="slidenum">
              <a:rPr/>
              <a:t>14</a:t>
            </a:fld>
            <a:endParaRPr/>
          </a:p>
        </p:txBody>
      </p:sp>
      <p:pic>
        <p:nvPicPr>
          <p:cNvPr id="2" name="Imagen 1" descr="Gráfico, Gráfico de líneas&#10;&#10;El contenido generado por IA puede ser incorrecto.">
            <a:extLst>
              <a:ext uri="{FF2B5EF4-FFF2-40B4-BE49-F238E27FC236}">
                <a16:creationId xmlns:a16="http://schemas.microsoft.com/office/drawing/2014/main" id="{8D8E857E-1C09-9F12-439A-3C9A291EFC03}"/>
              </a:ext>
            </a:extLst>
          </p:cNvPr>
          <p:cNvPicPr>
            <a:picLocks noChangeAspect="1"/>
          </p:cNvPicPr>
          <p:nvPr/>
        </p:nvPicPr>
        <p:blipFill>
          <a:blip r:embed="rId4"/>
          <a:stretch>
            <a:fillRect/>
          </a:stretch>
        </p:blipFill>
        <p:spPr>
          <a:xfrm>
            <a:off x="613385" y="1421500"/>
            <a:ext cx="5769734" cy="3298494"/>
          </a:xfrm>
          <a:prstGeom prst="rect">
            <a:avLst/>
          </a:prstGeom>
        </p:spPr>
      </p:pic>
      <p:pic>
        <p:nvPicPr>
          <p:cNvPr id="17" name="Imagen 16" descr="Gráfico&#10;&#10;El contenido generado por IA puede ser incorrecto.">
            <a:extLst>
              <a:ext uri="{FF2B5EF4-FFF2-40B4-BE49-F238E27FC236}">
                <a16:creationId xmlns:a16="http://schemas.microsoft.com/office/drawing/2014/main" id="{7DE6ACF0-E0AC-5162-9029-C115CEF8F704}"/>
              </a:ext>
            </a:extLst>
          </p:cNvPr>
          <p:cNvPicPr>
            <a:picLocks noChangeAspect="1"/>
          </p:cNvPicPr>
          <p:nvPr/>
        </p:nvPicPr>
        <p:blipFill>
          <a:blip r:embed="rId5"/>
          <a:stretch>
            <a:fillRect/>
          </a:stretch>
        </p:blipFill>
        <p:spPr>
          <a:xfrm>
            <a:off x="6826477" y="1506086"/>
            <a:ext cx="2131333" cy="1559831"/>
          </a:xfrm>
          <a:prstGeom prst="rect">
            <a:avLst/>
          </a:prstGeom>
        </p:spPr>
      </p:pic>
      <p:pic>
        <p:nvPicPr>
          <p:cNvPr id="18" name="Imagen 17" descr="Gráfico, Histograma&#10;&#10;El contenido generado por IA puede ser incorrecto.">
            <a:extLst>
              <a:ext uri="{FF2B5EF4-FFF2-40B4-BE49-F238E27FC236}">
                <a16:creationId xmlns:a16="http://schemas.microsoft.com/office/drawing/2014/main" id="{88AE3699-585B-B0B7-987F-14241755D17B}"/>
              </a:ext>
            </a:extLst>
          </p:cNvPr>
          <p:cNvPicPr>
            <a:picLocks noChangeAspect="1"/>
          </p:cNvPicPr>
          <p:nvPr/>
        </p:nvPicPr>
        <p:blipFill>
          <a:blip r:embed="rId6"/>
          <a:stretch>
            <a:fillRect/>
          </a:stretch>
        </p:blipFill>
        <p:spPr>
          <a:xfrm>
            <a:off x="6902450" y="3207204"/>
            <a:ext cx="1970315" cy="1368880"/>
          </a:xfrm>
          <a:prstGeom prst="rect">
            <a:avLst/>
          </a:prstGeom>
        </p:spPr>
      </p:pic>
      <p:pic>
        <p:nvPicPr>
          <p:cNvPr id="19" name="Imagen 18" descr="Gráfico&#10;&#10;El contenido generado por IA puede ser incorrecto.">
            <a:extLst>
              <a:ext uri="{FF2B5EF4-FFF2-40B4-BE49-F238E27FC236}">
                <a16:creationId xmlns:a16="http://schemas.microsoft.com/office/drawing/2014/main" id="{08FA14DD-FCE4-EF91-CA35-5DE929C1A569}"/>
              </a:ext>
            </a:extLst>
          </p:cNvPr>
          <p:cNvPicPr>
            <a:picLocks noChangeAspect="1"/>
          </p:cNvPicPr>
          <p:nvPr/>
        </p:nvPicPr>
        <p:blipFill>
          <a:blip r:embed="rId7"/>
          <a:stretch>
            <a:fillRect/>
          </a:stretch>
        </p:blipFill>
        <p:spPr>
          <a:xfrm>
            <a:off x="9315451" y="3071132"/>
            <a:ext cx="2224315" cy="1504950"/>
          </a:xfrm>
          <a:prstGeom prst="rect">
            <a:avLst/>
          </a:prstGeom>
        </p:spPr>
      </p:pic>
      <p:pic>
        <p:nvPicPr>
          <p:cNvPr id="20" name="Imagen 19" descr="Gráfico&#10;&#10;El contenido generado por IA puede ser incorrecto.">
            <a:extLst>
              <a:ext uri="{FF2B5EF4-FFF2-40B4-BE49-F238E27FC236}">
                <a16:creationId xmlns:a16="http://schemas.microsoft.com/office/drawing/2014/main" id="{29596722-445A-1B62-38C2-1AE20378CCF0}"/>
              </a:ext>
            </a:extLst>
          </p:cNvPr>
          <p:cNvPicPr>
            <a:picLocks noChangeAspect="1"/>
          </p:cNvPicPr>
          <p:nvPr/>
        </p:nvPicPr>
        <p:blipFill>
          <a:blip r:embed="rId8"/>
          <a:stretch>
            <a:fillRect/>
          </a:stretch>
        </p:blipFill>
        <p:spPr>
          <a:xfrm>
            <a:off x="9406166" y="1574346"/>
            <a:ext cx="2133600" cy="150495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6002-58AD-DE12-F2DE-286888B9BE81}"/>
            </a:ext>
          </a:extLst>
        </p:cNvPr>
        <p:cNvGrpSpPr/>
        <p:nvPr/>
      </p:nvGrpSpPr>
      <p:grpSpPr>
        <a:xfrm>
          <a:off x="0" y="0"/>
          <a:ext cx="0" cy="0"/>
          <a:chOff x="0" y="0"/>
          <a:chExt cx="0" cy="0"/>
        </a:xfrm>
      </p:grpSpPr>
      <p:sp>
        <p:nvSpPr>
          <p:cNvPr id="120" name="PlaceHolder 1">
            <a:extLst>
              <a:ext uri="{FF2B5EF4-FFF2-40B4-BE49-F238E27FC236}">
                <a16:creationId xmlns:a16="http://schemas.microsoft.com/office/drawing/2014/main" id="{E1276A6B-9F4E-9CB5-5960-DFFB02E7E11C}"/>
              </a:ext>
            </a:extLst>
          </p:cNvPr>
          <p:cNvSpPr>
            <a:spLocks noGrp="1"/>
          </p:cNvSpPr>
          <p:nvPr>
            <p:ph type="title"/>
          </p:nvPr>
        </p:nvSpPr>
        <p:spPr>
          <a:xfrm>
            <a:off x="685800" y="408960"/>
            <a:ext cx="10993320" cy="1157040"/>
          </a:xfrm>
          <a:prstGeom prst="rect">
            <a:avLst/>
          </a:prstGeom>
          <a:noFill/>
          <a:ln w="0">
            <a:noFill/>
          </a:ln>
        </p:spPr>
        <p:txBody>
          <a:bodyPr lIns="0" tIns="12600" rIns="0" bIns="0" anchor="t">
            <a:noAutofit/>
          </a:bodyPr>
          <a:lstStyle/>
          <a:p>
            <a:pPr marL="12065">
              <a:lnSpc>
                <a:spcPct val="100000"/>
              </a:lnSpc>
              <a:spcBef>
                <a:spcPts val="99"/>
              </a:spcBef>
              <a:tabLst>
                <a:tab pos="0" algn="l"/>
              </a:tabLst>
            </a:pPr>
            <a:r>
              <a:rPr lang="en-US" sz="2500" b="1" spc="-1" dirty="0">
                <a:solidFill>
                  <a:schemeClr val="dk1"/>
                </a:solidFill>
                <a:latin typeface="Calibri"/>
                <a:ea typeface="Noto Sans CJK SC"/>
              </a:rPr>
              <a:t>#6 </a:t>
            </a:r>
            <a:r>
              <a:rPr lang="en-US" sz="2500" b="1" strike="noStrike" spc="-1" dirty="0">
                <a:solidFill>
                  <a:schemeClr val="dk1"/>
                </a:solidFill>
                <a:latin typeface="Calibri"/>
                <a:ea typeface="Noto Sans CJK SC"/>
              </a:rPr>
              <a:t>Learning outcome #5 –</a:t>
            </a:r>
            <a:r>
              <a:rPr lang="en-US" sz="2500" b="1" spc="-1" dirty="0">
                <a:solidFill>
                  <a:schemeClr val="dk1"/>
                </a:solidFill>
                <a:latin typeface="Calibri"/>
                <a:ea typeface="+mj-lt"/>
                <a:cs typeface="+mj-lt"/>
              </a:rPr>
              <a:t>Finding the safe radius for this </a:t>
            </a:r>
            <a:r>
              <a:rPr lang="en-US" sz="2500" b="1" spc="-1" dirty="0" err="1">
                <a:solidFill>
                  <a:schemeClr val="dk1"/>
                </a:solidFill>
                <a:latin typeface="Calibri"/>
                <a:ea typeface="+mj-lt"/>
                <a:cs typeface="+mj-lt"/>
              </a:rPr>
              <a:t>tecnology</a:t>
            </a:r>
            <a:br>
              <a:rPr sz="2500" dirty="0"/>
            </a:br>
            <a:r>
              <a:rPr lang="en-US" sz="2000" b="0" strike="noStrike" spc="-1" dirty="0">
                <a:solidFill>
                  <a:schemeClr val="dk1"/>
                </a:solidFill>
                <a:latin typeface="Calibri"/>
                <a:ea typeface="Noto Sans CJK SC"/>
              </a:rPr>
              <a:t>Find  neff_TE0 for </a:t>
            </a:r>
            <a:r>
              <a:rPr lang="en-US" sz="2000" b="0" strike="noStrike" spc="-1" dirty="0" err="1">
                <a:solidFill>
                  <a:schemeClr val="dk1"/>
                </a:solidFill>
                <a:latin typeface="Calibri"/>
                <a:ea typeface="Noto Sans CJK SC"/>
              </a:rPr>
              <a:t>wvl</a:t>
            </a:r>
            <a:r>
              <a:rPr lang="en-US" sz="2000" b="0" strike="noStrike" spc="-1" dirty="0">
                <a:solidFill>
                  <a:schemeClr val="dk1"/>
                </a:solidFill>
                <a:latin typeface="Calibri"/>
                <a:ea typeface="Noto Sans CJK SC"/>
              </a:rPr>
              <a:t> 1.55 µm, </a:t>
            </a:r>
            <a:r>
              <a:rPr lang="en-US" sz="2000" spc="-1" dirty="0">
                <a:solidFill>
                  <a:schemeClr val="dk1"/>
                </a:solidFill>
                <a:latin typeface="Calibri"/>
                <a:ea typeface="Calibri"/>
                <a:cs typeface="Calibri"/>
              </a:rPr>
              <a:t>h=220nm, w=500nm f</a:t>
            </a:r>
            <a:r>
              <a:rPr lang="en-US" sz="2000" spc="-1" dirty="0">
                <a:solidFill>
                  <a:schemeClr val="dk1"/>
                </a:solidFill>
                <a:latin typeface="Calibri"/>
                <a:ea typeface="Calibri"/>
              </a:rPr>
              <a:t>or</a:t>
            </a:r>
            <a:r>
              <a:rPr lang="en-US" sz="2000" b="0" strike="noStrike" spc="-1" dirty="0">
                <a:solidFill>
                  <a:schemeClr val="dk1"/>
                </a:solidFill>
                <a:latin typeface="Calibri"/>
                <a:ea typeface="Noto Sans CJK SC"/>
              </a:rPr>
              <a:t> R</a:t>
            </a:r>
            <a:r>
              <a:rPr lang="en-US" sz="2000" spc="-1" dirty="0">
                <a:solidFill>
                  <a:schemeClr val="dk1"/>
                </a:solidFill>
                <a:latin typeface="Calibri"/>
                <a:ea typeface="Noto Sans CJK SC"/>
              </a:rPr>
              <a:t>=5,10,15,20,25,30</a:t>
            </a:r>
            <a:r>
              <a:rPr lang="en-US" sz="2000" b="0" strike="noStrike" spc="-1" dirty="0">
                <a:solidFill>
                  <a:schemeClr val="dk1"/>
                </a:solidFill>
                <a:latin typeface="Calibri"/>
                <a:ea typeface="Noto Sans CJK SC"/>
              </a:rPr>
              <a:t> µm</a:t>
            </a:r>
            <a:br>
              <a:rPr sz="2000" dirty="0"/>
            </a:br>
            <a:endParaRPr lang="es-ES" sz="2000" b="0" strike="noStrike" spc="-1">
              <a:solidFill>
                <a:srgbClr val="000000"/>
              </a:solidFill>
              <a:latin typeface="Arial"/>
            </a:endParaRPr>
          </a:p>
        </p:txBody>
      </p:sp>
      <p:pic>
        <p:nvPicPr>
          <p:cNvPr id="121" name="Gráfico 82">
            <a:extLst>
              <a:ext uri="{FF2B5EF4-FFF2-40B4-BE49-F238E27FC236}">
                <a16:creationId xmlns:a16="http://schemas.microsoft.com/office/drawing/2014/main" id="{848517B8-F5F0-2866-C541-06D0DA17B362}"/>
              </a:ext>
            </a:extLst>
          </p:cNvPr>
          <p:cNvPicPr/>
          <p:nvPr/>
        </p:nvPicPr>
        <p:blipFill>
          <a:blip r:embed="rId3"/>
          <a:stretch/>
        </p:blipFill>
        <p:spPr>
          <a:xfrm>
            <a:off x="5045040" y="6356160"/>
            <a:ext cx="6408360" cy="362160"/>
          </a:xfrm>
          <a:prstGeom prst="rect">
            <a:avLst/>
          </a:prstGeom>
          <a:ln w="0">
            <a:noFill/>
          </a:ln>
        </p:spPr>
      </p:pic>
      <p:sp>
        <p:nvSpPr>
          <p:cNvPr id="122" name="PlaceHolder 2">
            <a:extLst>
              <a:ext uri="{FF2B5EF4-FFF2-40B4-BE49-F238E27FC236}">
                <a16:creationId xmlns:a16="http://schemas.microsoft.com/office/drawing/2014/main" id="{CF52F08A-00CF-9C0D-1F54-2332A09B924E}"/>
              </a:ext>
            </a:extLst>
          </p:cNvPr>
          <p:cNvSpPr>
            <a:spLocks noGrp="1"/>
          </p:cNvSpPr>
          <p:nvPr>
            <p:ph type="ftr" idx="22"/>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123" name="CuadroTexto 1">
            <a:extLst>
              <a:ext uri="{FF2B5EF4-FFF2-40B4-BE49-F238E27FC236}">
                <a16:creationId xmlns:a16="http://schemas.microsoft.com/office/drawing/2014/main" id="{F8322629-8F8E-AB4F-30CE-F60811B4FC53}"/>
              </a:ext>
            </a:extLst>
          </p:cNvPr>
          <p:cNvSpPr/>
          <p:nvPr/>
        </p:nvSpPr>
        <p:spPr>
          <a:xfrm>
            <a:off x="609480" y="4860360"/>
            <a:ext cx="11198880" cy="1568206"/>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r>
              <a:rPr lang="en-US" sz="1200" spc="-1" dirty="0">
                <a:solidFill>
                  <a:schemeClr val="dk1"/>
                </a:solidFill>
                <a:ea typeface="+mn-lt"/>
                <a:cs typeface="+mn-lt"/>
              </a:rPr>
              <a:t>In the left graph (R = 5–25 µm), we observed that total loss drops well below the 0.1 dB</a:t>
            </a:r>
            <a:r>
              <a:rPr lang="en-US" sz="1200" b="0" strike="noStrike" spc="-1" dirty="0">
                <a:solidFill>
                  <a:schemeClr val="dk1"/>
                </a:solidFill>
                <a:ea typeface="+mn-lt"/>
                <a:cs typeface="+mn-lt"/>
              </a:rPr>
              <a:t>/</a:t>
            </a:r>
            <a:r>
              <a:rPr lang="en-US" sz="1200" spc="-1" dirty="0">
                <a:solidFill>
                  <a:schemeClr val="dk1"/>
                </a:solidFill>
                <a:ea typeface="+mn-lt"/>
                <a:cs typeface="+mn-lt"/>
              </a:rPr>
              <a:t>90° safety threshold across the entire range, confirming that SOI safely operates at these radii. Since the condition was comfortably satisfied, we decided to push the radius to smaller values to find the actual limit — this is shown in the </a:t>
            </a:r>
            <a:r>
              <a:rPr lang="en-US" sz="1200" spc="-1" dirty="0" err="1">
                <a:solidFill>
                  <a:schemeClr val="dk1"/>
                </a:solidFill>
                <a:ea typeface="+mn-lt"/>
                <a:cs typeface="+mn-lt"/>
              </a:rPr>
              <a:t>centre</a:t>
            </a:r>
            <a:r>
              <a:rPr lang="en-US" sz="1200" spc="-1" dirty="0">
                <a:solidFill>
                  <a:schemeClr val="dk1"/>
                </a:solidFill>
                <a:ea typeface="+mn-lt"/>
                <a:cs typeface="+mn-lt"/>
              </a:rPr>
              <a:t> graph (R = 2.5–7.5 µm), where total loss increases steeply as R decreases, approaching the 0.1 dB/90° threshold. However, we observed that below R ≈ 2.5 µm the </a:t>
            </a:r>
            <a:r>
              <a:rPr lang="en-US" sz="1200" spc="-1" dirty="0" err="1">
                <a:solidFill>
                  <a:schemeClr val="dk1"/>
                </a:solidFill>
                <a:ea typeface="+mn-lt"/>
                <a:cs typeface="+mn-lt"/>
              </a:rPr>
              <a:t>modesolver</a:t>
            </a:r>
            <a:r>
              <a:rPr lang="en-US" sz="1200" spc="-1" dirty="0">
                <a:solidFill>
                  <a:schemeClr val="dk1"/>
                </a:solidFill>
                <a:ea typeface="+mn-lt"/>
                <a:cs typeface="+mn-lt"/>
              </a:rPr>
              <a:t> diverges, returning unphysically large loss values. This is a known numerical artefact at extreme radii where the bent waveguide mode is no longer well-defined, so we established R = 2.5 µm as the lower simulation boundary.</a:t>
            </a:r>
            <a:endParaRPr lang="es-ES" dirty="0">
              <a:solidFill>
                <a:schemeClr val="dk1"/>
              </a:solidFill>
              <a:ea typeface="+mn-lt"/>
              <a:cs typeface="+mn-lt"/>
            </a:endParaRPr>
          </a:p>
          <a:p>
            <a:pPr algn="just"/>
            <a:r>
              <a:rPr lang="en-US" sz="1200" spc="-1" dirty="0">
                <a:solidFill>
                  <a:schemeClr val="dk1"/>
                </a:solidFill>
                <a:ea typeface="+mn-lt"/>
                <a:cs typeface="+mn-lt"/>
              </a:rPr>
              <a:t>In the right graph, we observed that </a:t>
            </a:r>
            <a:r>
              <a:rPr lang="en-US" sz="1200" spc="-1" dirty="0" err="1">
                <a:solidFill>
                  <a:schemeClr val="dk1"/>
                </a:solidFill>
                <a:ea typeface="+mn-lt"/>
                <a:cs typeface="+mn-lt"/>
              </a:rPr>
              <a:t>neff</a:t>
            </a:r>
            <a:r>
              <a:rPr lang="en-US" sz="1200" spc="-1" dirty="0">
                <a:solidFill>
                  <a:schemeClr val="dk1"/>
                </a:solidFill>
                <a:ea typeface="+mn-lt"/>
                <a:cs typeface="+mn-lt"/>
              </a:rPr>
              <a:t> </a:t>
            </a:r>
            <a:r>
              <a:rPr lang="en-US" sz="1200" b="1" spc="-1" dirty="0">
                <a:solidFill>
                  <a:schemeClr val="dk1"/>
                </a:solidFill>
                <a:ea typeface="+mn-lt"/>
                <a:cs typeface="+mn-lt"/>
              </a:rPr>
              <a:t>increases as R decreases</a:t>
            </a:r>
            <a:r>
              <a:rPr lang="en-US" sz="1200" spc="-1" dirty="0">
                <a:solidFill>
                  <a:schemeClr val="dk1"/>
                </a:solidFill>
                <a:ea typeface="+mn-lt"/>
                <a:cs typeface="+mn-lt"/>
              </a:rPr>
              <a:t>. This is expected: at tighter bends, the mode shifts towards the outer edge of the curve and overlaps more with the core, so it experiences a slightly higher average index.</a:t>
            </a:r>
            <a:endParaRPr lang="en-US" dirty="0">
              <a:solidFill>
                <a:schemeClr val="dk1"/>
              </a:solidFill>
            </a:endParaRPr>
          </a:p>
          <a:p>
            <a:pPr algn="just"/>
            <a:endParaRPr lang="en-US" sz="1200" spc="-1" dirty="0">
              <a:solidFill>
                <a:schemeClr val="dk1"/>
              </a:solidFill>
              <a:ea typeface="+mn-lt"/>
              <a:cs typeface="+mn-lt"/>
            </a:endParaRPr>
          </a:p>
        </p:txBody>
      </p:sp>
      <p:sp>
        <p:nvSpPr>
          <p:cNvPr id="124" name="Rectángulo 6">
            <a:extLst>
              <a:ext uri="{FF2B5EF4-FFF2-40B4-BE49-F238E27FC236}">
                <a16:creationId xmlns:a16="http://schemas.microsoft.com/office/drawing/2014/main" id="{B2FF8D4E-D371-6F0D-53DF-79DFBDDC73E7}"/>
              </a:ext>
            </a:extLst>
          </p:cNvPr>
          <p:cNvSpPr/>
          <p:nvPr/>
        </p:nvSpPr>
        <p:spPr>
          <a:xfrm>
            <a:off x="609480" y="1418400"/>
            <a:ext cx="11198880" cy="3304800"/>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chemeClr val="lt1"/>
              </a:solidFill>
              <a:latin typeface="Calibri"/>
            </a:endParaRPr>
          </a:p>
        </p:txBody>
      </p:sp>
      <p:sp>
        <p:nvSpPr>
          <p:cNvPr id="4" name="PlaceHolder 3">
            <a:extLst>
              <a:ext uri="{FF2B5EF4-FFF2-40B4-BE49-F238E27FC236}">
                <a16:creationId xmlns:a16="http://schemas.microsoft.com/office/drawing/2014/main" id="{139730D1-21DA-1E11-0331-1EEF021DAF55}"/>
              </a:ext>
            </a:extLst>
          </p:cNvPr>
          <p:cNvSpPr>
            <a:spLocks noGrp="1"/>
          </p:cNvSpPr>
          <p:nvPr>
            <p:ph type="sldNum" idx="5"/>
          </p:nvPr>
        </p:nvSpPr>
        <p:spPr/>
        <p:txBody>
          <a:bodyPr/>
          <a:lstStyle/>
          <a:p>
            <a:fld id="{1E7BE025-8DD5-4FAD-B9B3-F185F94BE43E}" type="slidenum">
              <a:rPr/>
              <a:t>15</a:t>
            </a:fld>
            <a:endParaRPr/>
          </a:p>
        </p:txBody>
      </p:sp>
      <p:pic>
        <p:nvPicPr>
          <p:cNvPr id="2" name="Imagen 1" descr="Gráfico, Gráfico de líneas&#10;&#10;El contenido generado por IA puede ser incorrecto.">
            <a:extLst>
              <a:ext uri="{FF2B5EF4-FFF2-40B4-BE49-F238E27FC236}">
                <a16:creationId xmlns:a16="http://schemas.microsoft.com/office/drawing/2014/main" id="{9C7BF38C-498F-8111-F78A-5A3B428374FD}"/>
              </a:ext>
            </a:extLst>
          </p:cNvPr>
          <p:cNvPicPr>
            <a:picLocks noChangeAspect="1"/>
          </p:cNvPicPr>
          <p:nvPr/>
        </p:nvPicPr>
        <p:blipFill>
          <a:blip r:embed="rId4"/>
          <a:stretch>
            <a:fillRect/>
          </a:stretch>
        </p:blipFill>
        <p:spPr>
          <a:xfrm>
            <a:off x="611509" y="1412838"/>
            <a:ext cx="3714326" cy="3004651"/>
          </a:xfrm>
          <a:prstGeom prst="rect">
            <a:avLst/>
          </a:prstGeom>
        </p:spPr>
      </p:pic>
      <p:pic>
        <p:nvPicPr>
          <p:cNvPr id="3" name="Imagen 2" descr="Gráfico, Gráfico de líneas&#10;&#10;El contenido generado por IA puede ser incorrecto.">
            <a:extLst>
              <a:ext uri="{FF2B5EF4-FFF2-40B4-BE49-F238E27FC236}">
                <a16:creationId xmlns:a16="http://schemas.microsoft.com/office/drawing/2014/main" id="{235EDB73-53CE-03C6-26DA-FF677E599441}"/>
              </a:ext>
            </a:extLst>
          </p:cNvPr>
          <p:cNvPicPr>
            <a:picLocks noChangeAspect="1"/>
          </p:cNvPicPr>
          <p:nvPr/>
        </p:nvPicPr>
        <p:blipFill>
          <a:blip r:embed="rId5"/>
          <a:srcRect l="-1672" t="2869" r="-335" b="-372"/>
          <a:stretch>
            <a:fillRect/>
          </a:stretch>
        </p:blipFill>
        <p:spPr>
          <a:xfrm>
            <a:off x="4310896" y="1714499"/>
            <a:ext cx="3754845" cy="2923401"/>
          </a:xfrm>
          <a:prstGeom prst="rect">
            <a:avLst/>
          </a:prstGeom>
        </p:spPr>
      </p:pic>
      <p:pic>
        <p:nvPicPr>
          <p:cNvPr id="5" name="Imagen 4" descr="Gráfico, Gráfico de líneas&#10;&#10;El contenido generado por IA puede ser incorrecto.">
            <a:extLst>
              <a:ext uri="{FF2B5EF4-FFF2-40B4-BE49-F238E27FC236}">
                <a16:creationId xmlns:a16="http://schemas.microsoft.com/office/drawing/2014/main" id="{6F208CC3-3867-4234-D09B-C3E32034BCA3}"/>
              </a:ext>
            </a:extLst>
          </p:cNvPr>
          <p:cNvPicPr>
            <a:picLocks noChangeAspect="1"/>
          </p:cNvPicPr>
          <p:nvPr/>
        </p:nvPicPr>
        <p:blipFill>
          <a:blip r:embed="rId6"/>
          <a:stretch>
            <a:fillRect/>
          </a:stretch>
        </p:blipFill>
        <p:spPr>
          <a:xfrm>
            <a:off x="7928794" y="1650898"/>
            <a:ext cx="3868380" cy="2978559"/>
          </a:xfrm>
          <a:prstGeom prst="rect">
            <a:avLst/>
          </a:prstGeom>
        </p:spPr>
      </p:pic>
    </p:spTree>
    <p:extLst>
      <p:ext uri="{BB962C8B-B14F-4D97-AF65-F5344CB8AC3E}">
        <p14:creationId xmlns:p14="http://schemas.microsoft.com/office/powerpoint/2010/main" val="1178196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BC53B-0D42-C32A-6287-FE4A851E31D7}"/>
            </a:ext>
          </a:extLst>
        </p:cNvPr>
        <p:cNvGrpSpPr/>
        <p:nvPr/>
      </p:nvGrpSpPr>
      <p:grpSpPr>
        <a:xfrm>
          <a:off x="0" y="0"/>
          <a:ext cx="0" cy="0"/>
          <a:chOff x="0" y="0"/>
          <a:chExt cx="0" cy="0"/>
        </a:xfrm>
      </p:grpSpPr>
      <p:sp>
        <p:nvSpPr>
          <p:cNvPr id="120" name="PlaceHolder 1">
            <a:extLst>
              <a:ext uri="{FF2B5EF4-FFF2-40B4-BE49-F238E27FC236}">
                <a16:creationId xmlns:a16="http://schemas.microsoft.com/office/drawing/2014/main" id="{75DBD5CB-6F09-A615-9DAD-F4E9CD24F5E2}"/>
              </a:ext>
            </a:extLst>
          </p:cNvPr>
          <p:cNvSpPr>
            <a:spLocks noGrp="1"/>
          </p:cNvSpPr>
          <p:nvPr>
            <p:ph type="title"/>
          </p:nvPr>
        </p:nvSpPr>
        <p:spPr>
          <a:xfrm>
            <a:off x="685800" y="408960"/>
            <a:ext cx="10993320" cy="1157040"/>
          </a:xfrm>
          <a:prstGeom prst="rect">
            <a:avLst/>
          </a:prstGeom>
          <a:noFill/>
          <a:ln w="0">
            <a:noFill/>
          </a:ln>
        </p:spPr>
        <p:txBody>
          <a:bodyPr lIns="0" tIns="12600" rIns="0" bIns="0" anchor="t">
            <a:noAutofit/>
          </a:bodyPr>
          <a:lstStyle/>
          <a:p>
            <a:pPr marL="12065">
              <a:lnSpc>
                <a:spcPct val="100000"/>
              </a:lnSpc>
              <a:spcBef>
                <a:spcPts val="99"/>
              </a:spcBef>
              <a:tabLst>
                <a:tab pos="0" algn="l"/>
              </a:tabLst>
            </a:pPr>
            <a:r>
              <a:rPr lang="en-US" sz="2500" b="1" spc="-1">
                <a:solidFill>
                  <a:schemeClr val="dk1"/>
                </a:solidFill>
                <a:latin typeface="Calibri"/>
                <a:ea typeface="Noto Sans CJK SC"/>
              </a:rPr>
              <a:t>#6 </a:t>
            </a:r>
            <a:r>
              <a:rPr lang="en-US" sz="2500" b="1" strike="noStrike" spc="-1">
                <a:solidFill>
                  <a:schemeClr val="dk1"/>
                </a:solidFill>
                <a:latin typeface="Calibri"/>
                <a:ea typeface="Noto Sans CJK SC"/>
              </a:rPr>
              <a:t>Learning outcome </a:t>
            </a:r>
            <a:r>
              <a:rPr lang="en-US" sz="2500" b="1" spc="-1">
                <a:solidFill>
                  <a:schemeClr val="dk1"/>
                </a:solidFill>
                <a:latin typeface="Calibri"/>
                <a:ea typeface="Noto Sans CJK SC"/>
              </a:rPr>
              <a:t>#Conclusion</a:t>
            </a:r>
            <a:r>
              <a:rPr lang="en-US" sz="2500" b="1" strike="noStrike" spc="-1">
                <a:solidFill>
                  <a:schemeClr val="dk1"/>
                </a:solidFill>
                <a:latin typeface="Calibri"/>
                <a:ea typeface="Noto Sans CJK SC"/>
              </a:rPr>
              <a:t> –</a:t>
            </a:r>
            <a:r>
              <a:rPr lang="en-US" sz="2500" b="1" spc="-1">
                <a:solidFill>
                  <a:schemeClr val="dk1"/>
                </a:solidFill>
                <a:latin typeface="Calibri"/>
                <a:ea typeface="+mj-lt"/>
                <a:cs typeface="+mj-lt"/>
              </a:rPr>
              <a:t>Comparison of material use</a:t>
            </a:r>
            <a:br>
              <a:rPr sz="2500" dirty="0"/>
            </a:br>
            <a:r>
              <a:rPr lang="en-US" sz="2000" spc="-1">
                <a:solidFill>
                  <a:schemeClr val="dk1"/>
                </a:solidFill>
                <a:latin typeface="Calibri"/>
              </a:rPr>
              <a:t>Silicon vs Silicon Nitride for</a:t>
            </a:r>
            <a:r>
              <a:rPr lang="en-US" sz="2000" spc="-1" dirty="0">
                <a:solidFill>
                  <a:schemeClr val="dk1"/>
                </a:solidFill>
                <a:latin typeface="Calibri"/>
              </a:rPr>
              <a:t> the Core</a:t>
            </a:r>
            <a:br>
              <a:rPr sz="2000" dirty="0"/>
            </a:br>
            <a:endParaRPr lang="es-ES" sz="2000" b="0" strike="noStrike" spc="-1">
              <a:solidFill>
                <a:srgbClr val="000000"/>
              </a:solidFill>
              <a:latin typeface="Arial"/>
            </a:endParaRPr>
          </a:p>
        </p:txBody>
      </p:sp>
      <p:pic>
        <p:nvPicPr>
          <p:cNvPr id="121" name="Gráfico 82">
            <a:extLst>
              <a:ext uri="{FF2B5EF4-FFF2-40B4-BE49-F238E27FC236}">
                <a16:creationId xmlns:a16="http://schemas.microsoft.com/office/drawing/2014/main" id="{70AF6E5D-27D0-D0D3-CF99-A9C9629164B1}"/>
              </a:ext>
            </a:extLst>
          </p:cNvPr>
          <p:cNvPicPr/>
          <p:nvPr/>
        </p:nvPicPr>
        <p:blipFill>
          <a:blip r:embed="rId3"/>
          <a:stretch/>
        </p:blipFill>
        <p:spPr>
          <a:xfrm>
            <a:off x="5045040" y="6356160"/>
            <a:ext cx="6408360" cy="362160"/>
          </a:xfrm>
          <a:prstGeom prst="rect">
            <a:avLst/>
          </a:prstGeom>
          <a:ln w="0">
            <a:noFill/>
          </a:ln>
        </p:spPr>
      </p:pic>
      <p:sp>
        <p:nvSpPr>
          <p:cNvPr id="122" name="PlaceHolder 2">
            <a:extLst>
              <a:ext uri="{FF2B5EF4-FFF2-40B4-BE49-F238E27FC236}">
                <a16:creationId xmlns:a16="http://schemas.microsoft.com/office/drawing/2014/main" id="{A3AB1846-CB67-F90C-484E-4172233E09FA}"/>
              </a:ext>
            </a:extLst>
          </p:cNvPr>
          <p:cNvSpPr>
            <a:spLocks noGrp="1"/>
          </p:cNvSpPr>
          <p:nvPr>
            <p:ph type="ftr" idx="22"/>
          </p:nvPr>
        </p:nvSpPr>
        <p:spPr>
          <a:xfrm>
            <a:off x="609480" y="6456960"/>
            <a:ext cx="2742120" cy="183600"/>
          </a:xfrm>
          <a:prstGeom prst="rect">
            <a:avLst/>
          </a:prstGeom>
          <a:noFill/>
          <a:ln w="0">
            <a:noFill/>
          </a:ln>
        </p:spPr>
        <p:txBody>
          <a:bodyPr lIns="0" tIns="0" rIns="0" bIns="0" anchor="ctr">
            <a:noAutofit/>
          </a:bodyPr>
          <a:lstStyle>
            <a:lvl1pPr marL="12600" indent="0" defTabSz="914400">
              <a:lnSpc>
                <a:spcPct val="100000"/>
              </a:lnSpc>
              <a:spcBef>
                <a:spcPts val="14"/>
              </a:spcBef>
              <a:buNone/>
              <a:tabLst>
                <a:tab pos="0" algn="l"/>
              </a:tabLst>
              <a:defRPr lang="es-ES" sz="1200" b="0" strike="noStrike" spc="-7">
                <a:solidFill>
                  <a:srgbClr val="585858"/>
                </a:solidFill>
                <a:latin typeface="Arial"/>
              </a:defRPr>
            </a:lvl1pPr>
          </a:lstStyle>
          <a:p>
            <a:pPr marL="12600" indent="0" defTabSz="914400">
              <a:lnSpc>
                <a:spcPct val="100000"/>
              </a:lnSpc>
              <a:spcBef>
                <a:spcPts val="14"/>
              </a:spcBef>
              <a:buNone/>
              <a:tabLst>
                <a:tab pos="0" algn="l"/>
              </a:tabLst>
            </a:pPr>
            <a:r>
              <a:rPr lang="es-ES" sz="1200" b="0" strike="noStrike" spc="-7">
                <a:solidFill>
                  <a:srgbClr val="585858"/>
                </a:solidFill>
                <a:latin typeface="Arial"/>
              </a:rPr>
              <a:t>LAB 1.0 WAVEGUIDES</a:t>
            </a:r>
            <a:endParaRPr lang="es-ES" sz="1200" b="0" strike="noStrike" spc="-1">
              <a:solidFill>
                <a:srgbClr val="000000"/>
              </a:solidFill>
              <a:latin typeface="Times New Roman"/>
            </a:endParaRPr>
          </a:p>
        </p:txBody>
      </p:sp>
      <p:sp>
        <p:nvSpPr>
          <p:cNvPr id="123" name="CuadroTexto 1">
            <a:extLst>
              <a:ext uri="{FF2B5EF4-FFF2-40B4-BE49-F238E27FC236}">
                <a16:creationId xmlns:a16="http://schemas.microsoft.com/office/drawing/2014/main" id="{6B1A9C97-8C80-CC3B-9A57-2A1FB991AE8E}"/>
              </a:ext>
            </a:extLst>
          </p:cNvPr>
          <p:cNvSpPr/>
          <p:nvPr/>
        </p:nvSpPr>
        <p:spPr>
          <a:xfrm>
            <a:off x="7295415" y="1382198"/>
            <a:ext cx="4476072" cy="4522861"/>
          </a:xfrm>
          <a:prstGeom prst="rect">
            <a:avLst/>
          </a:prstGeom>
          <a:solidFill>
            <a:schemeClr val="lt1">
              <a:lumMod val="95000"/>
            </a:schemeClr>
          </a:solidFill>
          <a:ln w="28440">
            <a:solidFill>
              <a:srgbClr val="E0700D"/>
            </a:solidFill>
            <a:round/>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marL="285750" indent="-285750" algn="just">
              <a:buFont typeface="Arial"/>
              <a:buChar char="•"/>
            </a:pPr>
            <a:r>
              <a:rPr lang="en-US" sz="1200" b="1" spc="-1" dirty="0">
                <a:solidFill>
                  <a:schemeClr val="dk1"/>
                </a:solidFill>
                <a:ea typeface="+mn-lt"/>
                <a:cs typeface="+mn-lt"/>
              </a:rPr>
              <a:t>Index contrast drives confinement</a:t>
            </a:r>
            <a:r>
              <a:rPr lang="en-US" sz="1200" spc="-1" dirty="0">
                <a:solidFill>
                  <a:schemeClr val="dk1"/>
                </a:solidFill>
                <a:ea typeface="+mn-lt"/>
                <a:cs typeface="+mn-lt"/>
              </a:rPr>
              <a:t>: SOI has </a:t>
            </a:r>
            <a:r>
              <a:rPr lang="en-US" sz="1200" spc="-1" dirty="0" err="1">
                <a:solidFill>
                  <a:schemeClr val="dk1"/>
                </a:solidFill>
                <a:ea typeface="+mn-lt"/>
                <a:cs typeface="+mn-lt"/>
              </a:rPr>
              <a:t>Δn</a:t>
            </a:r>
            <a:r>
              <a:rPr lang="en-US" sz="1200" spc="-1" dirty="0">
                <a:solidFill>
                  <a:schemeClr val="dk1"/>
                </a:solidFill>
                <a:ea typeface="+mn-lt"/>
                <a:cs typeface="+mn-lt"/>
              </a:rPr>
              <a:t> ≈ 2.05 vs. </a:t>
            </a:r>
            <a:r>
              <a:rPr lang="en-US" sz="1200" spc="-1" dirty="0" err="1">
                <a:solidFill>
                  <a:schemeClr val="dk1"/>
                </a:solidFill>
                <a:ea typeface="+mn-lt"/>
                <a:cs typeface="+mn-lt"/>
              </a:rPr>
              <a:t>SiNx</a:t>
            </a:r>
            <a:r>
              <a:rPr lang="en-US" sz="1200" spc="-1" dirty="0">
                <a:solidFill>
                  <a:schemeClr val="dk1"/>
                </a:solidFill>
                <a:ea typeface="+mn-lt"/>
                <a:cs typeface="+mn-lt"/>
              </a:rPr>
              <a:t> </a:t>
            </a:r>
            <a:r>
              <a:rPr lang="en-US" sz="1200" spc="-1" dirty="0" err="1">
                <a:solidFill>
                  <a:schemeClr val="dk1"/>
                </a:solidFill>
                <a:ea typeface="+mn-lt"/>
                <a:cs typeface="+mn-lt"/>
              </a:rPr>
              <a:t>Δn</a:t>
            </a:r>
            <a:r>
              <a:rPr lang="en-US" sz="1200" spc="-1" dirty="0">
                <a:solidFill>
                  <a:schemeClr val="dk1"/>
                </a:solidFill>
                <a:ea typeface="+mn-lt"/>
                <a:cs typeface="+mn-lt"/>
              </a:rPr>
              <a:t> ≈ 0.55, so TIR is satisfied over a wider angle range in SOI, confining the mode in a much smaller cross-section (500 nm × 220 nm vs. 1.2 µm × 300 nm). </a:t>
            </a:r>
            <a:endParaRPr lang="es-ES" dirty="0"/>
          </a:p>
          <a:p>
            <a:pPr marL="285750" indent="-285750" algn="just">
              <a:buFont typeface="Arial"/>
              <a:buChar char="•"/>
            </a:pPr>
            <a:r>
              <a:rPr lang="en-US" sz="1200" b="1" spc="-1" dirty="0">
                <a:solidFill>
                  <a:schemeClr val="dk1"/>
                </a:solidFill>
                <a:ea typeface="+mn-lt"/>
                <a:cs typeface="+mn-lt"/>
              </a:rPr>
              <a:t>Confinement enables tighter bends</a:t>
            </a:r>
            <a:r>
              <a:rPr lang="en-US" sz="1200" spc="-1" dirty="0">
                <a:solidFill>
                  <a:schemeClr val="dk1"/>
                </a:solidFill>
                <a:ea typeface="+mn-lt"/>
                <a:cs typeface="+mn-lt"/>
              </a:rPr>
              <a:t>: The evanescent field decays faster in high-contrast waveguides, allowing SOI to use bend radii of ~5–10 µm vs. ~25 µm for </a:t>
            </a:r>
            <a:r>
              <a:rPr lang="en-US" sz="1200" spc="-1" dirty="0" err="1">
                <a:solidFill>
                  <a:schemeClr val="dk1"/>
                </a:solidFill>
                <a:ea typeface="+mn-lt"/>
                <a:cs typeface="+mn-lt"/>
              </a:rPr>
              <a:t>SiNx</a:t>
            </a:r>
            <a:r>
              <a:rPr lang="en-US" sz="1200" spc="-1" dirty="0">
                <a:solidFill>
                  <a:schemeClr val="dk1"/>
                </a:solidFill>
                <a:ea typeface="+mn-lt"/>
                <a:cs typeface="+mn-lt"/>
              </a:rPr>
              <a:t> — directly reducing circuit footprint. </a:t>
            </a:r>
            <a:endParaRPr lang="en-US" dirty="0"/>
          </a:p>
          <a:p>
            <a:pPr marL="285750" indent="-285750" algn="just">
              <a:buFont typeface="Arial"/>
              <a:buChar char="•"/>
            </a:pPr>
            <a:r>
              <a:rPr lang="en-US" sz="1200" b="1" spc="-1" dirty="0">
                <a:solidFill>
                  <a:schemeClr val="dk1"/>
                </a:solidFill>
                <a:ea typeface="+mn-lt"/>
                <a:cs typeface="+mn-lt"/>
              </a:rPr>
              <a:t>Confinement increases dispersion</a:t>
            </a:r>
            <a:r>
              <a:rPr lang="en-US" sz="1200" spc="-1" dirty="0">
                <a:solidFill>
                  <a:schemeClr val="dk1"/>
                </a:solidFill>
                <a:ea typeface="+mn-lt"/>
                <a:cs typeface="+mn-lt"/>
              </a:rPr>
              <a:t>: In SOI, the mode field distribution changes more with λ, making </a:t>
            </a:r>
            <a:r>
              <a:rPr lang="en-US" sz="1200" spc="-1" dirty="0" err="1">
                <a:solidFill>
                  <a:schemeClr val="dk1"/>
                </a:solidFill>
                <a:ea typeface="+mn-lt"/>
                <a:cs typeface="+mn-lt"/>
              </a:rPr>
              <a:t>neff</a:t>
            </a:r>
            <a:r>
              <a:rPr lang="en-US" sz="1200" spc="-1" dirty="0">
                <a:solidFill>
                  <a:schemeClr val="dk1"/>
                </a:solidFill>
                <a:ea typeface="+mn-lt"/>
                <a:cs typeface="+mn-lt"/>
              </a:rPr>
              <a:t> more wavelength-sensitive and increasing |D|. SiNx's moderate confinement yields a flatter </a:t>
            </a:r>
            <a:r>
              <a:rPr lang="en-US" sz="1200" spc="-1" dirty="0" err="1">
                <a:solidFill>
                  <a:schemeClr val="dk1"/>
                </a:solidFill>
                <a:ea typeface="+mn-lt"/>
                <a:cs typeface="+mn-lt"/>
              </a:rPr>
              <a:t>neff</a:t>
            </a:r>
            <a:r>
              <a:rPr lang="en-US" sz="1200" spc="-1" dirty="0">
                <a:solidFill>
                  <a:schemeClr val="dk1"/>
                </a:solidFill>
                <a:ea typeface="+mn-lt"/>
                <a:cs typeface="+mn-lt"/>
              </a:rPr>
              <a:t>(λ), as confirmed by the simulated D values around −1×10⁻¹⁵ s²/m  .</a:t>
            </a:r>
            <a:endParaRPr lang="en-US" dirty="0"/>
          </a:p>
          <a:p>
            <a:pPr marL="285750" indent="-285750" algn="just">
              <a:buFont typeface="Arial"/>
              <a:buChar char="•"/>
            </a:pPr>
            <a:r>
              <a:rPr lang="en-US" sz="1200" b="1" spc="-1" dirty="0">
                <a:solidFill>
                  <a:schemeClr val="dk1"/>
                </a:solidFill>
                <a:ea typeface="+mn-lt"/>
                <a:cs typeface="+mn-lt"/>
              </a:rPr>
              <a:t>Losses involve a trade-off</a:t>
            </a:r>
            <a:r>
              <a:rPr lang="en-US" sz="1200" spc="-1" dirty="0">
                <a:solidFill>
                  <a:schemeClr val="dk1"/>
                </a:solidFill>
                <a:ea typeface="+mn-lt"/>
                <a:cs typeface="+mn-lt"/>
              </a:rPr>
              <a:t>: </a:t>
            </a:r>
            <a:r>
              <a:rPr lang="en-US" sz="1200" spc="-1" dirty="0" err="1">
                <a:solidFill>
                  <a:schemeClr val="dk1"/>
                </a:solidFill>
                <a:ea typeface="+mn-lt"/>
                <a:cs typeface="+mn-lt"/>
              </a:rPr>
              <a:t>SiNx</a:t>
            </a:r>
            <a:r>
              <a:rPr lang="en-US" sz="1200" spc="-1" dirty="0">
                <a:solidFill>
                  <a:schemeClr val="dk1"/>
                </a:solidFill>
                <a:ea typeface="+mn-lt"/>
                <a:cs typeface="+mn-lt"/>
              </a:rPr>
              <a:t> has higher propagation </a:t>
            </a:r>
            <a:r>
              <a:rPr lang="en-US" sz="1200" b="0" strike="noStrike" spc="-1" dirty="0">
                <a:solidFill>
                  <a:schemeClr val="dk1"/>
                </a:solidFill>
                <a:ea typeface="+mn-lt"/>
                <a:cs typeface="+mn-lt"/>
              </a:rPr>
              <a:t>loss </a:t>
            </a:r>
            <a:r>
              <a:rPr lang="en-US" sz="1200" spc="-1" dirty="0">
                <a:solidFill>
                  <a:schemeClr val="dk1"/>
                </a:solidFill>
                <a:ea typeface="+mn-lt"/>
                <a:cs typeface="+mn-lt"/>
              </a:rPr>
              <a:t>(~1.5 dB/cm) because its larger mode overlaps more with rough sidewalls. SOI reaches ~0.3 dB</a:t>
            </a:r>
            <a:r>
              <a:rPr lang="en-US" sz="1200" b="0" strike="noStrike" spc="-1" dirty="0">
                <a:solidFill>
                  <a:schemeClr val="dk1"/>
                </a:solidFill>
                <a:ea typeface="+mn-lt"/>
                <a:cs typeface="+mn-lt"/>
              </a:rPr>
              <a:t>/</a:t>
            </a:r>
            <a:r>
              <a:rPr lang="en-US" sz="1200" spc="-1" dirty="0">
                <a:solidFill>
                  <a:schemeClr val="dk1"/>
                </a:solidFill>
                <a:ea typeface="+mn-lt"/>
                <a:cs typeface="+mn-lt"/>
              </a:rPr>
              <a:t>cm thanks to mature CMOS lithography, but bend losses increase sharply below ~5 µm </a:t>
            </a:r>
            <a:r>
              <a:rPr lang="en-US" sz="1200" b="0" strike="noStrike" spc="-1" dirty="0">
                <a:solidFill>
                  <a:schemeClr val="dk1"/>
                </a:solidFill>
                <a:ea typeface="+mn-lt"/>
                <a:cs typeface="+mn-lt"/>
              </a:rPr>
              <a:t>radius</a:t>
            </a:r>
            <a:r>
              <a:rPr lang="en-US" sz="1200" spc="-1" dirty="0">
                <a:solidFill>
                  <a:schemeClr val="dk1"/>
                </a:solidFill>
                <a:ea typeface="+mn-lt"/>
                <a:cs typeface="+mn-lt"/>
              </a:rPr>
              <a:t>. </a:t>
            </a:r>
            <a:endParaRPr lang="en-US" dirty="0"/>
          </a:p>
          <a:p>
            <a:pPr marL="285750" indent="-285750" algn="just">
              <a:buFont typeface="Arial"/>
              <a:buChar char="•"/>
            </a:pPr>
            <a:r>
              <a:rPr lang="en-US" sz="1200" b="1" spc="-1" dirty="0">
                <a:solidFill>
                  <a:schemeClr val="dk1"/>
                </a:solidFill>
                <a:ea typeface="+mn-lt"/>
                <a:cs typeface="+mn-lt"/>
              </a:rPr>
              <a:t>CMOS compatibility reduces cost</a:t>
            </a:r>
            <a:r>
              <a:rPr lang="en-US" sz="1200" spc="-1" dirty="0">
                <a:solidFill>
                  <a:schemeClr val="dk1"/>
                </a:solidFill>
                <a:ea typeface="+mn-lt"/>
                <a:cs typeface="+mn-lt"/>
              </a:rPr>
              <a:t>: SOI reuses standard electronic IC fabrication flows, giving access to high-volume foundries (IMEC, CEA-LETI). </a:t>
            </a:r>
            <a:r>
              <a:rPr lang="en-US" sz="1200" spc="-1" dirty="0" err="1">
                <a:solidFill>
                  <a:schemeClr val="dk1"/>
                </a:solidFill>
                <a:ea typeface="+mn-lt"/>
                <a:cs typeface="+mn-lt"/>
              </a:rPr>
              <a:t>SiNx</a:t>
            </a:r>
            <a:r>
              <a:rPr lang="en-US" sz="1200" spc="-1" dirty="0">
                <a:solidFill>
                  <a:schemeClr val="dk1"/>
                </a:solidFill>
                <a:ea typeface="+mn-lt"/>
                <a:cs typeface="+mn-lt"/>
              </a:rPr>
              <a:t> needs LPCVD steps outside CMOS,</a:t>
            </a:r>
            <a:r>
              <a:rPr lang="en-US" sz="1200" b="0" strike="noStrike" spc="-1" dirty="0">
                <a:solidFill>
                  <a:schemeClr val="dk1"/>
                </a:solidFill>
                <a:ea typeface="+mn-lt"/>
                <a:cs typeface="+mn-lt"/>
              </a:rPr>
              <a:t> </a:t>
            </a:r>
            <a:r>
              <a:rPr lang="en-US" sz="1200" spc="-1" dirty="0">
                <a:solidFill>
                  <a:schemeClr val="dk1"/>
                </a:solidFill>
                <a:ea typeface="+mn-lt"/>
                <a:cs typeface="+mn-lt"/>
              </a:rPr>
              <a:t>limiting foundry access but remaining </a:t>
            </a:r>
            <a:r>
              <a:rPr lang="en-US" sz="1200" b="0" strike="noStrike" spc="-1" dirty="0">
                <a:solidFill>
                  <a:schemeClr val="dk1"/>
                </a:solidFill>
                <a:ea typeface="+mn-lt"/>
                <a:cs typeface="+mn-lt"/>
              </a:rPr>
              <a:t>the </a:t>
            </a:r>
            <a:r>
              <a:rPr lang="en-US" sz="1200" spc="-1" dirty="0">
                <a:solidFill>
                  <a:schemeClr val="dk1"/>
                </a:solidFill>
                <a:ea typeface="+mn-lt"/>
                <a:cs typeface="+mn-lt"/>
              </a:rPr>
              <a:t>platform </a:t>
            </a:r>
            <a:r>
              <a:rPr lang="en-US" sz="1200" b="0" strike="noStrike" spc="-1" dirty="0">
                <a:solidFill>
                  <a:schemeClr val="dk1"/>
                </a:solidFill>
                <a:ea typeface="+mn-lt"/>
                <a:cs typeface="+mn-lt"/>
              </a:rPr>
              <a:t>of </a:t>
            </a:r>
            <a:r>
              <a:rPr lang="en-US" sz="1200" spc="-1" dirty="0">
                <a:solidFill>
                  <a:schemeClr val="dk1"/>
                </a:solidFill>
                <a:ea typeface="+mn-lt"/>
                <a:cs typeface="+mn-lt"/>
              </a:rPr>
              <a:t>choice for passive, low-loss broadband circuits</a:t>
            </a:r>
            <a:r>
              <a:rPr lang="en-US" sz="1200" b="0" strike="noStrike" spc="-1" dirty="0">
                <a:solidFill>
                  <a:schemeClr val="dk1"/>
                </a:solidFill>
                <a:ea typeface="+mn-lt"/>
                <a:cs typeface="+mn-lt"/>
              </a:rPr>
              <a:t>.</a:t>
            </a:r>
            <a:endParaRPr lang="en-US" dirty="0">
              <a:solidFill>
                <a:schemeClr val="dk1"/>
              </a:solidFill>
              <a:ea typeface="+mn-lt"/>
              <a:cs typeface="+mn-lt"/>
            </a:endParaRPr>
          </a:p>
          <a:p>
            <a:pPr algn="just"/>
            <a:endParaRPr lang="en-US" sz="1200" b="0" strike="noStrike" spc="-1" dirty="0">
              <a:solidFill>
                <a:schemeClr val="dk1"/>
              </a:solidFill>
              <a:latin typeface="Arial"/>
              <a:cs typeface="Arial"/>
            </a:endParaRPr>
          </a:p>
        </p:txBody>
      </p:sp>
      <p:sp>
        <p:nvSpPr>
          <p:cNvPr id="124" name="Rectángulo 6">
            <a:extLst>
              <a:ext uri="{FF2B5EF4-FFF2-40B4-BE49-F238E27FC236}">
                <a16:creationId xmlns:a16="http://schemas.microsoft.com/office/drawing/2014/main" id="{07D7ACD6-669A-1E9A-7CA1-1B427E5C7880}"/>
              </a:ext>
            </a:extLst>
          </p:cNvPr>
          <p:cNvSpPr/>
          <p:nvPr/>
        </p:nvSpPr>
        <p:spPr>
          <a:xfrm>
            <a:off x="683221" y="1381529"/>
            <a:ext cx="6159850" cy="4828799"/>
          </a:xfrm>
          <a:prstGeom prst="rect">
            <a:avLst/>
          </a:prstGeom>
          <a:noFill/>
          <a:ln w="28440">
            <a:solidFill>
              <a:srgbClr val="E070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chemeClr val="lt1"/>
              </a:solidFill>
              <a:latin typeface="Calibri"/>
            </a:endParaRPr>
          </a:p>
        </p:txBody>
      </p:sp>
      <p:sp>
        <p:nvSpPr>
          <p:cNvPr id="4" name="PlaceHolder 3">
            <a:extLst>
              <a:ext uri="{FF2B5EF4-FFF2-40B4-BE49-F238E27FC236}">
                <a16:creationId xmlns:a16="http://schemas.microsoft.com/office/drawing/2014/main" id="{BB8BD665-6920-A688-443A-94DF8FF0A9B5}"/>
              </a:ext>
            </a:extLst>
          </p:cNvPr>
          <p:cNvSpPr>
            <a:spLocks noGrp="1"/>
          </p:cNvSpPr>
          <p:nvPr>
            <p:ph type="sldNum" idx="5"/>
          </p:nvPr>
        </p:nvSpPr>
        <p:spPr/>
        <p:txBody>
          <a:bodyPr/>
          <a:lstStyle/>
          <a:p>
            <a:fld id="{1E7BE025-8DD5-4FAD-B9B3-F185F94BE43E}" type="slidenum">
              <a:rPr/>
              <a:t>16</a:t>
            </a:fld>
            <a:endParaRPr/>
          </a:p>
        </p:txBody>
      </p:sp>
      <p:graphicFrame>
        <p:nvGraphicFramePr>
          <p:cNvPr id="6" name="Tabla 5">
            <a:extLst>
              <a:ext uri="{FF2B5EF4-FFF2-40B4-BE49-F238E27FC236}">
                <a16:creationId xmlns:a16="http://schemas.microsoft.com/office/drawing/2014/main" id="{B8C72401-1292-AB95-E662-F2C4E2EA4814}"/>
              </a:ext>
            </a:extLst>
          </p:cNvPr>
          <p:cNvGraphicFramePr>
            <a:graphicFrameLocks noGrp="1"/>
          </p:cNvGraphicFramePr>
          <p:nvPr>
            <p:extLst>
              <p:ext uri="{D42A27DB-BD31-4B8C-83A1-F6EECF244321}">
                <p14:modId xmlns:p14="http://schemas.microsoft.com/office/powerpoint/2010/main" val="278755796"/>
              </p:ext>
            </p:extLst>
          </p:nvPr>
        </p:nvGraphicFramePr>
        <p:xfrm>
          <a:off x="688258" y="1720644"/>
          <a:ext cx="5849937" cy="4053840"/>
        </p:xfrm>
        <a:graphic>
          <a:graphicData uri="http://schemas.openxmlformats.org/drawingml/2006/table">
            <a:tbl>
              <a:tblPr bandRow="1">
                <a:tableStyleId>{5C22544A-7EE6-4342-B048-85BDC9FD1C3A}</a:tableStyleId>
              </a:tblPr>
              <a:tblGrid>
                <a:gridCol w="1949979">
                  <a:extLst>
                    <a:ext uri="{9D8B030D-6E8A-4147-A177-3AD203B41FA5}">
                      <a16:colId xmlns:a16="http://schemas.microsoft.com/office/drawing/2014/main" val="4779553"/>
                    </a:ext>
                  </a:extLst>
                </a:gridCol>
                <a:gridCol w="1949979">
                  <a:extLst>
                    <a:ext uri="{9D8B030D-6E8A-4147-A177-3AD203B41FA5}">
                      <a16:colId xmlns:a16="http://schemas.microsoft.com/office/drawing/2014/main" val="258324148"/>
                    </a:ext>
                  </a:extLst>
                </a:gridCol>
                <a:gridCol w="1949979">
                  <a:extLst>
                    <a:ext uri="{9D8B030D-6E8A-4147-A177-3AD203B41FA5}">
                      <a16:colId xmlns:a16="http://schemas.microsoft.com/office/drawing/2014/main" val="1349868597"/>
                    </a:ext>
                  </a:extLst>
                </a:gridCol>
              </a:tblGrid>
              <a:tr h="279726">
                <a:tc>
                  <a:txBody>
                    <a:bodyPr/>
                    <a:lstStyle/>
                    <a:p>
                      <a:pPr>
                        <a:buNone/>
                      </a:pPr>
                      <a:r>
                        <a:rPr lang="es-ES" sz="1200" b="1">
                          <a:effectLst/>
                        </a:rPr>
                        <a:t>Core material</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dirty="0">
                          <a:effectLst/>
                        </a:rPr>
                        <a:t>Silicon </a:t>
                      </a:r>
                      <a:r>
                        <a:rPr lang="es-ES" sz="1200" dirty="0" err="1">
                          <a:effectLst/>
                        </a:rPr>
                        <a:t>Nitride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Silicon</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410937569"/>
                  </a:ext>
                </a:extLst>
              </a:tr>
              <a:tr h="435130">
                <a:tc>
                  <a:txBody>
                    <a:bodyPr/>
                    <a:lstStyle/>
                    <a:p>
                      <a:pPr>
                        <a:buNone/>
                      </a:pPr>
                      <a:r>
                        <a:rPr lang="es-ES" sz="1200" b="1" dirty="0">
                          <a:effectLst/>
                        </a:rPr>
                        <a:t>Core refractive </a:t>
                      </a:r>
                      <a:r>
                        <a:rPr lang="es-ES" sz="1200" b="1" dirty="0" err="1">
                          <a:effectLst/>
                        </a:rPr>
                        <a:t>index</a:t>
                      </a:r>
                      <a:r>
                        <a:rPr lang="es-ES" sz="1200" b="1" dirty="0">
                          <a:effectLst/>
                        </a:rPr>
                        <a:t> @ 1550 nm</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~2.0</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~3.5</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095366288"/>
                  </a:ext>
                </a:extLst>
              </a:tr>
              <a:tr h="279726">
                <a:tc>
                  <a:txBody>
                    <a:bodyPr/>
                    <a:lstStyle/>
                    <a:p>
                      <a:pPr>
                        <a:buNone/>
                      </a:pPr>
                      <a:r>
                        <a:rPr lang="es-ES" sz="1200" b="1" dirty="0" err="1">
                          <a:effectLst/>
                        </a:rPr>
                        <a:t>Cladding</a:t>
                      </a:r>
                      <a:r>
                        <a:rPr lang="es-ES" sz="1200" b="1" dirty="0">
                          <a:effectLst/>
                        </a:rPr>
                        <a:t> material</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dirty="0" err="1">
                          <a:effectLst/>
                        </a:rPr>
                        <a:t>SiO</a:t>
                      </a:r>
                      <a:r>
                        <a:rPr lang="es-ES" sz="1200" dirty="0">
                          <a:effectLst/>
                        </a:rPr>
                        <a:t>₂</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dirty="0" err="1">
                          <a:effectLst/>
                        </a:rPr>
                        <a:t>SiO</a:t>
                      </a:r>
                      <a:r>
                        <a:rPr lang="es-ES" sz="1200" dirty="0">
                          <a:effectLst/>
                        </a:rPr>
                        <a:t>₂</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743032357"/>
                  </a:ext>
                </a:extLst>
              </a:tr>
              <a:tr h="279726">
                <a:tc>
                  <a:txBody>
                    <a:bodyPr/>
                    <a:lstStyle/>
                    <a:p>
                      <a:pPr>
                        <a:buNone/>
                      </a:pPr>
                      <a:r>
                        <a:rPr lang="es-ES" sz="1200" b="1" dirty="0" err="1">
                          <a:effectLst/>
                        </a:rPr>
                        <a:t>Index</a:t>
                      </a:r>
                      <a:r>
                        <a:rPr lang="es-ES" sz="1200" b="1" dirty="0">
                          <a:effectLst/>
                        </a:rPr>
                        <a:t> </a:t>
                      </a:r>
                      <a:r>
                        <a:rPr lang="es-ES" sz="1200" b="1" dirty="0" err="1">
                          <a:effectLst/>
                        </a:rPr>
                        <a:t>contrast</a:t>
                      </a:r>
                      <a:r>
                        <a:rPr lang="es-ES" sz="1200" b="1" dirty="0">
                          <a:effectLst/>
                        </a:rPr>
                        <a:t> </a:t>
                      </a:r>
                      <a:r>
                        <a:rPr lang="el-GR" sz="1200" b="1" dirty="0">
                          <a:effectLst/>
                        </a:rPr>
                        <a:t>Δ</a:t>
                      </a:r>
                      <a:r>
                        <a:rPr lang="es-ES" sz="1200" b="1" dirty="0">
                          <a:effectLst/>
                        </a:rPr>
                        <a:t>n</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~0.55</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~2.05</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702105237"/>
                  </a:ext>
                </a:extLst>
              </a:tr>
              <a:tr h="279726">
                <a:tc>
                  <a:txBody>
                    <a:bodyPr/>
                    <a:lstStyle/>
                    <a:p>
                      <a:pPr>
                        <a:buNone/>
                      </a:pPr>
                      <a:r>
                        <a:rPr lang="es-ES" sz="1200" b="1" dirty="0">
                          <a:effectLst/>
                        </a:rPr>
                        <a:t>Core </a:t>
                      </a:r>
                      <a:r>
                        <a:rPr lang="es-ES" sz="1200" b="1" dirty="0" err="1">
                          <a:effectLst/>
                        </a:rPr>
                        <a:t>dimensions</a:t>
                      </a:r>
                      <a:endParaRPr lang="es-ES" sz="1200" dirty="0" err="1">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1.2 µm × 300 nm</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500 nm × 220 nm</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816372659"/>
                  </a:ext>
                </a:extLst>
              </a:tr>
              <a:tr h="279726">
                <a:tc>
                  <a:txBody>
                    <a:bodyPr/>
                    <a:lstStyle/>
                    <a:p>
                      <a:pPr>
                        <a:buNone/>
                      </a:pPr>
                      <a:r>
                        <a:rPr lang="es-ES" sz="1200" b="1" dirty="0" err="1">
                          <a:effectLst/>
                        </a:rPr>
                        <a:t>Mode</a:t>
                      </a:r>
                      <a:r>
                        <a:rPr lang="es-ES" sz="1200" b="1" dirty="0">
                          <a:effectLst/>
                        </a:rPr>
                        <a:t> </a:t>
                      </a:r>
                      <a:r>
                        <a:rPr lang="es-ES" sz="1200" b="1" dirty="0" err="1">
                          <a:effectLst/>
                        </a:rPr>
                        <a:t>confinement</a:t>
                      </a:r>
                      <a:endParaRPr lang="es-ES" sz="1200" dirty="0" err="1">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dirty="0" err="1">
                          <a:effectLst/>
                        </a:rPr>
                        <a:t>Moderate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dirty="0" err="1">
                          <a:effectLst/>
                        </a:rPr>
                        <a:t>Very</a:t>
                      </a:r>
                      <a:r>
                        <a:rPr lang="es-ES" sz="1200" dirty="0">
                          <a:effectLst/>
                        </a:rPr>
                        <a:t> </a:t>
                      </a:r>
                      <a:r>
                        <a:rPr lang="es-ES" sz="1200" dirty="0" err="1">
                          <a:effectLst/>
                        </a:rPr>
                        <a:t>high</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99520597"/>
                  </a:ext>
                </a:extLst>
              </a:tr>
              <a:tr h="435130">
                <a:tc>
                  <a:txBody>
                    <a:bodyPr/>
                    <a:lstStyle/>
                    <a:p>
                      <a:pPr>
                        <a:buNone/>
                      </a:pPr>
                      <a:r>
                        <a:rPr lang="es-ES" sz="1200" b="1" dirty="0" err="1">
                          <a:effectLst/>
                        </a:rPr>
                        <a:t>Dispersion</a:t>
                      </a:r>
                      <a:endParaRPr lang="es-ES" sz="1200" dirty="0" err="1">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dirty="0">
                          <a:effectLst/>
                        </a:rPr>
                        <a:t>Low → </a:t>
                      </a:r>
                      <a:r>
                        <a:rPr lang="es-ES" sz="1200" dirty="0" err="1">
                          <a:effectLst/>
                        </a:rPr>
                        <a:t>filters</a:t>
                      </a:r>
                      <a:r>
                        <a:rPr lang="es-ES" sz="1200" dirty="0">
                          <a:effectLst/>
                        </a:rPr>
                        <a:t>, </a:t>
                      </a:r>
                      <a:r>
                        <a:rPr lang="es-ES" sz="1200" dirty="0" err="1">
                          <a:effectLst/>
                        </a:rPr>
                        <a:t>broadband</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dirty="0">
                          <a:effectLst/>
                        </a:rPr>
                        <a:t>High → </a:t>
                      </a:r>
                      <a:r>
                        <a:rPr lang="es-ES" sz="1200" dirty="0" err="1">
                          <a:effectLst/>
                        </a:rPr>
                        <a:t>modulators</a:t>
                      </a:r>
                      <a:r>
                        <a:rPr lang="es-ES" sz="1200" dirty="0">
                          <a:effectLst/>
                        </a:rPr>
                        <a:t>, </a:t>
                      </a:r>
                      <a:r>
                        <a:rPr lang="es-ES" sz="1200" dirty="0" err="1">
                          <a:effectLst/>
                        </a:rPr>
                        <a:t>high-speed</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351229063"/>
                  </a:ext>
                </a:extLst>
              </a:tr>
              <a:tr h="279726">
                <a:tc>
                  <a:txBody>
                    <a:bodyPr/>
                    <a:lstStyle/>
                    <a:p>
                      <a:pPr>
                        <a:buNone/>
                      </a:pPr>
                      <a:r>
                        <a:rPr lang="es-ES" sz="1200" b="1" dirty="0" err="1">
                          <a:effectLst/>
                        </a:rPr>
                        <a:t>Safe</a:t>
                      </a:r>
                      <a:r>
                        <a:rPr lang="es-ES" sz="1200" b="1" dirty="0">
                          <a:effectLst/>
                        </a:rPr>
                        <a:t> </a:t>
                      </a:r>
                      <a:r>
                        <a:rPr lang="es-ES" sz="1200" b="1" dirty="0" err="1">
                          <a:effectLst/>
                        </a:rPr>
                        <a:t>bend</a:t>
                      </a:r>
                      <a:r>
                        <a:rPr lang="es-ES" sz="1200" b="1" dirty="0">
                          <a:effectLst/>
                        </a:rPr>
                        <a:t> </a:t>
                      </a:r>
                      <a:r>
                        <a:rPr lang="es-ES" sz="1200" b="1" dirty="0" err="1">
                          <a:effectLst/>
                        </a:rPr>
                        <a:t>radius</a:t>
                      </a:r>
                      <a:endParaRPr lang="es-ES" sz="1200" dirty="0" err="1">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~25 µm</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~5–10 µm</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182120863"/>
                  </a:ext>
                </a:extLst>
              </a:tr>
              <a:tr h="279726">
                <a:tc>
                  <a:txBody>
                    <a:bodyPr/>
                    <a:lstStyle/>
                    <a:p>
                      <a:pPr>
                        <a:buNone/>
                      </a:pPr>
                      <a:r>
                        <a:rPr lang="es-ES" sz="1200" b="1" dirty="0" err="1">
                          <a:effectLst/>
                        </a:rPr>
                        <a:t>Propagation</a:t>
                      </a:r>
                      <a:r>
                        <a:rPr lang="es-ES" sz="1200" b="1" dirty="0">
                          <a:effectLst/>
                        </a:rPr>
                        <a:t> </a:t>
                      </a:r>
                      <a:r>
                        <a:rPr lang="es-ES" sz="1200" b="1" dirty="0" err="1">
                          <a:effectLst/>
                        </a:rPr>
                        <a:t>loss</a:t>
                      </a:r>
                      <a:endParaRPr lang="es-ES" sz="1200" dirty="0" err="1">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~1.5 dB/cm</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~0.3 dB/cm</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133820899"/>
                  </a:ext>
                </a:extLst>
              </a:tr>
              <a:tr h="279726">
                <a:tc>
                  <a:txBody>
                    <a:bodyPr/>
                    <a:lstStyle/>
                    <a:p>
                      <a:pPr>
                        <a:buNone/>
                      </a:pPr>
                      <a:r>
                        <a:rPr lang="es-ES" sz="1200" b="1">
                          <a:effectLst/>
                        </a:rPr>
                        <a:t>CMOS compatible</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No</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Yes</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685022189"/>
                  </a:ext>
                </a:extLst>
              </a:tr>
              <a:tr h="279726">
                <a:tc>
                  <a:txBody>
                    <a:bodyPr/>
                    <a:lstStyle/>
                    <a:p>
                      <a:pPr>
                        <a:buNone/>
                      </a:pPr>
                      <a:r>
                        <a:rPr lang="es-ES" sz="1200" b="1" dirty="0" err="1">
                          <a:effectLst/>
                        </a:rPr>
                        <a:t>Cost</a:t>
                      </a:r>
                      <a:endParaRPr lang="es-ES" sz="1200" dirty="0" err="1">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Medium</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buNone/>
                      </a:pPr>
                      <a:r>
                        <a:rPr lang="es-ES" sz="1200">
                          <a:effectLst/>
                        </a:rPr>
                        <a:t>Low</a:t>
                      </a:r>
                      <a:endParaRPr lang="es-E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433360952"/>
                  </a:ext>
                </a:extLst>
              </a:tr>
            </a:tbl>
          </a:graphicData>
        </a:graphic>
      </p:graphicFrame>
    </p:spTree>
    <p:extLst>
      <p:ext uri="{BB962C8B-B14F-4D97-AF65-F5344CB8AC3E}">
        <p14:creationId xmlns:p14="http://schemas.microsoft.com/office/powerpoint/2010/main" val="2230708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object 3"/>
          <p:cNvSpPr/>
          <p:nvPr/>
        </p:nvSpPr>
        <p:spPr>
          <a:xfrm>
            <a:off x="3945600" y="2636640"/>
            <a:ext cx="8245440" cy="1584000"/>
          </a:xfrm>
          <a:prstGeom prst="rect">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s-ES" sz="1800" b="0" strike="noStrike" spc="-1">
              <a:solidFill>
                <a:schemeClr val="dk1"/>
              </a:solidFill>
              <a:latin typeface="Calibri"/>
            </a:endParaRPr>
          </a:p>
        </p:txBody>
      </p:sp>
      <p:sp>
        <p:nvSpPr>
          <p:cNvPr id="147" name="PlaceHolder 1"/>
          <p:cNvSpPr>
            <a:spLocks noGrp="1"/>
          </p:cNvSpPr>
          <p:nvPr>
            <p:ph type="title"/>
          </p:nvPr>
        </p:nvSpPr>
        <p:spPr>
          <a:xfrm>
            <a:off x="4513320" y="3165840"/>
            <a:ext cx="2232360" cy="1157760"/>
          </a:xfrm>
          <a:prstGeom prst="rect">
            <a:avLst/>
          </a:prstGeom>
          <a:noFill/>
          <a:ln w="0">
            <a:noFill/>
          </a:ln>
        </p:spPr>
        <p:txBody>
          <a:bodyPr lIns="0" tIns="13320" rIns="0" bIns="0" anchor="t">
            <a:noAutofit/>
          </a:bodyPr>
          <a:lstStyle/>
          <a:p>
            <a:pPr marL="12600" indent="0">
              <a:lnSpc>
                <a:spcPct val="100000"/>
              </a:lnSpc>
              <a:spcBef>
                <a:spcPts val="105"/>
              </a:spcBef>
              <a:buNone/>
              <a:tabLst>
                <a:tab pos="0" algn="l"/>
              </a:tabLst>
            </a:pPr>
            <a:r>
              <a:rPr lang="es-ES" sz="3200" b="1" strike="noStrike" spc="-7">
                <a:solidFill>
                  <a:srgbClr val="FFFFFF"/>
                </a:solidFill>
                <a:latin typeface="Lucida Sans"/>
              </a:rPr>
              <a:t>Thank</a:t>
            </a:r>
            <a:r>
              <a:rPr lang="es-ES" sz="3200" b="1" strike="noStrike" spc="-55">
                <a:solidFill>
                  <a:srgbClr val="FFFFFF"/>
                </a:solidFill>
                <a:latin typeface="Lucida Sans"/>
              </a:rPr>
              <a:t> </a:t>
            </a:r>
            <a:r>
              <a:rPr lang="es-ES" sz="3200" b="1" strike="noStrike" spc="-1">
                <a:solidFill>
                  <a:srgbClr val="FFFFFF"/>
                </a:solidFill>
                <a:latin typeface="Lucida Sans"/>
              </a:rPr>
              <a:t>you</a:t>
            </a:r>
            <a:endParaRPr lang="es-ES" sz="3200" b="0" strike="noStrike" spc="-1">
              <a:solidFill>
                <a:srgbClr val="000000"/>
              </a:solidFill>
              <a:latin typeface="Arial"/>
            </a:endParaRPr>
          </a:p>
        </p:txBody>
      </p:sp>
      <p:sp>
        <p:nvSpPr>
          <p:cNvPr id="3" name="PlaceHolder 2"/>
          <p:cNvSpPr>
            <a:spLocks noGrp="1"/>
          </p:cNvSpPr>
          <p:nvPr>
            <p:ph type="sldNum" idx="9"/>
          </p:nvPr>
        </p:nvSpPr>
        <p:spPr/>
        <p:txBody>
          <a:bodyPr/>
          <a:lstStyle/>
          <a:p>
            <a:fld id="{1D3C5464-6DB9-4A72-9528-3F203B22CE1A}" type="slidenum">
              <a:rPr/>
              <a:t>17</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Panorámica</PresentationFormat>
  <Slides>17</Slides>
  <Notes>14</Notes>
  <HiddenSlides>0</HiddenSlides>
  <ScaleCrop>false</ScaleCrop>
  <HeadingPairs>
    <vt:vector size="4" baseType="variant">
      <vt:variant>
        <vt:lpstr>Tema</vt:lpstr>
      </vt:variant>
      <vt:variant>
        <vt:i4>3</vt:i4>
      </vt:variant>
      <vt:variant>
        <vt:lpstr>Títulos de diapositiva</vt:lpstr>
      </vt:variant>
      <vt:variant>
        <vt:i4>17</vt:i4>
      </vt:variant>
    </vt:vector>
  </HeadingPairs>
  <TitlesOfParts>
    <vt:vector size="20" baseType="lpstr">
      <vt:lpstr>Office Theme</vt:lpstr>
      <vt:lpstr>Office Theme</vt:lpstr>
      <vt:lpstr>Office Theme</vt:lpstr>
      <vt:lpstr>Presentación de PowerPoint</vt:lpstr>
      <vt:lpstr>Instructions General</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#2 – Wavelength behavior Wavelength 1.5-1.6 µm (step 0.01 µm) – width 1.2 µm</vt:lpstr>
      <vt:lpstr>Learning outcome #2 bis– Effect of slab section  Cross section Wavelength 1.550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#4 – Waveguide compact model bis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#6 Learning outcome #2 – Wavelength behavior with Silicon Wavelength 1.5-1.6 µm (step 0.01 µm) – h=220nm, w=500nm</vt:lpstr>
      <vt:lpstr>#6 Learning outcome #3 – Width dependence Width 0.3- 1 µm (step 0.1 µm) – Wavelength 1.55 µm </vt:lpstr>
      <vt:lpstr>#6 Learning outcome #5 –Finding the safe radius for this tecnology Find  neff_TE0 for wvl 1.55 µm, h=220nm, w=500nm for R=5,10,15,20,25,30 µm </vt:lpstr>
      <vt:lpstr>#6 Learning outcome #Conclusion –Comparison of material use Silicon vs Silicon Nitride for the Core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Mª Ester Calataytud</dc:creator>
  <dc:description/>
  <cp:revision>254</cp:revision>
  <dcterms:created xsi:type="dcterms:W3CDTF">2025-01-27T02:46:57Z</dcterms:created>
  <dcterms:modified xsi:type="dcterms:W3CDTF">2026-03-15T11:26:51Z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Notes">
    <vt:r8>5</vt:r8>
  </property>
  <property fmtid="{D5CDD505-2E9C-101B-9397-08002B2CF9AE}" pid="6" name="PresentationFormat">
    <vt:lpwstr>Panorámica</vt:lpwstr>
  </property>
  <property fmtid="{D5CDD505-2E9C-101B-9397-08002B2CF9AE}" pid="7" name="Slides">
    <vt:r8>8</vt:r8>
  </property>
</Properties>
</file>